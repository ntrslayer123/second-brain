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24"/>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281"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1" r:id="rId45"/>
    <p:sldId id="300" r:id="rId46"/>
    <p:sldId id="302" r:id="rId47"/>
    <p:sldId id="304" r:id="rId48"/>
    <p:sldId id="305" r:id="rId49"/>
    <p:sldId id="306" r:id="rId50"/>
    <p:sldId id="426" r:id="rId51"/>
    <p:sldId id="307" r:id="rId52"/>
    <p:sldId id="310" r:id="rId53"/>
    <p:sldId id="308" r:id="rId54"/>
    <p:sldId id="309" r:id="rId55"/>
    <p:sldId id="311" r:id="rId56"/>
    <p:sldId id="317" r:id="rId57"/>
    <p:sldId id="318" r:id="rId58"/>
    <p:sldId id="312" r:id="rId59"/>
    <p:sldId id="313" r:id="rId60"/>
    <p:sldId id="314" r:id="rId61"/>
    <p:sldId id="315" r:id="rId62"/>
    <p:sldId id="316" r:id="rId63"/>
    <p:sldId id="319" r:id="rId64"/>
    <p:sldId id="320" r:id="rId65"/>
    <p:sldId id="321" r:id="rId66"/>
    <p:sldId id="322" r:id="rId67"/>
    <p:sldId id="323" r:id="rId68"/>
    <p:sldId id="324" r:id="rId69"/>
    <p:sldId id="325" r:id="rId70"/>
    <p:sldId id="326" r:id="rId71"/>
    <p:sldId id="327" r:id="rId72"/>
    <p:sldId id="427" r:id="rId73"/>
    <p:sldId id="428" r:id="rId74"/>
    <p:sldId id="429" r:id="rId75"/>
    <p:sldId id="430" r:id="rId76"/>
    <p:sldId id="431" r:id="rId77"/>
    <p:sldId id="432"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75" r:id="rId103"/>
    <p:sldId id="377" r:id="rId104"/>
    <p:sldId id="378" r:id="rId105"/>
    <p:sldId id="379" r:id="rId106"/>
    <p:sldId id="380" r:id="rId107"/>
    <p:sldId id="381" r:id="rId108"/>
    <p:sldId id="382" r:id="rId109"/>
    <p:sldId id="383" r:id="rId110"/>
    <p:sldId id="384" r:id="rId111"/>
    <p:sldId id="385" r:id="rId112"/>
    <p:sldId id="386" r:id="rId113"/>
    <p:sldId id="392" r:id="rId114"/>
    <p:sldId id="387" r:id="rId115"/>
    <p:sldId id="388" r:id="rId116"/>
    <p:sldId id="389" r:id="rId117"/>
    <p:sldId id="390" r:id="rId118"/>
    <p:sldId id="391" r:id="rId119"/>
    <p:sldId id="376" r:id="rId120"/>
    <p:sldId id="393" r:id="rId121"/>
    <p:sldId id="394" r:id="rId122"/>
    <p:sldId id="433" r:id="rId1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F5991DA-503A-4941-9B66-0FFFC72C3A60}">
          <p14:sldIdLst>
            <p14:sldId id="256"/>
            <p14:sldId id="257"/>
            <p14:sldId id="258"/>
            <p14:sldId id="259"/>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2"/>
            <p14:sldId id="281"/>
            <p14:sldId id="283"/>
            <p14:sldId id="284"/>
            <p14:sldId id="285"/>
            <p14:sldId id="286"/>
            <p14:sldId id="287"/>
            <p14:sldId id="288"/>
            <p14:sldId id="289"/>
            <p14:sldId id="290"/>
            <p14:sldId id="291"/>
            <p14:sldId id="292"/>
            <p14:sldId id="293"/>
            <p14:sldId id="294"/>
            <p14:sldId id="295"/>
            <p14:sldId id="296"/>
            <p14:sldId id="297"/>
            <p14:sldId id="298"/>
            <p14:sldId id="299"/>
            <p14:sldId id="301"/>
            <p14:sldId id="300"/>
            <p14:sldId id="302"/>
            <p14:sldId id="304"/>
            <p14:sldId id="305"/>
            <p14:sldId id="306"/>
            <p14:sldId id="426"/>
            <p14:sldId id="307"/>
            <p14:sldId id="310"/>
            <p14:sldId id="308"/>
            <p14:sldId id="309"/>
            <p14:sldId id="311"/>
            <p14:sldId id="317"/>
            <p14:sldId id="318"/>
            <p14:sldId id="312"/>
            <p14:sldId id="313"/>
            <p14:sldId id="314"/>
            <p14:sldId id="315"/>
            <p14:sldId id="316"/>
            <p14:sldId id="319"/>
            <p14:sldId id="320"/>
            <p14:sldId id="321"/>
            <p14:sldId id="322"/>
            <p14:sldId id="323"/>
            <p14:sldId id="324"/>
            <p14:sldId id="325"/>
            <p14:sldId id="326"/>
            <p14:sldId id="327"/>
            <p14:sldId id="427"/>
            <p14:sldId id="428"/>
            <p14:sldId id="429"/>
            <p14:sldId id="430"/>
            <p14:sldId id="431"/>
            <p14:sldId id="432"/>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75"/>
            <p14:sldId id="377"/>
            <p14:sldId id="378"/>
            <p14:sldId id="379"/>
            <p14:sldId id="380"/>
            <p14:sldId id="381"/>
            <p14:sldId id="382"/>
            <p14:sldId id="383"/>
            <p14:sldId id="384"/>
            <p14:sldId id="385"/>
            <p14:sldId id="386"/>
            <p14:sldId id="392"/>
            <p14:sldId id="387"/>
            <p14:sldId id="388"/>
            <p14:sldId id="389"/>
            <p14:sldId id="390"/>
            <p14:sldId id="391"/>
            <p14:sldId id="376"/>
            <p14:sldId id="393"/>
            <p14:sldId id="394"/>
            <p14:sldId id="43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73" autoAdjust="0"/>
    <p:restoredTop sz="93725" autoAdjust="0"/>
  </p:normalViewPr>
  <p:slideViewPr>
    <p:cSldViewPr>
      <p:cViewPr varScale="1">
        <p:scale>
          <a:sx n="106" d="100"/>
          <a:sy n="106" d="100"/>
        </p:scale>
        <p:origin x="1338" y="108"/>
      </p:cViewPr>
      <p:guideLst>
        <p:guide orient="horz" pos="2160"/>
        <p:guide pos="2880"/>
      </p:guideLst>
    </p:cSldViewPr>
  </p:slideViewPr>
  <p:outlineViewPr>
    <p:cViewPr>
      <p:scale>
        <a:sx n="33" d="100"/>
        <a:sy n="33" d="100"/>
      </p:scale>
      <p:origin x="0" y="16956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7AC5E2-C54C-463E-9C38-8F12CAE06539}" type="datetimeFigureOut">
              <a:rPr lang="en-IN" smtClean="0"/>
              <a:t>23-12-2025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495B4E-1900-42A4-A5D4-6C4C6613B0BD}" type="slidenum">
              <a:rPr lang="en-IN" smtClean="0"/>
              <a:t>‹#›</a:t>
            </a:fld>
            <a:endParaRPr lang="en-IN"/>
          </a:p>
        </p:txBody>
      </p:sp>
    </p:spTree>
    <p:extLst>
      <p:ext uri="{BB962C8B-B14F-4D97-AF65-F5344CB8AC3E}">
        <p14:creationId xmlns:p14="http://schemas.microsoft.com/office/powerpoint/2010/main" val="807752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F33BA580-2FED-4988-9C2D-17C09F604C35}" type="datetime1">
              <a:rPr lang="en-US" smtClean="0"/>
              <a:t>12/23/2025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85DBFA6-4028-482A-9F9A-091118CFEC2F}" type="datetime1">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2988892F-56EB-49BF-9AE8-E5A069E939F3}" type="datetime1">
              <a:rPr lang="en-US" smtClean="0"/>
              <a:t>12/23/2025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FD6BF459-021B-44F2-BAD0-82FC4CE3CCED}" type="datetime1">
              <a:rPr lang="en-US" smtClean="0"/>
              <a:t>12/23/2025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7034AE62-A706-49AA-8F69-368D4CAA9BA1}" type="datetime1">
              <a:rPr lang="en-US" smtClean="0"/>
              <a:t>12/23/2025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E948683-9CE8-4A28-8273-D3D4A6F9B180}" type="datetime1">
              <a:rPr lang="en-US" smtClean="0"/>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30E3DC-7597-402C-95B8-B0B21C476B5D}" type="datetime1">
              <a:rPr lang="en-US" smtClean="0"/>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D721531-2E23-4B54-8765-ADF2FEE4C02C}" type="datetime1">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3B242EF-B81A-4CEC-97FE-4497ADFA1AB2}" type="datetime1">
              <a:rPr lang="en-US" smtClean="0"/>
              <a:t>12/23/2025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6732543-810F-44E4-BC4B-772FADFAD481}" type="datetime1">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717ED44-9150-48C3-A7D9-8444ABAAB345}" type="datetime1">
              <a:rPr lang="en-US" smtClean="0"/>
              <a:t>12/23/2025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D7A7F0D6-168E-46C0-A92D-E793E864A2BE}" type="datetime1">
              <a:rPr lang="en-US" smtClean="0"/>
              <a:t>12/23/2025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r>
              <a:rPr lang="en-IN" b="1" dirty="0"/>
              <a:t>Unit 3 </a:t>
            </a:r>
            <a:br>
              <a:rPr lang="en-IN" b="1" dirty="0"/>
            </a:br>
            <a:r>
              <a:rPr lang="en-IN" b="1" dirty="0"/>
              <a:t>Memory System</a:t>
            </a:r>
          </a:p>
        </p:txBody>
      </p:sp>
      <p:sp>
        <p:nvSpPr>
          <p:cNvPr id="3" name="Content Placeholder 2"/>
          <p:cNvSpPr>
            <a:spLocks noGrp="1"/>
          </p:cNvSpPr>
          <p:nvPr>
            <p:ph sz="quarter" idx="1"/>
          </p:nvPr>
        </p:nvSpPr>
        <p:spPr/>
        <p:txBody>
          <a:bodyPr>
            <a:normAutofit/>
          </a:bodyPr>
          <a:lstStyle/>
          <a:p>
            <a:pPr algn="just"/>
            <a:r>
              <a:rPr lang="en-IN" dirty="0"/>
              <a:t>Basic memory circuits</a:t>
            </a:r>
          </a:p>
          <a:p>
            <a:pPr algn="just"/>
            <a:r>
              <a:rPr lang="en-IN" dirty="0"/>
              <a:t>Organization of the main memory</a:t>
            </a:r>
          </a:p>
          <a:p>
            <a:pPr algn="just"/>
            <a:r>
              <a:rPr lang="en-IN" dirty="0"/>
              <a:t>Memory technology</a:t>
            </a:r>
          </a:p>
          <a:p>
            <a:pPr algn="just"/>
            <a:r>
              <a:rPr lang="en-IN" dirty="0"/>
              <a:t>Cache memory, which reduces the effective memory access time</a:t>
            </a:r>
          </a:p>
          <a:p>
            <a:pPr algn="just"/>
            <a:r>
              <a:rPr lang="en-IN" dirty="0"/>
              <a:t>Virtual memory, which increases the apparent size of the main memory</a:t>
            </a:r>
          </a:p>
        </p:txBody>
      </p:sp>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3196534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Introduction</a:t>
            </a:r>
          </a:p>
        </p:txBody>
      </p:sp>
      <p:sp>
        <p:nvSpPr>
          <p:cNvPr id="3" name="Content Placeholder 2"/>
          <p:cNvSpPr>
            <a:spLocks noGrp="1"/>
          </p:cNvSpPr>
          <p:nvPr>
            <p:ph sz="quarter" idx="1"/>
          </p:nvPr>
        </p:nvSpPr>
        <p:spPr/>
        <p:txBody>
          <a:bodyPr>
            <a:normAutofit fontScale="92500" lnSpcReduction="10000"/>
          </a:bodyPr>
          <a:lstStyle/>
          <a:p>
            <a:pPr algn="just"/>
            <a:r>
              <a:rPr lang="en-IN" dirty="0"/>
              <a:t>Execution speed of programs is highly dependent on the speed with which instructions and data can be transferred between the processor and the memory.</a:t>
            </a:r>
          </a:p>
          <a:p>
            <a:pPr algn="just"/>
            <a:r>
              <a:rPr lang="en-IN" dirty="0"/>
              <a:t>Ideally, the memory would be fast, large, and inexpensive. </a:t>
            </a:r>
          </a:p>
          <a:p>
            <a:pPr algn="just"/>
            <a:r>
              <a:rPr lang="en-IN" dirty="0"/>
              <a:t>Unfortunately, it is impossible to meet all three of these requirements simultaneously. Increased speed and size are achieved at increased cost. </a:t>
            </a:r>
          </a:p>
          <a:p>
            <a:pPr algn="just"/>
            <a:r>
              <a:rPr lang="en-IN" dirty="0"/>
              <a:t>Much work has gone into developing structures that improve the effective speed and size of the memory, yet keep the cost reasonable.</a:t>
            </a:r>
          </a:p>
        </p:txBody>
      </p:sp>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91406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Concepts-1</a:t>
            </a:r>
            <a:endParaRPr lang="en-IN" dirty="0"/>
          </a:p>
        </p:txBody>
      </p:sp>
      <p:sp>
        <p:nvSpPr>
          <p:cNvPr id="3" name="Content Placeholder 2"/>
          <p:cNvSpPr>
            <a:spLocks noGrp="1"/>
          </p:cNvSpPr>
          <p:nvPr>
            <p:ph sz="quarter" idx="1"/>
          </p:nvPr>
        </p:nvSpPr>
        <p:spPr/>
        <p:txBody>
          <a:bodyPr/>
          <a:lstStyle/>
          <a:p>
            <a:pPr algn="just"/>
            <a:r>
              <a:rPr lang="en-IN" dirty="0"/>
              <a:t>The maximum size of the memory that can be used in any computer is determined by the addressing scheme. </a:t>
            </a:r>
          </a:p>
          <a:p>
            <a:pPr algn="just"/>
            <a:r>
              <a:rPr lang="en-IN" dirty="0"/>
              <a:t>For example, a computer that generates </a:t>
            </a:r>
            <a:r>
              <a:rPr lang="en-IN" dirty="0">
                <a:solidFill>
                  <a:srgbClr val="FF0000"/>
                </a:solidFill>
              </a:rPr>
              <a:t>16-bit addresses </a:t>
            </a:r>
            <a:r>
              <a:rPr lang="en-IN" dirty="0"/>
              <a:t>is capable of addressing up to 	</a:t>
            </a:r>
          </a:p>
          <a:p>
            <a:pPr algn="just"/>
            <a:r>
              <a:rPr lang="en-IN" dirty="0"/>
              <a:t>	</a:t>
            </a:r>
            <a:r>
              <a:rPr lang="en-IN" dirty="0">
                <a:solidFill>
                  <a:srgbClr val="FF0000"/>
                </a:solidFill>
              </a:rPr>
              <a:t>2</a:t>
            </a:r>
            <a:r>
              <a:rPr lang="en-IN" baseline="30000" dirty="0">
                <a:solidFill>
                  <a:srgbClr val="FF0000"/>
                </a:solidFill>
              </a:rPr>
              <a:t>16</a:t>
            </a:r>
            <a:r>
              <a:rPr lang="en-IN" dirty="0">
                <a:solidFill>
                  <a:srgbClr val="FF0000"/>
                </a:solidFill>
              </a:rPr>
              <a:t> = 64K (kilo) memory locations</a:t>
            </a:r>
          </a:p>
          <a:p>
            <a:pPr algn="just"/>
            <a:endParaRPr lang="en-IN" dirty="0"/>
          </a:p>
        </p:txBody>
      </p:sp>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47770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Concepts-2</a:t>
            </a:r>
            <a:endParaRPr lang="en-IN" dirty="0"/>
          </a:p>
        </p:txBody>
      </p:sp>
      <p:sp>
        <p:nvSpPr>
          <p:cNvPr id="3" name="Content Placeholder 2"/>
          <p:cNvSpPr>
            <a:spLocks noGrp="1"/>
          </p:cNvSpPr>
          <p:nvPr>
            <p:ph sz="quarter" idx="1"/>
          </p:nvPr>
        </p:nvSpPr>
        <p:spPr/>
        <p:txBody>
          <a:bodyPr>
            <a:normAutofit fontScale="92500" lnSpcReduction="20000"/>
          </a:bodyPr>
          <a:lstStyle/>
          <a:p>
            <a:pPr algn="just"/>
            <a:r>
              <a:rPr lang="en-IN" dirty="0"/>
              <a:t>The memory is usually designed to store and retrieve data in word-length quantities.</a:t>
            </a:r>
          </a:p>
          <a:p>
            <a:pPr algn="just"/>
            <a:endParaRPr lang="en-IN" dirty="0"/>
          </a:p>
          <a:p>
            <a:pPr algn="just"/>
            <a:r>
              <a:rPr lang="en-IN" dirty="0"/>
              <a:t>Consider, for example, a byte-addressable computer whose instructions generate 32-bit addresses.</a:t>
            </a:r>
          </a:p>
          <a:p>
            <a:pPr algn="just"/>
            <a:endParaRPr lang="en-IN" dirty="0"/>
          </a:p>
          <a:p>
            <a:pPr algn="just"/>
            <a:r>
              <a:rPr lang="en-IN" dirty="0"/>
              <a:t>When a </a:t>
            </a:r>
            <a:r>
              <a:rPr lang="en-IN" dirty="0">
                <a:solidFill>
                  <a:srgbClr val="FF0000"/>
                </a:solidFill>
              </a:rPr>
              <a:t>32-bit address </a:t>
            </a:r>
            <a:r>
              <a:rPr lang="en-IN" dirty="0"/>
              <a:t>is sent from the processor to the memory unit, the high order </a:t>
            </a:r>
            <a:r>
              <a:rPr lang="en-IN" dirty="0">
                <a:solidFill>
                  <a:srgbClr val="FF0000"/>
                </a:solidFill>
              </a:rPr>
              <a:t>30 bits determine which word will be accessed</a:t>
            </a:r>
            <a:r>
              <a:rPr lang="en-IN" dirty="0"/>
              <a:t>. If a byte quantity is specified, the low-order </a:t>
            </a:r>
            <a:r>
              <a:rPr lang="en-IN" dirty="0">
                <a:solidFill>
                  <a:srgbClr val="FF0000"/>
                </a:solidFill>
              </a:rPr>
              <a:t>2 bits </a:t>
            </a:r>
            <a:r>
              <a:rPr lang="en-IN" dirty="0"/>
              <a:t>of the address specify which </a:t>
            </a:r>
            <a:r>
              <a:rPr lang="en-IN" dirty="0">
                <a:solidFill>
                  <a:srgbClr val="FF0000"/>
                </a:solidFill>
              </a:rPr>
              <a:t>byte location</a:t>
            </a:r>
            <a:r>
              <a:rPr lang="en-IN" dirty="0"/>
              <a:t> is involved.</a:t>
            </a:r>
          </a:p>
        </p:txBody>
      </p:sp>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964841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Concepts-4</a:t>
            </a:r>
            <a:endParaRPr lang="en-IN" dirty="0"/>
          </a:p>
        </p:txBody>
      </p:sp>
      <p:sp>
        <p:nvSpPr>
          <p:cNvPr id="3" name="Content Placeholder 2"/>
          <p:cNvSpPr>
            <a:spLocks noGrp="1"/>
          </p:cNvSpPr>
          <p:nvPr>
            <p:ph sz="quarter" idx="1"/>
          </p:nvPr>
        </p:nvSpPr>
        <p:spPr/>
        <p:txBody>
          <a:bodyPr/>
          <a:lstStyle/>
          <a:p>
            <a:pPr algn="just"/>
            <a:r>
              <a:rPr lang="en-IN" dirty="0"/>
              <a:t>The connection between the processor and its memory consists of address, data, and control lines,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613" y="2743200"/>
            <a:ext cx="6200775"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normAutofit fontScale="85000" lnSpcReduction="20000"/>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82175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Concepts-5</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dirty="0"/>
              <a:t>The processor uses the address lines to specify the memory location involved in a data transfer operation, and uses the data lines to transfer the data. </a:t>
            </a:r>
          </a:p>
          <a:p>
            <a:pPr algn="just"/>
            <a:endParaRPr lang="en-IN" dirty="0"/>
          </a:p>
          <a:p>
            <a:pPr algn="just"/>
            <a:r>
              <a:rPr lang="en-IN" dirty="0"/>
              <a:t>At the same time, the control lines carry the command indicating a Read or a Write operation and whether a byte or a word is to be transferred. The control lines also provide the necessary timing information and are used by the memory to indicate when it has completed the requested operation. </a:t>
            </a:r>
          </a:p>
          <a:p>
            <a:pPr algn="just"/>
            <a:endParaRPr lang="en-IN" dirty="0"/>
          </a:p>
          <a:p>
            <a:pPr algn="just"/>
            <a:r>
              <a:rPr lang="en-IN" dirty="0"/>
              <a:t>When the processor-memory interface receives the memory’s response, it asserts the </a:t>
            </a:r>
            <a:r>
              <a:rPr lang="en-IN" dirty="0">
                <a:solidFill>
                  <a:srgbClr val="FF0000"/>
                </a:solidFill>
              </a:rPr>
              <a:t>MFC (Memory Function Complete) signal</a:t>
            </a:r>
          </a:p>
        </p:txBody>
      </p:sp>
    </p:spTree>
    <p:extLst>
      <p:ext uri="{BB962C8B-B14F-4D97-AF65-F5344CB8AC3E}">
        <p14:creationId xmlns:p14="http://schemas.microsoft.com/office/powerpoint/2010/main" val="103106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Concepts-6</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7</a:t>
            </a:fld>
            <a:endParaRPr lang="en-US"/>
          </a:p>
        </p:txBody>
      </p:sp>
      <p:sp>
        <p:nvSpPr>
          <p:cNvPr id="4" name="Content Placeholder 3"/>
          <p:cNvSpPr>
            <a:spLocks noGrp="1"/>
          </p:cNvSpPr>
          <p:nvPr>
            <p:ph sz="quarter" idx="1"/>
          </p:nvPr>
        </p:nvSpPr>
        <p:spPr/>
        <p:txBody>
          <a:bodyPr>
            <a:normAutofit fontScale="92500" lnSpcReduction="20000"/>
          </a:bodyPr>
          <a:lstStyle/>
          <a:p>
            <a:pPr algn="just"/>
            <a:r>
              <a:rPr lang="en-IN" dirty="0"/>
              <a:t>A useful measure of the speed of memory units is the time that elapses between the initiation of an operation to transfer a word of data and the completion of that operation. </a:t>
            </a:r>
          </a:p>
          <a:p>
            <a:pPr algn="just"/>
            <a:r>
              <a:rPr lang="en-IN" dirty="0"/>
              <a:t>This is referred to as the </a:t>
            </a:r>
            <a:r>
              <a:rPr lang="en-IN" b="1" i="1" dirty="0">
                <a:solidFill>
                  <a:srgbClr val="FF0000"/>
                </a:solidFill>
              </a:rPr>
              <a:t>memory access time</a:t>
            </a:r>
            <a:r>
              <a:rPr lang="en-IN" i="1" dirty="0"/>
              <a:t>.</a:t>
            </a:r>
          </a:p>
          <a:p>
            <a:pPr algn="just"/>
            <a:r>
              <a:rPr lang="en-IN" dirty="0"/>
              <a:t>Another important measure is the </a:t>
            </a:r>
            <a:r>
              <a:rPr lang="en-IN" b="1" i="1" dirty="0">
                <a:solidFill>
                  <a:srgbClr val="FF0000"/>
                </a:solidFill>
              </a:rPr>
              <a:t>memory cycle time</a:t>
            </a:r>
            <a:r>
              <a:rPr lang="en-IN" i="1" dirty="0"/>
              <a:t>, </a:t>
            </a:r>
            <a:r>
              <a:rPr lang="en-IN" dirty="0"/>
              <a:t>which is the minimum time delay required between the initiation of two successive memory operations, for example, the time between two successive Read operations. </a:t>
            </a:r>
          </a:p>
          <a:p>
            <a:pPr algn="just"/>
            <a:r>
              <a:rPr lang="en-IN" dirty="0"/>
              <a:t>The cycle time is usually slightly longer than the access time.</a:t>
            </a:r>
          </a:p>
        </p:txBody>
      </p:sp>
    </p:spTree>
    <p:extLst>
      <p:ext uri="{BB962C8B-B14F-4D97-AF65-F5344CB8AC3E}">
        <p14:creationId xmlns:p14="http://schemas.microsoft.com/office/powerpoint/2010/main" val="869095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Concepts-7</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a:t>
            </a:fld>
            <a:endParaRPr lang="en-US"/>
          </a:p>
        </p:txBody>
      </p:sp>
      <p:sp>
        <p:nvSpPr>
          <p:cNvPr id="4" name="Content Placeholder 3"/>
          <p:cNvSpPr>
            <a:spLocks noGrp="1"/>
          </p:cNvSpPr>
          <p:nvPr>
            <p:ph sz="quarter" idx="1"/>
          </p:nvPr>
        </p:nvSpPr>
        <p:spPr/>
        <p:txBody>
          <a:bodyPr>
            <a:normAutofit lnSpcReduction="10000"/>
          </a:bodyPr>
          <a:lstStyle/>
          <a:p>
            <a:pPr algn="just"/>
            <a:r>
              <a:rPr lang="en-IN" dirty="0"/>
              <a:t>A memory unit is called a </a:t>
            </a:r>
            <a:r>
              <a:rPr lang="en-IN" i="1" dirty="0">
                <a:solidFill>
                  <a:srgbClr val="FF0000"/>
                </a:solidFill>
              </a:rPr>
              <a:t>random-access memory </a:t>
            </a:r>
            <a:r>
              <a:rPr lang="en-IN" dirty="0"/>
              <a:t>(RAM) </a:t>
            </a:r>
            <a:r>
              <a:rPr lang="en-IN" dirty="0">
                <a:solidFill>
                  <a:srgbClr val="FF0000"/>
                </a:solidFill>
              </a:rPr>
              <a:t>if the access time to any location is the same</a:t>
            </a:r>
            <a:r>
              <a:rPr lang="en-IN" dirty="0"/>
              <a:t>, independent of the location’s address. </a:t>
            </a:r>
          </a:p>
          <a:p>
            <a:pPr algn="just"/>
            <a:endParaRPr lang="en-IN" dirty="0"/>
          </a:p>
          <a:p>
            <a:pPr algn="just"/>
            <a:r>
              <a:rPr lang="en-IN" dirty="0"/>
              <a:t>This distinguishes such memory units from serial, or partly serial, access storage devices such as magnetic and optical disks.</a:t>
            </a:r>
          </a:p>
          <a:p>
            <a:pPr algn="just"/>
            <a:endParaRPr lang="en-IN" dirty="0"/>
          </a:p>
          <a:p>
            <a:pPr algn="just"/>
            <a:r>
              <a:rPr lang="en-IN" dirty="0"/>
              <a:t>Access time of the latter devices depends on the address or position of the data.</a:t>
            </a:r>
          </a:p>
        </p:txBody>
      </p:sp>
    </p:spTree>
    <p:extLst>
      <p:ext uri="{BB962C8B-B14F-4D97-AF65-F5344CB8AC3E}">
        <p14:creationId xmlns:p14="http://schemas.microsoft.com/office/powerpoint/2010/main" val="3426004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Concepts-8</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a:t>
            </a:fld>
            <a:endParaRPr lang="en-US"/>
          </a:p>
        </p:txBody>
      </p:sp>
      <p:sp>
        <p:nvSpPr>
          <p:cNvPr id="4" name="Content Placeholder 3"/>
          <p:cNvSpPr>
            <a:spLocks noGrp="1"/>
          </p:cNvSpPr>
          <p:nvPr>
            <p:ph sz="quarter" idx="1"/>
          </p:nvPr>
        </p:nvSpPr>
        <p:spPr>
          <a:xfrm>
            <a:off x="548640" y="1905000"/>
            <a:ext cx="8153400" cy="4495800"/>
          </a:xfrm>
        </p:spPr>
        <p:txBody>
          <a:bodyPr>
            <a:normAutofit fontScale="62500" lnSpcReduction="20000"/>
          </a:bodyPr>
          <a:lstStyle/>
          <a:p>
            <a:r>
              <a:rPr lang="en-IN" b="1" dirty="0"/>
              <a:t>Cache and Virtual Memory</a:t>
            </a:r>
          </a:p>
          <a:p>
            <a:pPr algn="just"/>
            <a:r>
              <a:rPr lang="en-IN" dirty="0"/>
              <a:t>The processor of a computer can usually process instructions and data faster than they can be fetched from the main memory. Hence, the memory access time is the bottleneck in the system. </a:t>
            </a:r>
          </a:p>
          <a:p>
            <a:pPr algn="just"/>
            <a:endParaRPr lang="en-IN" dirty="0"/>
          </a:p>
          <a:p>
            <a:pPr algn="just"/>
            <a:r>
              <a:rPr lang="en-IN" dirty="0"/>
              <a:t>One way to reduce the memory access time is to use a </a:t>
            </a:r>
            <a:r>
              <a:rPr lang="en-IN" b="1" i="1" dirty="0"/>
              <a:t>cache memory. </a:t>
            </a:r>
          </a:p>
          <a:p>
            <a:pPr algn="just"/>
            <a:r>
              <a:rPr lang="en-IN" dirty="0"/>
              <a:t>This is a small, fast memory inserted between the larger, slower main memory and the processor. It holds the currently active portions of a program and their data.</a:t>
            </a:r>
          </a:p>
          <a:p>
            <a:pPr algn="just"/>
            <a:endParaRPr lang="en-IN" dirty="0"/>
          </a:p>
          <a:p>
            <a:pPr algn="just"/>
            <a:r>
              <a:rPr lang="en-IN" b="1" i="1" dirty="0"/>
              <a:t>Virtual memory </a:t>
            </a:r>
            <a:r>
              <a:rPr lang="en-IN" dirty="0"/>
              <a:t>With this technique, only the active portions of a program are stored in the main memory, and the remainder is stored on the much larger secondary storage device. Sections of the program are transferred back and forth between the main memory and the secondary storage device in a manner that is transparent to the application program. As a result, the application program sees a memory that is much larger than the computer’s physical main memory.</a:t>
            </a:r>
          </a:p>
        </p:txBody>
      </p:sp>
    </p:spTree>
    <p:extLst>
      <p:ext uri="{BB962C8B-B14F-4D97-AF65-F5344CB8AC3E}">
        <p14:creationId xmlns:p14="http://schemas.microsoft.com/office/powerpoint/2010/main" val="2226171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Semiconductor RAM Memories-1</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a:t>
            </a:fld>
            <a:endParaRPr lang="en-US"/>
          </a:p>
        </p:txBody>
      </p:sp>
      <p:sp>
        <p:nvSpPr>
          <p:cNvPr id="4" name="Content Placeholder 3"/>
          <p:cNvSpPr>
            <a:spLocks noGrp="1"/>
          </p:cNvSpPr>
          <p:nvPr>
            <p:ph sz="quarter" idx="1"/>
          </p:nvPr>
        </p:nvSpPr>
        <p:spPr/>
        <p:txBody>
          <a:bodyPr/>
          <a:lstStyle/>
          <a:p>
            <a:r>
              <a:rPr lang="en-IN" b="1" dirty="0"/>
              <a:t>Internal Organization of Memory Chips</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121473"/>
            <a:ext cx="6934200" cy="4558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8852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Semiconductor RAM Memories-2</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a:t>
            </a:fld>
            <a:endParaRPr lang="en-US"/>
          </a:p>
        </p:txBody>
      </p:sp>
      <p:sp>
        <p:nvSpPr>
          <p:cNvPr id="4" name="Content Placeholder 3"/>
          <p:cNvSpPr>
            <a:spLocks noGrp="1"/>
          </p:cNvSpPr>
          <p:nvPr>
            <p:ph sz="quarter" idx="1"/>
          </p:nvPr>
        </p:nvSpPr>
        <p:spPr>
          <a:xfrm>
            <a:off x="228600" y="1828800"/>
            <a:ext cx="8153400" cy="4648200"/>
          </a:xfrm>
        </p:spPr>
        <p:txBody>
          <a:bodyPr>
            <a:normAutofit fontScale="92500" lnSpcReduction="20000"/>
          </a:bodyPr>
          <a:lstStyle/>
          <a:p>
            <a:pPr algn="just"/>
            <a:r>
              <a:rPr lang="en-IN" sz="2000" dirty="0"/>
              <a:t>Memory cells are in the form of </a:t>
            </a:r>
            <a:r>
              <a:rPr lang="en-IN" sz="2000" b="1" dirty="0"/>
              <a:t>an array</a:t>
            </a:r>
            <a:r>
              <a:rPr lang="en-IN" sz="2000" dirty="0"/>
              <a:t>, in which each cell is capable of </a:t>
            </a:r>
            <a:r>
              <a:rPr lang="en-IN" sz="2000" b="1" dirty="0"/>
              <a:t>storing one bit</a:t>
            </a:r>
            <a:r>
              <a:rPr lang="en-IN" sz="2000" dirty="0"/>
              <a:t> of information.</a:t>
            </a:r>
          </a:p>
          <a:p>
            <a:pPr algn="just"/>
            <a:endParaRPr lang="en-IN" sz="1200" dirty="0"/>
          </a:p>
          <a:p>
            <a:pPr algn="just"/>
            <a:r>
              <a:rPr lang="en-IN" sz="2000" dirty="0"/>
              <a:t>Each row of cells constitutes a memory word, and all cells of a row are connected to a common line referred to as the </a:t>
            </a:r>
            <a:r>
              <a:rPr lang="en-IN" sz="2000" b="1" i="1" dirty="0"/>
              <a:t>word line</a:t>
            </a:r>
            <a:r>
              <a:rPr lang="en-IN" sz="2000" i="1" dirty="0"/>
              <a:t>, </a:t>
            </a:r>
            <a:r>
              <a:rPr lang="en-IN" sz="2000" dirty="0"/>
              <a:t>which is driven by the address decoder on the chip. </a:t>
            </a:r>
          </a:p>
          <a:p>
            <a:pPr algn="just"/>
            <a:endParaRPr lang="en-IN" sz="1200" dirty="0"/>
          </a:p>
          <a:p>
            <a:pPr algn="just"/>
            <a:r>
              <a:rPr lang="en-IN" sz="2000" dirty="0"/>
              <a:t>The cells in each column are connected to a </a:t>
            </a:r>
            <a:r>
              <a:rPr lang="en-IN" sz="2000" b="1" dirty="0"/>
              <a:t>Sense/Write circuit</a:t>
            </a:r>
            <a:r>
              <a:rPr lang="en-IN" sz="2000" dirty="0"/>
              <a:t> by two </a:t>
            </a:r>
            <a:r>
              <a:rPr lang="en-IN" sz="2000" i="1" dirty="0"/>
              <a:t>bit lines, </a:t>
            </a:r>
            <a:r>
              <a:rPr lang="en-IN" sz="2000" dirty="0"/>
              <a:t>and the Sense/Write circuits are connected to the data input/output lines of the chip. </a:t>
            </a:r>
          </a:p>
          <a:p>
            <a:pPr algn="just"/>
            <a:endParaRPr lang="en-IN" sz="1200" dirty="0"/>
          </a:p>
          <a:p>
            <a:pPr algn="just"/>
            <a:r>
              <a:rPr lang="en-IN" sz="2000" dirty="0"/>
              <a:t>During a Read operation, these circuits sense, or read, the information stored in the cells selected by a word line and place this information on the output data lines. </a:t>
            </a:r>
          </a:p>
          <a:p>
            <a:pPr algn="just"/>
            <a:endParaRPr lang="en-IN" sz="1100" dirty="0"/>
          </a:p>
          <a:p>
            <a:pPr algn="just"/>
            <a:r>
              <a:rPr lang="en-IN" sz="2000" dirty="0"/>
              <a:t>During a Write operation, the Sense/Write circuits receive input data and store them in the cells of the selected word.</a:t>
            </a:r>
          </a:p>
        </p:txBody>
      </p:sp>
    </p:spTree>
    <p:extLst>
      <p:ext uri="{BB962C8B-B14F-4D97-AF65-F5344CB8AC3E}">
        <p14:creationId xmlns:p14="http://schemas.microsoft.com/office/powerpoint/2010/main" val="1892317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Semiconductor RAM Memories-3</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12</a:t>
            </a:fld>
            <a:endParaRPr lang="en-US"/>
          </a:p>
        </p:txBody>
      </p:sp>
      <p:sp>
        <p:nvSpPr>
          <p:cNvPr id="4" name="Content Placeholder 3"/>
          <p:cNvSpPr>
            <a:spLocks noGrp="1"/>
          </p:cNvSpPr>
          <p:nvPr>
            <p:ph sz="quarter" idx="1"/>
          </p:nvPr>
        </p:nvSpPr>
        <p:spPr>
          <a:xfrm>
            <a:off x="457200" y="1981200"/>
            <a:ext cx="8153400" cy="4495800"/>
          </a:xfrm>
        </p:spPr>
        <p:txBody>
          <a:bodyPr>
            <a:normAutofit fontScale="85000" lnSpcReduction="20000"/>
          </a:bodyPr>
          <a:lstStyle/>
          <a:p>
            <a:pPr algn="just"/>
            <a:r>
              <a:rPr lang="en-IN" dirty="0"/>
              <a:t>In above example of a very small memory circuit consisting of 16 words of 8 bits each. </a:t>
            </a:r>
          </a:p>
          <a:p>
            <a:pPr algn="just"/>
            <a:endParaRPr lang="en-IN" dirty="0"/>
          </a:p>
          <a:p>
            <a:pPr algn="just"/>
            <a:r>
              <a:rPr lang="en-IN" dirty="0"/>
              <a:t>This is referred to as a 16 × 8 organization. </a:t>
            </a:r>
          </a:p>
          <a:p>
            <a:pPr algn="just"/>
            <a:endParaRPr lang="en-IN" dirty="0"/>
          </a:p>
          <a:p>
            <a:pPr algn="just"/>
            <a:r>
              <a:rPr lang="en-IN" dirty="0"/>
              <a:t>The data input and the data output of each Sense/Write circuit are connected to a single bidirectional data line that can be connected to the data lines of a computer. </a:t>
            </a:r>
          </a:p>
          <a:p>
            <a:pPr algn="just"/>
            <a:endParaRPr lang="en-IN" dirty="0"/>
          </a:p>
          <a:p>
            <a:pPr algn="just"/>
            <a:r>
              <a:rPr lang="en-IN" dirty="0"/>
              <a:t>The R/W (Read/Write) input specifies the required operation, and the </a:t>
            </a:r>
            <a:r>
              <a:rPr lang="en-IN" b="1" dirty="0"/>
              <a:t>CS (Chip Select) </a:t>
            </a:r>
            <a:r>
              <a:rPr lang="en-IN" dirty="0"/>
              <a:t>input selects a given chip in a multichip memory system.</a:t>
            </a:r>
          </a:p>
        </p:txBody>
      </p:sp>
    </p:spTree>
    <p:extLst>
      <p:ext uri="{BB962C8B-B14F-4D97-AF65-F5344CB8AC3E}">
        <p14:creationId xmlns:p14="http://schemas.microsoft.com/office/powerpoint/2010/main" val="339538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Semiconductor RAM Memories-4</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13</a:t>
            </a:fld>
            <a:endParaRPr lang="en-US"/>
          </a:p>
        </p:txBody>
      </p:sp>
      <p:sp>
        <p:nvSpPr>
          <p:cNvPr id="4" name="Content Placeholder 3"/>
          <p:cNvSpPr>
            <a:spLocks noGrp="1"/>
          </p:cNvSpPr>
          <p:nvPr>
            <p:ph sz="quarter" idx="1"/>
          </p:nvPr>
        </p:nvSpPr>
        <p:spPr/>
        <p:txBody>
          <a:bodyPr>
            <a:normAutofit fontScale="77500" lnSpcReduction="20000"/>
          </a:bodyPr>
          <a:lstStyle/>
          <a:p>
            <a:r>
              <a:rPr lang="en-IN" dirty="0"/>
              <a:t>Number of external connections required</a:t>
            </a:r>
          </a:p>
          <a:p>
            <a:pPr algn="just"/>
            <a:r>
              <a:rPr lang="en-IN" dirty="0"/>
              <a:t>The memory in above example stores 128 bits and requires 14 external connections for address (4), data(8), and control lines(2). It also needs two lines (2) for power supply and ground connections. </a:t>
            </a:r>
          </a:p>
          <a:p>
            <a:pPr algn="just"/>
            <a:r>
              <a:rPr lang="en-IN" dirty="0"/>
              <a:t>Now in case of 1K (1024) memory cells. This circuit can be organized as a 128 × 8 memory, requiring a total of 19 external connections. (7+8+2+2)</a:t>
            </a:r>
          </a:p>
          <a:p>
            <a:pPr algn="just"/>
            <a:r>
              <a:rPr lang="en-IN" dirty="0"/>
              <a:t>The same number of cells can be organized into a 1K×1 format. In this case, a 10-bit address is needed, but there is only one data line, resulting in 15 external connections. (10+1+2+2)</a:t>
            </a:r>
          </a:p>
          <a:p>
            <a:r>
              <a:rPr lang="en-IN" dirty="0"/>
              <a:t>A 1G-bitchip may have a 256M × 4 organization, in which case a 28-bit address is needed and 4 bits are transferred to or from the chip. (28+4+2+2)</a:t>
            </a:r>
          </a:p>
        </p:txBody>
      </p:sp>
    </p:spTree>
    <p:extLst>
      <p:ext uri="{BB962C8B-B14F-4D97-AF65-F5344CB8AC3E}">
        <p14:creationId xmlns:p14="http://schemas.microsoft.com/office/powerpoint/2010/main" val="4157492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Semiconductor RAM Memories-5</a:t>
            </a:r>
            <a:endParaRPr lang="en-IN" dirty="0"/>
          </a:p>
        </p:txBody>
      </p:sp>
      <p:sp>
        <p:nvSpPr>
          <p:cNvPr id="4" name="Content Placeholder 3"/>
          <p:cNvSpPr>
            <a:spLocks noGrp="1"/>
          </p:cNvSpPr>
          <p:nvPr>
            <p:ph sz="quarter" idx="1"/>
          </p:nvPr>
        </p:nvSpPr>
        <p:spPr>
          <a:xfrm>
            <a:off x="304800" y="1905000"/>
            <a:ext cx="4084320" cy="4572000"/>
          </a:xfrm>
        </p:spPr>
        <p:txBody>
          <a:bodyPr>
            <a:normAutofit fontScale="70000" lnSpcReduction="20000"/>
          </a:bodyPr>
          <a:lstStyle/>
          <a:p>
            <a:r>
              <a:rPr lang="en-IN" dirty="0"/>
              <a:t>Organization of a </a:t>
            </a:r>
            <a:r>
              <a:rPr lang="en-IN" dirty="0">
                <a:solidFill>
                  <a:srgbClr val="FF0000"/>
                </a:solidFill>
              </a:rPr>
              <a:t>1K × 1 memory chip.</a:t>
            </a:r>
          </a:p>
          <a:p>
            <a:endParaRPr lang="en-IN" dirty="0">
              <a:solidFill>
                <a:srgbClr val="FF0000"/>
              </a:solidFill>
            </a:endParaRPr>
          </a:p>
          <a:p>
            <a:pPr algn="just"/>
            <a:r>
              <a:rPr lang="en-IN" dirty="0">
                <a:solidFill>
                  <a:srgbClr val="FF0000"/>
                </a:solidFill>
              </a:rPr>
              <a:t>10-bit address is divided into two groups of 5 bits </a:t>
            </a:r>
            <a:r>
              <a:rPr lang="en-IN" dirty="0"/>
              <a:t>each to form the row and column addresses for the cell array. </a:t>
            </a:r>
          </a:p>
          <a:p>
            <a:pPr algn="just"/>
            <a:endParaRPr lang="en-IN" dirty="0"/>
          </a:p>
          <a:p>
            <a:pPr algn="just"/>
            <a:r>
              <a:rPr lang="en-IN" dirty="0"/>
              <a:t>A row address selects a row of 32 cells, all of which are accessed in parallel. </a:t>
            </a:r>
          </a:p>
          <a:p>
            <a:pPr algn="just"/>
            <a:endParaRPr lang="en-IN" dirty="0"/>
          </a:p>
          <a:p>
            <a:pPr algn="just"/>
            <a:r>
              <a:rPr lang="en-IN" dirty="0"/>
              <a:t>But, only one of these cells is connected to the external data line, based on the column address</a:t>
            </a:r>
          </a:p>
        </p:txBody>
      </p:sp>
      <p:sp>
        <p:nvSpPr>
          <p:cNvPr id="5" name="Content Placeholder 4"/>
          <p:cNvSpPr>
            <a:spLocks noGrp="1"/>
          </p:cNvSpPr>
          <p:nvPr>
            <p:ph sz="quarter" idx="2"/>
          </p:nvPr>
        </p:nvSpPr>
        <p:spPr/>
        <p:txBody>
          <a:bodyPr>
            <a:normAutofit fontScale="70000" lnSpcReduction="20000"/>
          </a:bodyPr>
          <a:lstStyle/>
          <a:p>
            <a:endParaRPr lang="en-IN"/>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14</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752600"/>
            <a:ext cx="4267200" cy="4623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1930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IN" b="1" dirty="0"/>
              <a:t>Semiconductor RAM Memories-6</a:t>
            </a:r>
            <a:br>
              <a:rPr lang="en-IN" b="1" dirty="0"/>
            </a:br>
            <a:r>
              <a:rPr lang="en-IN" b="1" dirty="0"/>
              <a:t>Static Memories (SRAM)</a:t>
            </a:r>
            <a:endParaRPr lang="en-IN" dirty="0"/>
          </a:p>
        </p:txBody>
      </p:sp>
      <p:sp>
        <p:nvSpPr>
          <p:cNvPr id="5" name="Slide Number Placeholder 4"/>
          <p:cNvSpPr>
            <a:spLocks noGrp="1"/>
          </p:cNvSpPr>
          <p:nvPr>
            <p:ph type="sldNum" sz="quarter" idx="12"/>
          </p:nvPr>
        </p:nvSpPr>
        <p:spPr/>
        <p:txBody>
          <a:bodyPr>
            <a:normAutofit fontScale="85000" lnSpcReduction="20000"/>
          </a:bodyPr>
          <a:lstStyle/>
          <a:p>
            <a:fld id="{B6F15528-21DE-4FAA-801E-634DDDAF4B2B}" type="slidenum">
              <a:rPr lang="en-US" smtClean="0"/>
              <a:pPr/>
              <a:t>15</a:t>
            </a:fld>
            <a:endParaRPr lang="en-US"/>
          </a:p>
        </p:txBody>
      </p:sp>
      <p:sp>
        <p:nvSpPr>
          <p:cNvPr id="7" name="Content Placeholder 6"/>
          <p:cNvSpPr>
            <a:spLocks noGrp="1"/>
          </p:cNvSpPr>
          <p:nvPr>
            <p:ph sz="quarter" idx="1"/>
          </p:nvPr>
        </p:nvSpPr>
        <p:spPr/>
        <p:txBody>
          <a:bodyPr/>
          <a:lstStyle/>
          <a:p>
            <a:pPr algn="just"/>
            <a:r>
              <a:rPr lang="en-IN" dirty="0"/>
              <a:t>Memories that consist of circuits capable of retaining their state as long as power is applied are known as </a:t>
            </a:r>
            <a:r>
              <a:rPr lang="en-IN" i="1" dirty="0"/>
              <a:t>static memories</a:t>
            </a:r>
            <a:r>
              <a:rPr lang="en-IN" dirty="0"/>
              <a: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983087"/>
            <a:ext cx="5486400" cy="3798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0160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Memories-7</a:t>
            </a:r>
            <a:br>
              <a:rPr lang="en-IN" b="1" dirty="0"/>
            </a:br>
            <a:r>
              <a:rPr lang="en-IN" b="1" dirty="0"/>
              <a:t>Static Memories (SRAM)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16</a:t>
            </a:fld>
            <a:endParaRPr lang="en-US"/>
          </a:p>
        </p:txBody>
      </p:sp>
      <p:sp>
        <p:nvSpPr>
          <p:cNvPr id="4" name="Content Placeholder 3"/>
          <p:cNvSpPr>
            <a:spLocks noGrp="1"/>
          </p:cNvSpPr>
          <p:nvPr>
            <p:ph sz="quarter" idx="1"/>
          </p:nvPr>
        </p:nvSpPr>
        <p:spPr>
          <a:xfrm>
            <a:off x="381000" y="1981200"/>
            <a:ext cx="8153400" cy="4495800"/>
          </a:xfrm>
        </p:spPr>
        <p:txBody>
          <a:bodyPr>
            <a:normAutofit fontScale="92500" lnSpcReduction="20000"/>
          </a:bodyPr>
          <a:lstStyle/>
          <a:p>
            <a:pPr algn="just"/>
            <a:r>
              <a:rPr lang="en-IN" dirty="0"/>
              <a:t>Two inverters are cross-connected to form a latch. The latch is connected to two bit lines by transistors </a:t>
            </a:r>
            <a:r>
              <a:rPr lang="en-IN" i="1" dirty="0"/>
              <a:t>T</a:t>
            </a:r>
            <a:r>
              <a:rPr lang="en-IN" dirty="0"/>
              <a:t>1 and </a:t>
            </a:r>
            <a:r>
              <a:rPr lang="en-IN" i="1" dirty="0"/>
              <a:t>T</a:t>
            </a:r>
            <a:r>
              <a:rPr lang="en-IN" dirty="0"/>
              <a:t>2. These transistors act as switches that can be opened or closed under control of the word line. </a:t>
            </a:r>
          </a:p>
          <a:p>
            <a:pPr algn="just"/>
            <a:endParaRPr lang="en-IN" dirty="0"/>
          </a:p>
          <a:p>
            <a:pPr algn="just"/>
            <a:r>
              <a:rPr lang="en-IN" dirty="0"/>
              <a:t>When the word line is at ground level, the transistors are turned off and the latch retains its state. </a:t>
            </a:r>
          </a:p>
          <a:p>
            <a:pPr algn="just"/>
            <a:endParaRPr lang="en-IN" dirty="0"/>
          </a:p>
          <a:p>
            <a:pPr algn="just"/>
            <a:r>
              <a:rPr lang="en-IN" dirty="0"/>
              <a:t>For example, if the logic value at point </a:t>
            </a:r>
            <a:r>
              <a:rPr lang="en-IN" i="1" dirty="0"/>
              <a:t>X </a:t>
            </a:r>
            <a:r>
              <a:rPr lang="en-IN" dirty="0"/>
              <a:t>is 1 and at point </a:t>
            </a:r>
            <a:r>
              <a:rPr lang="en-IN" i="1" dirty="0"/>
              <a:t>Y </a:t>
            </a:r>
            <a:r>
              <a:rPr lang="en-IN" dirty="0"/>
              <a:t>is 0, this state is maintained as long as the signal on the word line is at ground level. Assume that this state represents the value 1.</a:t>
            </a:r>
          </a:p>
        </p:txBody>
      </p:sp>
    </p:spTree>
    <p:extLst>
      <p:ext uri="{BB962C8B-B14F-4D97-AF65-F5344CB8AC3E}">
        <p14:creationId xmlns:p14="http://schemas.microsoft.com/office/powerpoint/2010/main" val="2645261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Memories-8</a:t>
            </a:r>
            <a:br>
              <a:rPr lang="en-IN" b="1" dirty="0"/>
            </a:br>
            <a:r>
              <a:rPr lang="en-IN" b="1" dirty="0"/>
              <a:t>Static Memories (SRAM)</a:t>
            </a:r>
            <a:endParaRPr lang="en-IN" dirty="0"/>
          </a:p>
        </p:txBody>
      </p:sp>
      <p:sp>
        <p:nvSpPr>
          <p:cNvPr id="4" name="Content Placeholder 3"/>
          <p:cNvSpPr>
            <a:spLocks noGrp="1"/>
          </p:cNvSpPr>
          <p:nvPr>
            <p:ph sz="quarter" idx="1"/>
          </p:nvPr>
        </p:nvSpPr>
        <p:spPr/>
        <p:txBody>
          <a:bodyPr>
            <a:normAutofit/>
          </a:bodyPr>
          <a:lstStyle/>
          <a:p>
            <a:r>
              <a:rPr lang="en-IN" b="1" dirty="0"/>
              <a:t>Read Operation</a:t>
            </a:r>
          </a:p>
          <a:p>
            <a:pPr lvl="1" algn="just"/>
            <a:r>
              <a:rPr lang="en-IN" b="1" dirty="0"/>
              <a:t>Assume cell is in state 1.</a:t>
            </a:r>
          </a:p>
          <a:p>
            <a:pPr lvl="1" algn="just"/>
            <a:r>
              <a:rPr lang="en-IN" b="1" dirty="0"/>
              <a:t>To read keep Word line  to 1.</a:t>
            </a:r>
          </a:p>
          <a:p>
            <a:pPr lvl="1" algn="just"/>
            <a:r>
              <a:rPr lang="en-IN" dirty="0"/>
              <a:t>So signal on bit line </a:t>
            </a:r>
            <a:r>
              <a:rPr lang="en-IN" i="1" dirty="0"/>
              <a:t>b </a:t>
            </a:r>
            <a:r>
              <a:rPr lang="en-IN" dirty="0"/>
              <a:t>is high and the signal on bit line </a:t>
            </a:r>
            <a:r>
              <a:rPr lang="en-IN" i="1" dirty="0"/>
              <a:t>b` </a:t>
            </a:r>
            <a:r>
              <a:rPr lang="en-IN" dirty="0"/>
              <a:t>is low</a:t>
            </a:r>
          </a:p>
        </p:txBody>
      </p:sp>
      <p:sp>
        <p:nvSpPr>
          <p:cNvPr id="6" name="Content Placeholder 5"/>
          <p:cNvSpPr>
            <a:spLocks noGrp="1"/>
          </p:cNvSpPr>
          <p:nvPr>
            <p:ph sz="quarter" idx="2"/>
          </p:nvPr>
        </p:nvSpPr>
        <p:spPr/>
        <p:txBody>
          <a:bodyPr>
            <a:normAutofit/>
          </a:bodyPr>
          <a:lstStyle/>
          <a:p>
            <a:endParaRPr lang="en-IN"/>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17</a:t>
            </a:fld>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3452" y="1752600"/>
            <a:ext cx="4191000" cy="4179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7562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Memories-9</a:t>
            </a:r>
            <a:br>
              <a:rPr lang="en-IN" b="1" dirty="0"/>
            </a:br>
            <a:r>
              <a:rPr lang="en-IN" b="1" dirty="0"/>
              <a:t>Static Memories (SRAM)</a:t>
            </a:r>
            <a:endParaRPr lang="en-IN" dirty="0"/>
          </a:p>
        </p:txBody>
      </p:sp>
      <p:sp>
        <p:nvSpPr>
          <p:cNvPr id="4" name="Content Placeholder 3"/>
          <p:cNvSpPr>
            <a:spLocks noGrp="1"/>
          </p:cNvSpPr>
          <p:nvPr>
            <p:ph sz="quarter" idx="1"/>
          </p:nvPr>
        </p:nvSpPr>
        <p:spPr/>
        <p:txBody>
          <a:bodyPr>
            <a:normAutofit fontScale="77500" lnSpcReduction="20000"/>
          </a:bodyPr>
          <a:lstStyle/>
          <a:p>
            <a:r>
              <a:rPr lang="en-IN" b="1" dirty="0"/>
              <a:t>Write Operation</a:t>
            </a:r>
          </a:p>
          <a:p>
            <a:pPr algn="just"/>
            <a:r>
              <a:rPr lang="en-IN" sz="3200" dirty="0"/>
              <a:t>During a Write operation, the Sense/Write circuit drives bit lines </a:t>
            </a:r>
            <a:r>
              <a:rPr lang="en-IN" sz="3200" i="1" dirty="0"/>
              <a:t>b </a:t>
            </a:r>
            <a:r>
              <a:rPr lang="en-IN" sz="3200" dirty="0"/>
              <a:t>and </a:t>
            </a:r>
            <a:r>
              <a:rPr lang="en-IN" sz="3200" i="1" dirty="0"/>
              <a:t>b`</a:t>
            </a:r>
            <a:r>
              <a:rPr lang="en-IN" sz="3200" dirty="0"/>
              <a:t>. </a:t>
            </a:r>
          </a:p>
          <a:p>
            <a:pPr algn="just"/>
            <a:r>
              <a:rPr lang="en-IN" sz="3200" dirty="0"/>
              <a:t>It places the appropriate value on bit line </a:t>
            </a:r>
            <a:r>
              <a:rPr lang="en-IN" sz="3200" i="1" dirty="0"/>
              <a:t>b </a:t>
            </a:r>
            <a:r>
              <a:rPr lang="en-IN" sz="3200" dirty="0"/>
              <a:t>and its complement on </a:t>
            </a:r>
            <a:r>
              <a:rPr lang="en-IN" sz="3200" i="1" dirty="0"/>
              <a:t>b` </a:t>
            </a:r>
            <a:r>
              <a:rPr lang="en-IN" sz="3200" dirty="0"/>
              <a:t>and activates the word line. </a:t>
            </a:r>
          </a:p>
          <a:p>
            <a:pPr algn="just"/>
            <a:r>
              <a:rPr lang="en-IN" sz="3200" dirty="0"/>
              <a:t>This forces the cell into the corresponding state, which the cell retains when the word line is deactivated.</a:t>
            </a:r>
            <a:endParaRPr lang="en-IN" dirty="0"/>
          </a:p>
        </p:txBody>
      </p:sp>
      <p:sp>
        <p:nvSpPr>
          <p:cNvPr id="6" name="Content Placeholder 5"/>
          <p:cNvSpPr>
            <a:spLocks noGrp="1"/>
          </p:cNvSpPr>
          <p:nvPr>
            <p:ph sz="quarter" idx="2"/>
          </p:nvPr>
        </p:nvSpPr>
        <p:spPr/>
        <p:txBody>
          <a:bodyPr>
            <a:normAutofit fontScale="77500" lnSpcReduction="20000"/>
          </a:bodyPr>
          <a:lstStyle/>
          <a:p>
            <a:endParaRPr lang="en-IN"/>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18</a:t>
            </a:fld>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3452" y="1752600"/>
            <a:ext cx="4191000" cy="4179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9518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Memories-10</a:t>
            </a:r>
            <a:br>
              <a:rPr lang="en-IN" b="1" dirty="0"/>
            </a:br>
            <a:r>
              <a:rPr lang="en-IN" b="1" dirty="0"/>
              <a:t>Static Memories (SRAM)</a:t>
            </a:r>
            <a:endParaRPr lang="en-IN" dirty="0"/>
          </a:p>
        </p:txBody>
      </p:sp>
      <p:sp>
        <p:nvSpPr>
          <p:cNvPr id="3" name="Content Placeholder 2"/>
          <p:cNvSpPr>
            <a:spLocks noGrp="1"/>
          </p:cNvSpPr>
          <p:nvPr>
            <p:ph sz="quarter" idx="1"/>
          </p:nvPr>
        </p:nvSpPr>
        <p:spPr/>
        <p:txBody>
          <a:bodyPr>
            <a:normAutofit fontScale="77500" lnSpcReduction="20000"/>
          </a:bodyPr>
          <a:lstStyle/>
          <a:p>
            <a:r>
              <a:rPr lang="en-IN" b="1" dirty="0"/>
              <a:t>CMOS Cell</a:t>
            </a:r>
          </a:p>
          <a:p>
            <a:pPr algn="just"/>
            <a:r>
              <a:rPr lang="en-IN" dirty="0"/>
              <a:t>Transistor pairs (</a:t>
            </a:r>
            <a:r>
              <a:rPr lang="en-IN" i="1" dirty="0"/>
              <a:t>T</a:t>
            </a:r>
            <a:r>
              <a:rPr lang="en-IN" dirty="0"/>
              <a:t>3</a:t>
            </a:r>
            <a:r>
              <a:rPr lang="en-IN" i="1" dirty="0"/>
              <a:t>, T</a:t>
            </a:r>
            <a:r>
              <a:rPr lang="en-IN" dirty="0"/>
              <a:t>5) and (</a:t>
            </a:r>
            <a:r>
              <a:rPr lang="en-IN" i="1" dirty="0"/>
              <a:t>T</a:t>
            </a:r>
            <a:r>
              <a:rPr lang="en-IN" dirty="0"/>
              <a:t>4</a:t>
            </a:r>
            <a:r>
              <a:rPr lang="en-IN" i="1" dirty="0"/>
              <a:t>, T</a:t>
            </a:r>
            <a:r>
              <a:rPr lang="en-IN" dirty="0"/>
              <a:t>6) form the inverters in the latch. </a:t>
            </a:r>
          </a:p>
          <a:p>
            <a:pPr algn="just"/>
            <a:r>
              <a:rPr lang="en-IN" dirty="0"/>
              <a:t>The state of the cell is read or written as just explained. For example, in state 1, the voltage at point </a:t>
            </a:r>
            <a:r>
              <a:rPr lang="en-IN" i="1" dirty="0"/>
              <a:t>X </a:t>
            </a:r>
            <a:r>
              <a:rPr lang="en-IN" dirty="0"/>
              <a:t>is maintained high by having transistors </a:t>
            </a:r>
            <a:r>
              <a:rPr lang="en-IN" i="1" dirty="0"/>
              <a:t>T</a:t>
            </a:r>
            <a:r>
              <a:rPr lang="en-IN" dirty="0"/>
              <a:t>3 and </a:t>
            </a:r>
            <a:r>
              <a:rPr lang="en-IN" i="1" dirty="0"/>
              <a:t>T</a:t>
            </a:r>
            <a:r>
              <a:rPr lang="en-IN" dirty="0"/>
              <a:t>6 on, while </a:t>
            </a:r>
            <a:r>
              <a:rPr lang="en-IN" i="1" dirty="0"/>
              <a:t>T</a:t>
            </a:r>
            <a:r>
              <a:rPr lang="en-IN" dirty="0"/>
              <a:t>4 and </a:t>
            </a:r>
            <a:r>
              <a:rPr lang="en-IN" i="1" dirty="0"/>
              <a:t>T</a:t>
            </a:r>
            <a:r>
              <a:rPr lang="en-IN" dirty="0"/>
              <a:t>5 are off. </a:t>
            </a:r>
          </a:p>
          <a:p>
            <a:pPr algn="just"/>
            <a:r>
              <a:rPr lang="en-IN" dirty="0"/>
              <a:t>If </a:t>
            </a:r>
            <a:r>
              <a:rPr lang="en-IN" i="1" dirty="0"/>
              <a:t>T</a:t>
            </a:r>
            <a:r>
              <a:rPr lang="en-IN" dirty="0"/>
              <a:t>1 and </a:t>
            </a:r>
            <a:r>
              <a:rPr lang="en-IN" i="1" dirty="0"/>
              <a:t>T</a:t>
            </a:r>
            <a:r>
              <a:rPr lang="en-IN" dirty="0"/>
              <a:t>2 are turned on, bit lines </a:t>
            </a:r>
            <a:r>
              <a:rPr lang="en-IN" i="1" dirty="0"/>
              <a:t>b </a:t>
            </a:r>
            <a:r>
              <a:rPr lang="en-IN" dirty="0"/>
              <a:t>and </a:t>
            </a:r>
            <a:r>
              <a:rPr lang="en-IN" i="1" dirty="0"/>
              <a:t>b`</a:t>
            </a:r>
            <a:r>
              <a:rPr lang="en-IN" dirty="0"/>
              <a:t> will have high and low signals, respectively.</a:t>
            </a:r>
          </a:p>
        </p:txBody>
      </p:sp>
      <p:sp>
        <p:nvSpPr>
          <p:cNvPr id="4" name="Content Placeholder 3"/>
          <p:cNvSpPr>
            <a:spLocks noGrp="1"/>
          </p:cNvSpPr>
          <p:nvPr>
            <p:ph sz="quarter" idx="2"/>
          </p:nvPr>
        </p:nvSpPr>
        <p:spPr/>
        <p:txBody>
          <a:bodyPr>
            <a:normAutofit fontScale="77500" lnSpcReduction="20000"/>
          </a:bodyPr>
          <a:lstStyle/>
          <a:p>
            <a:endParaRPr lang="en-IN"/>
          </a:p>
        </p:txBody>
      </p:sp>
      <p:sp>
        <p:nvSpPr>
          <p:cNvPr id="5" name="Slide Number Placeholder 4"/>
          <p:cNvSpPr>
            <a:spLocks noGrp="1"/>
          </p:cNvSpPr>
          <p:nvPr>
            <p:ph type="sldNum" sz="quarter" idx="16"/>
          </p:nvPr>
        </p:nvSpPr>
        <p:spPr/>
        <p:txBody>
          <a:bodyPr>
            <a:normAutofit fontScale="85000" lnSpcReduction="20000"/>
          </a:bodyPr>
          <a:lstStyle/>
          <a:p>
            <a:fld id="{B6F15528-21DE-4FAA-801E-634DDDAF4B2B}" type="slidenum">
              <a:rPr lang="en-US" smtClean="0"/>
              <a:pPr/>
              <a:t>19</a:t>
            </a:fld>
            <a:endParaRPr 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691"/>
          <a:stretch/>
        </p:blipFill>
        <p:spPr bwMode="auto">
          <a:xfrm>
            <a:off x="4724400" y="1590675"/>
            <a:ext cx="4419600" cy="473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5715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IN" b="1" dirty="0"/>
              <a:t>Semiconductor RAM Memories-11</a:t>
            </a:r>
            <a:br>
              <a:rPr lang="en-IN" b="1" dirty="0"/>
            </a:br>
            <a:r>
              <a:rPr lang="en-IN" b="1" dirty="0"/>
              <a:t>Static Memories (SRAM)</a:t>
            </a:r>
            <a:endParaRPr lang="en-IN" dirty="0"/>
          </a:p>
        </p:txBody>
      </p:sp>
      <p:sp>
        <p:nvSpPr>
          <p:cNvPr id="5" name="Slide Number Placeholder 4"/>
          <p:cNvSpPr>
            <a:spLocks noGrp="1"/>
          </p:cNvSpPr>
          <p:nvPr>
            <p:ph type="sldNum" sz="quarter" idx="12"/>
          </p:nvPr>
        </p:nvSpPr>
        <p:spPr/>
        <p:txBody>
          <a:bodyPr>
            <a:normAutofit fontScale="85000" lnSpcReduction="20000"/>
          </a:bodyPr>
          <a:lstStyle/>
          <a:p>
            <a:fld id="{B6F15528-21DE-4FAA-801E-634DDDAF4B2B}" type="slidenum">
              <a:rPr lang="en-US" smtClean="0"/>
              <a:pPr/>
              <a:t>20</a:t>
            </a:fld>
            <a:endParaRPr lang="en-US"/>
          </a:p>
        </p:txBody>
      </p:sp>
      <p:sp>
        <p:nvSpPr>
          <p:cNvPr id="7" name="Content Placeholder 6"/>
          <p:cNvSpPr>
            <a:spLocks noGrp="1"/>
          </p:cNvSpPr>
          <p:nvPr>
            <p:ph sz="quarter" idx="1"/>
          </p:nvPr>
        </p:nvSpPr>
        <p:spPr/>
        <p:txBody>
          <a:bodyPr>
            <a:normAutofit fontScale="85000" lnSpcReduction="10000"/>
          </a:bodyPr>
          <a:lstStyle/>
          <a:p>
            <a:pPr algn="just"/>
            <a:r>
              <a:rPr lang="en-IN" dirty="0"/>
              <a:t>Continuous power is needed for the cell to retain its state. If power is interrupted, the cell’s contents are lost. When power is restored, the latch settles into a stable state, but not necessarily the same state the cell was in before the interruption. Hence, SRAMs are said to be </a:t>
            </a:r>
            <a:r>
              <a:rPr lang="en-IN" i="1" dirty="0"/>
              <a:t>volatile </a:t>
            </a:r>
            <a:r>
              <a:rPr lang="en-IN" dirty="0"/>
              <a:t>memories.</a:t>
            </a:r>
          </a:p>
          <a:p>
            <a:pPr algn="just"/>
            <a:r>
              <a:rPr lang="en-IN" dirty="0"/>
              <a:t>A major advantage of CMOS SRAMs is their very low power consumption, because current flows in the cell only when the cell is being accessed.</a:t>
            </a:r>
          </a:p>
          <a:p>
            <a:pPr algn="just"/>
            <a:r>
              <a:rPr lang="en-IN" dirty="0"/>
              <a:t>Static RAMs can be accessed very quickly. Access times on the order of a few nanoseconds are found in commercially available chips. SRAMs are used in applications where speed is of critical concern.</a:t>
            </a:r>
          </a:p>
        </p:txBody>
      </p:sp>
    </p:spTree>
    <p:extLst>
      <p:ext uri="{BB962C8B-B14F-4D97-AF65-F5344CB8AC3E}">
        <p14:creationId xmlns:p14="http://schemas.microsoft.com/office/powerpoint/2010/main" val="2270062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Memories-12</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21</a:t>
            </a:fld>
            <a:endParaRPr lang="en-US"/>
          </a:p>
        </p:txBody>
      </p:sp>
      <p:sp>
        <p:nvSpPr>
          <p:cNvPr id="4" name="Content Placeholder 3"/>
          <p:cNvSpPr>
            <a:spLocks noGrp="1"/>
          </p:cNvSpPr>
          <p:nvPr>
            <p:ph sz="quarter" idx="1"/>
          </p:nvPr>
        </p:nvSpPr>
        <p:spPr>
          <a:xfrm>
            <a:off x="612648" y="1600200"/>
            <a:ext cx="8153400" cy="3733800"/>
          </a:xfrm>
        </p:spPr>
        <p:txBody>
          <a:bodyPr>
            <a:normAutofit fontScale="92500" lnSpcReduction="10000"/>
          </a:bodyPr>
          <a:lstStyle/>
          <a:p>
            <a:pPr algn="just"/>
            <a:r>
              <a:rPr lang="en-IN" dirty="0"/>
              <a:t>Static RAMs are fast, but their cells require several transistors. </a:t>
            </a:r>
          </a:p>
          <a:p>
            <a:pPr algn="just"/>
            <a:r>
              <a:rPr lang="en-IN" dirty="0"/>
              <a:t>Less expensive and higher density RAMs can be implemented with simpler cells. </a:t>
            </a:r>
          </a:p>
          <a:p>
            <a:pPr algn="just"/>
            <a:r>
              <a:rPr lang="en-IN" dirty="0"/>
              <a:t>But, these simpler cells do not retain their state for a long period, unless they are accessed frequently (Refreshed) for Read or Write operations. </a:t>
            </a:r>
          </a:p>
          <a:p>
            <a:pPr algn="just"/>
            <a:r>
              <a:rPr lang="en-IN" dirty="0"/>
              <a:t>Memories that use such cells are called </a:t>
            </a:r>
            <a:r>
              <a:rPr lang="en-IN" i="1" dirty="0"/>
              <a:t>dynamic RAMs </a:t>
            </a:r>
            <a:r>
              <a:rPr lang="en-IN" dirty="0"/>
              <a:t>(DRAMs).</a:t>
            </a:r>
          </a:p>
        </p:txBody>
      </p:sp>
      <p:pic>
        <p:nvPicPr>
          <p:cNvPr id="5" name="Picture 2" descr="http://cdn.ttgtmedia.com/rms/onlineImages/storage_definition-DRAM_deskto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5191125"/>
            <a:ext cx="5715000"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6415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Memories-13</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22</a:t>
            </a:fld>
            <a:endParaRPr lang="en-US"/>
          </a:p>
        </p:txBody>
      </p:sp>
      <p:sp>
        <p:nvSpPr>
          <p:cNvPr id="4" name="Content Placeholder 3"/>
          <p:cNvSpPr>
            <a:spLocks noGrp="1"/>
          </p:cNvSpPr>
          <p:nvPr>
            <p:ph sz="quarter" idx="1"/>
          </p:nvPr>
        </p:nvSpPr>
        <p:spPr/>
        <p:txBody>
          <a:bodyPr/>
          <a:lstStyle/>
          <a:p>
            <a:pPr algn="just"/>
            <a:r>
              <a:rPr lang="en-IN" dirty="0"/>
              <a:t>Information is stored in a dynamic memory cell in the form of a charge on a capacitor, but this charge can be maintained for only tens of milliseconds. </a:t>
            </a:r>
          </a:p>
          <a:p>
            <a:pPr algn="just"/>
            <a:r>
              <a:rPr lang="en-IN" dirty="0"/>
              <a:t>Since the cell is required to store information for a much longer time, its contents must be periodically </a:t>
            </a:r>
            <a:r>
              <a:rPr lang="en-IN" i="1" dirty="0"/>
              <a:t>refreshed (read or write) </a:t>
            </a:r>
            <a:r>
              <a:rPr lang="en-IN" dirty="0"/>
              <a:t>by restoring the capacitor charge to its full value. </a:t>
            </a:r>
          </a:p>
        </p:txBody>
      </p:sp>
    </p:spTree>
    <p:extLst>
      <p:ext uri="{BB962C8B-B14F-4D97-AF65-F5344CB8AC3E}">
        <p14:creationId xmlns:p14="http://schemas.microsoft.com/office/powerpoint/2010/main" val="2525311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Memories-14</a:t>
            </a:r>
            <a:br>
              <a:rPr lang="en-IN" b="1" dirty="0"/>
            </a:br>
            <a:r>
              <a:rPr lang="en-IN" b="1" dirty="0"/>
              <a:t>Asynchronous Memories (DRAM)</a:t>
            </a:r>
            <a:endParaRPr lang="en-IN" dirty="0"/>
          </a:p>
        </p:txBody>
      </p:sp>
      <p:sp>
        <p:nvSpPr>
          <p:cNvPr id="4" name="Content Placeholder 3"/>
          <p:cNvSpPr>
            <a:spLocks noGrp="1"/>
          </p:cNvSpPr>
          <p:nvPr>
            <p:ph sz="quarter" idx="1"/>
          </p:nvPr>
        </p:nvSpPr>
        <p:spPr/>
        <p:txBody>
          <a:bodyPr>
            <a:normAutofit fontScale="77500" lnSpcReduction="20000"/>
          </a:bodyPr>
          <a:lstStyle/>
          <a:p>
            <a:pPr algn="just"/>
            <a:r>
              <a:rPr lang="en-IN" dirty="0"/>
              <a:t>A single-transistor dynamic memory cell.</a:t>
            </a:r>
          </a:p>
          <a:p>
            <a:pPr algn="just"/>
            <a:r>
              <a:rPr lang="en-IN" dirty="0"/>
              <a:t>To store information in this cell, transistor </a:t>
            </a:r>
            <a:r>
              <a:rPr lang="en-IN" i="1" dirty="0"/>
              <a:t>T </a:t>
            </a:r>
            <a:r>
              <a:rPr lang="en-IN" dirty="0"/>
              <a:t>is turned on and an appropriate voltage is applied to the bit line. </a:t>
            </a:r>
          </a:p>
          <a:p>
            <a:pPr algn="just"/>
            <a:r>
              <a:rPr lang="en-IN" dirty="0"/>
              <a:t>This causes a known amount of charge to be stored in the capacitor.</a:t>
            </a:r>
          </a:p>
          <a:p>
            <a:pPr algn="just"/>
            <a:r>
              <a:rPr lang="en-IN" dirty="0"/>
              <a:t>After the transistor is turned off, the charge remains stored in the capacitor, but not for long. The capacitor begins to discharge.</a:t>
            </a:r>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23</a:t>
            </a:fld>
            <a:endParaRPr lang="en-US"/>
          </a:p>
        </p:txBody>
      </p:sp>
      <p:pic>
        <p:nvPicPr>
          <p:cNvPr id="6146"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4845050" y="1981200"/>
            <a:ext cx="3886200"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5760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Memories-15</a:t>
            </a:r>
            <a:br>
              <a:rPr lang="en-IN" b="1" dirty="0"/>
            </a:br>
            <a:r>
              <a:rPr lang="en-IN" b="1" dirty="0"/>
              <a:t>Asynchronous Memories (DRAM)</a:t>
            </a:r>
            <a:endParaRPr lang="en-IN" dirty="0"/>
          </a:p>
        </p:txBody>
      </p:sp>
      <p:sp>
        <p:nvSpPr>
          <p:cNvPr id="5" name="Slide Number Placeholder 4"/>
          <p:cNvSpPr>
            <a:spLocks noGrp="1"/>
          </p:cNvSpPr>
          <p:nvPr>
            <p:ph type="sldNum" sz="quarter" idx="12"/>
          </p:nvPr>
        </p:nvSpPr>
        <p:spPr/>
        <p:txBody>
          <a:bodyPr>
            <a:normAutofit fontScale="85000" lnSpcReduction="20000"/>
          </a:bodyPr>
          <a:lstStyle/>
          <a:p>
            <a:fld id="{B6F15528-21DE-4FAA-801E-634DDDAF4B2B}" type="slidenum">
              <a:rPr lang="en-US" smtClean="0"/>
              <a:pPr/>
              <a:t>24</a:t>
            </a:fld>
            <a:endParaRPr lang="en-US"/>
          </a:p>
        </p:txBody>
      </p:sp>
      <p:sp>
        <p:nvSpPr>
          <p:cNvPr id="6" name="Content Placeholder 5"/>
          <p:cNvSpPr>
            <a:spLocks noGrp="1"/>
          </p:cNvSpPr>
          <p:nvPr>
            <p:ph sz="quarter" idx="1"/>
          </p:nvPr>
        </p:nvSpPr>
        <p:spPr/>
        <p:txBody>
          <a:bodyPr>
            <a:noAutofit/>
          </a:bodyPr>
          <a:lstStyle/>
          <a:p>
            <a:pPr algn="just"/>
            <a:r>
              <a:rPr lang="en-IN" sz="1800" dirty="0"/>
              <a:t>This is because the transistor continues to conduct a tiny amount of current, after it is turned off. </a:t>
            </a:r>
          </a:p>
          <a:p>
            <a:pPr algn="just"/>
            <a:r>
              <a:rPr lang="en-IN" sz="1800" dirty="0"/>
              <a:t>Hence, the information stored in the cell can be retrieved correctly only if it is read before the charge in the capacitor drops below some threshold value. </a:t>
            </a:r>
          </a:p>
          <a:p>
            <a:pPr algn="just"/>
            <a:r>
              <a:rPr lang="en-IN" sz="1800" dirty="0"/>
              <a:t>During a Read operation, the transistor in a selected cell is turned on. </a:t>
            </a:r>
          </a:p>
          <a:p>
            <a:pPr algn="just"/>
            <a:r>
              <a:rPr lang="en-IN" sz="1800" dirty="0"/>
              <a:t>A sense amplifier connected to the bit line detects whether the charge stored in the capacitor is above or below the threshold value. </a:t>
            </a:r>
          </a:p>
          <a:p>
            <a:pPr algn="just"/>
            <a:r>
              <a:rPr lang="en-IN" sz="1800" dirty="0"/>
              <a:t>If the charge is above the threshold, the sense amplifier drives the bit line to the full voltage representing the logic value 1. As a result, the capacitor is recharged. </a:t>
            </a:r>
          </a:p>
          <a:p>
            <a:pPr algn="just"/>
            <a:r>
              <a:rPr lang="en-IN" sz="1800" dirty="0"/>
              <a:t>If the sense amplifier detects that the charge in the capacitor is below the threshold value, it pulls the bit line to ground level to discharge the capacitor fully. </a:t>
            </a:r>
          </a:p>
          <a:p>
            <a:pPr algn="just"/>
            <a:r>
              <a:rPr lang="en-IN" sz="1800" dirty="0"/>
              <a:t>Thus, reading the contents of a cell automatically refreshes its contents. </a:t>
            </a:r>
          </a:p>
          <a:p>
            <a:pPr algn="just"/>
            <a:r>
              <a:rPr lang="en-IN" sz="1800" dirty="0"/>
              <a:t>Since the word line is common to all cells in a row, all cells in a selected row are read and refreshed at the same time.</a:t>
            </a:r>
          </a:p>
        </p:txBody>
      </p:sp>
    </p:spTree>
    <p:extLst>
      <p:ext uri="{BB962C8B-B14F-4D97-AF65-F5344CB8AC3E}">
        <p14:creationId xmlns:p14="http://schemas.microsoft.com/office/powerpoint/2010/main" val="3313986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Memories-16</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25</a:t>
            </a:fld>
            <a:endParaRPr lang="en-US"/>
          </a:p>
        </p:txBody>
      </p:sp>
      <p:sp>
        <p:nvSpPr>
          <p:cNvPr id="4" name="Content Placeholder 3"/>
          <p:cNvSpPr>
            <a:spLocks noGrp="1"/>
          </p:cNvSpPr>
          <p:nvPr>
            <p:ph sz="quarter" idx="1"/>
          </p:nvPr>
        </p:nvSpPr>
        <p:spPr/>
        <p:txBody>
          <a:bodyPr/>
          <a:lstStyle/>
          <a:p>
            <a:pPr algn="just"/>
            <a:r>
              <a:rPr lang="en-IN" dirty="0"/>
              <a:t>Internal organization of a 2M × 8 dynamic memory chip.</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133600"/>
            <a:ext cx="6095999"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5440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Memories-17</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26</a:t>
            </a:fld>
            <a:endParaRPr lang="en-US"/>
          </a:p>
        </p:txBody>
      </p:sp>
      <p:sp>
        <p:nvSpPr>
          <p:cNvPr id="4" name="Content Placeholder 3"/>
          <p:cNvSpPr>
            <a:spLocks noGrp="1"/>
          </p:cNvSpPr>
          <p:nvPr>
            <p:ph sz="quarter" idx="1"/>
          </p:nvPr>
        </p:nvSpPr>
        <p:spPr/>
        <p:txBody>
          <a:bodyPr>
            <a:noAutofit/>
          </a:bodyPr>
          <a:lstStyle/>
          <a:p>
            <a:pPr algn="just"/>
            <a:r>
              <a:rPr lang="en-IN" sz="2000" dirty="0"/>
              <a:t>A 16-Megabit DRAM chip, configured as 2M × 8, is shown in above diagram. </a:t>
            </a:r>
          </a:p>
          <a:p>
            <a:pPr algn="just"/>
            <a:r>
              <a:rPr lang="en-IN" sz="2000" dirty="0"/>
              <a:t>The cells are organized in the form of a 4K × 4K array. </a:t>
            </a:r>
          </a:p>
          <a:p>
            <a:pPr algn="just"/>
            <a:r>
              <a:rPr lang="en-IN" sz="2000" dirty="0"/>
              <a:t>The 4096 cells in each row are divided into 512 groups of 8, forming 512 bytes of data. </a:t>
            </a:r>
          </a:p>
          <a:p>
            <a:pPr algn="just"/>
            <a:r>
              <a:rPr lang="en-IN" sz="2000" dirty="0"/>
              <a:t>Therefore, 12 address bits are needed to select a row, and another 9 bits are needed to specify a group of 8 bits in the selected row. </a:t>
            </a:r>
          </a:p>
          <a:p>
            <a:pPr algn="just"/>
            <a:r>
              <a:rPr lang="en-IN" sz="2000" dirty="0"/>
              <a:t>In total, a 21-bit address is needed to access a byte in this memory. </a:t>
            </a:r>
          </a:p>
          <a:p>
            <a:pPr algn="just"/>
            <a:r>
              <a:rPr lang="en-IN" sz="2000" dirty="0"/>
              <a:t>The high-order 12 bits and the low-order 9 bits of the address constitute the row and column addresses of a byte, respectively. </a:t>
            </a:r>
          </a:p>
          <a:p>
            <a:pPr algn="just"/>
            <a:r>
              <a:rPr lang="en-IN" sz="2000" dirty="0"/>
              <a:t>To reduce the number of pins needed for external connections, the row and column addresses are multiplexed on 12 pins. </a:t>
            </a:r>
          </a:p>
        </p:txBody>
      </p:sp>
    </p:spTree>
    <p:extLst>
      <p:ext uri="{BB962C8B-B14F-4D97-AF65-F5344CB8AC3E}">
        <p14:creationId xmlns:p14="http://schemas.microsoft.com/office/powerpoint/2010/main" val="2675630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Memories-18</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27</a:t>
            </a:fld>
            <a:endParaRPr lang="en-US"/>
          </a:p>
        </p:txBody>
      </p:sp>
      <p:sp>
        <p:nvSpPr>
          <p:cNvPr id="4" name="Content Placeholder 3"/>
          <p:cNvSpPr>
            <a:spLocks noGrp="1"/>
          </p:cNvSpPr>
          <p:nvPr>
            <p:ph sz="quarter" idx="1"/>
          </p:nvPr>
        </p:nvSpPr>
        <p:spPr/>
        <p:txBody>
          <a:bodyPr/>
          <a:lstStyle/>
          <a:p>
            <a:pPr algn="just"/>
            <a:r>
              <a:rPr lang="en-IN" dirty="0"/>
              <a:t>During a Read or a Write operation, the row address is applied first. </a:t>
            </a:r>
          </a:p>
          <a:p>
            <a:pPr algn="just"/>
            <a:r>
              <a:rPr lang="en-IN" dirty="0"/>
              <a:t>It is loaded into the row address latch in response to a signal pulse on an input control line called the Row Address Strobe (RAS). </a:t>
            </a:r>
          </a:p>
          <a:p>
            <a:pPr algn="just"/>
            <a:r>
              <a:rPr lang="en-IN" dirty="0"/>
              <a:t>This causes a Read operation to be initiated, in which all cells in the selected row are read and refreshed.</a:t>
            </a:r>
          </a:p>
        </p:txBody>
      </p:sp>
    </p:spTree>
    <p:extLst>
      <p:ext uri="{BB962C8B-B14F-4D97-AF65-F5344CB8AC3E}">
        <p14:creationId xmlns:p14="http://schemas.microsoft.com/office/powerpoint/2010/main" val="3917714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Memories-19</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28</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dirty="0"/>
              <a:t>Shortly after the row address is loaded, the column address is applied to the address pins and loaded into the column address latch under control of a second control line called the Column Address Strobe (CAS). </a:t>
            </a:r>
          </a:p>
          <a:p>
            <a:pPr algn="just"/>
            <a:r>
              <a:rPr lang="en-IN" dirty="0"/>
              <a:t>The information in this latch is decoded and the appropriate group of 8 Sense/Write circuits is selected. </a:t>
            </a:r>
          </a:p>
          <a:p>
            <a:pPr algn="just"/>
            <a:r>
              <a:rPr lang="en-IN" dirty="0"/>
              <a:t>If the R/W control signal indicates a Read operation, the output values of the selected circuits are transferred to the data lines, D7−D0.</a:t>
            </a:r>
          </a:p>
          <a:p>
            <a:pPr algn="just"/>
            <a:r>
              <a:rPr lang="en-IN" dirty="0"/>
              <a:t>For a Write operation, the information on the D7−D0 lines is transferred to the selected circuits, then used to overwrite the contents of the selected cells in the corresponding 8 columns. </a:t>
            </a:r>
          </a:p>
          <a:p>
            <a:pPr algn="just"/>
            <a:r>
              <a:rPr lang="en-IN" dirty="0"/>
              <a:t>We should note that in commercial DRAM chips, the RAS and CAS control signals are active when low.</a:t>
            </a:r>
          </a:p>
        </p:txBody>
      </p:sp>
    </p:spTree>
    <p:extLst>
      <p:ext uri="{BB962C8B-B14F-4D97-AF65-F5344CB8AC3E}">
        <p14:creationId xmlns:p14="http://schemas.microsoft.com/office/powerpoint/2010/main" val="3935272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Memories-20</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29</a:t>
            </a:fld>
            <a:endParaRPr lang="en-US"/>
          </a:p>
        </p:txBody>
      </p:sp>
      <p:sp>
        <p:nvSpPr>
          <p:cNvPr id="4" name="Content Placeholder 3"/>
          <p:cNvSpPr>
            <a:spLocks noGrp="1"/>
          </p:cNvSpPr>
          <p:nvPr>
            <p:ph sz="quarter" idx="1"/>
          </p:nvPr>
        </p:nvSpPr>
        <p:spPr/>
        <p:txBody>
          <a:bodyPr>
            <a:normAutofit fontScale="92500" lnSpcReduction="20000"/>
          </a:bodyPr>
          <a:lstStyle/>
          <a:p>
            <a:pPr algn="just"/>
            <a:r>
              <a:rPr lang="en-IN" dirty="0"/>
              <a:t>The timing of the operation of the DRAM described above is controlled by the RAS and CAS signals. </a:t>
            </a:r>
          </a:p>
          <a:p>
            <a:pPr algn="just"/>
            <a:r>
              <a:rPr lang="en-IN" dirty="0"/>
              <a:t>These signals are generated by a </a:t>
            </a:r>
            <a:r>
              <a:rPr lang="en-IN" b="1" dirty="0"/>
              <a:t>memory controller circuit external</a:t>
            </a:r>
            <a:r>
              <a:rPr lang="en-IN" dirty="0"/>
              <a:t> to the chip when the processor issues a Read or a Write command. </a:t>
            </a:r>
          </a:p>
          <a:p>
            <a:pPr algn="just"/>
            <a:r>
              <a:rPr lang="en-IN" dirty="0"/>
              <a:t>During a Read operation, the output data are transferred to the processor after a delay equivalent to the memory’s access time. </a:t>
            </a:r>
          </a:p>
          <a:p>
            <a:pPr algn="just"/>
            <a:r>
              <a:rPr lang="en-IN" dirty="0"/>
              <a:t>Such memories are referred to as </a:t>
            </a:r>
            <a:r>
              <a:rPr lang="en-IN" i="1" dirty="0"/>
              <a:t>asynchronous DRAMs</a:t>
            </a:r>
            <a:r>
              <a:rPr lang="en-IN" dirty="0"/>
              <a:t>. </a:t>
            </a:r>
          </a:p>
          <a:p>
            <a:pPr algn="just"/>
            <a:r>
              <a:rPr lang="en-IN" dirty="0"/>
              <a:t>The memory controller is also responsible for refreshing the data stored in the memory chips.</a:t>
            </a:r>
          </a:p>
        </p:txBody>
      </p:sp>
    </p:spTree>
    <p:extLst>
      <p:ext uri="{BB962C8B-B14F-4D97-AF65-F5344CB8AC3E}">
        <p14:creationId xmlns:p14="http://schemas.microsoft.com/office/powerpoint/2010/main" val="2494002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Memories-21</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30</a:t>
            </a:fld>
            <a:endParaRPr lang="en-US"/>
          </a:p>
        </p:txBody>
      </p:sp>
      <p:sp>
        <p:nvSpPr>
          <p:cNvPr id="4" name="Content Placeholder 3"/>
          <p:cNvSpPr>
            <a:spLocks noGrp="1"/>
          </p:cNvSpPr>
          <p:nvPr>
            <p:ph sz="quarter" idx="1"/>
          </p:nvPr>
        </p:nvSpPr>
        <p:spPr/>
        <p:txBody>
          <a:bodyPr>
            <a:noAutofit/>
          </a:bodyPr>
          <a:lstStyle/>
          <a:p>
            <a:r>
              <a:rPr lang="en-IN" sz="2000" b="1" dirty="0"/>
              <a:t>Fast Page Mode</a:t>
            </a:r>
          </a:p>
          <a:p>
            <a:pPr algn="just"/>
            <a:r>
              <a:rPr lang="en-IN" sz="2000" dirty="0"/>
              <a:t>When the DRAM in above example is accessed, the contents of all 4096 cells in the selected row are sensed, but only 8 bits are placed on the data lines, D7−D0. This byte is selected by the column address, bits A8−0. </a:t>
            </a:r>
          </a:p>
          <a:p>
            <a:pPr algn="just"/>
            <a:r>
              <a:rPr lang="en-IN" sz="2000" dirty="0"/>
              <a:t>A simple addition to the circuit makes it possible to access the other bytes in the same row without having to reselect the row. </a:t>
            </a:r>
          </a:p>
          <a:p>
            <a:pPr algn="just"/>
            <a:r>
              <a:rPr lang="en-IN" sz="2000" dirty="0"/>
              <a:t>Each sense amplifier also acts as a latch. </a:t>
            </a:r>
          </a:p>
          <a:p>
            <a:pPr algn="just"/>
            <a:r>
              <a:rPr lang="en-IN" sz="2000" dirty="0"/>
              <a:t>When a row address is applied, the contents of all cells in the selected row are loaded into the corresponding latches. </a:t>
            </a:r>
          </a:p>
          <a:p>
            <a:pPr algn="just"/>
            <a:r>
              <a:rPr lang="en-IN" sz="2000" dirty="0"/>
              <a:t>Then, it is only necessary to apply different column addresses to place the different bytes on the data lines.</a:t>
            </a:r>
          </a:p>
        </p:txBody>
      </p:sp>
    </p:spTree>
    <p:extLst>
      <p:ext uri="{BB962C8B-B14F-4D97-AF65-F5344CB8AC3E}">
        <p14:creationId xmlns:p14="http://schemas.microsoft.com/office/powerpoint/2010/main" val="1925935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Memories-22</a:t>
            </a:r>
            <a:br>
              <a:rPr lang="en-IN" b="1" dirty="0"/>
            </a:br>
            <a:r>
              <a:rPr lang="en-IN" b="1" dirty="0"/>
              <a:t>Asynchronous Memories (DRAM)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31</a:t>
            </a:fld>
            <a:endParaRPr lang="en-US"/>
          </a:p>
        </p:txBody>
      </p:sp>
      <p:sp>
        <p:nvSpPr>
          <p:cNvPr id="4" name="Content Placeholder 3"/>
          <p:cNvSpPr>
            <a:spLocks noGrp="1"/>
          </p:cNvSpPr>
          <p:nvPr>
            <p:ph sz="quarter" idx="1"/>
          </p:nvPr>
        </p:nvSpPr>
        <p:spPr/>
        <p:txBody>
          <a:bodyPr>
            <a:normAutofit lnSpcReduction="10000"/>
          </a:bodyPr>
          <a:lstStyle/>
          <a:p>
            <a:pPr algn="just"/>
            <a:r>
              <a:rPr lang="en-IN" dirty="0"/>
              <a:t>This arrangement leads to a very useful feature. </a:t>
            </a:r>
            <a:r>
              <a:rPr lang="en-IN" b="1" dirty="0"/>
              <a:t>All bytes in the selected row can be transferred in sequential order by applying a consecutive sequence of column addresses under the control of successive CAS signals. </a:t>
            </a:r>
          </a:p>
          <a:p>
            <a:pPr algn="just"/>
            <a:r>
              <a:rPr lang="en-IN" dirty="0"/>
              <a:t>Thus, a block of data can be transferred at a much faster rate than can be achieved for transfers involving random addresses. </a:t>
            </a:r>
          </a:p>
          <a:p>
            <a:pPr algn="just"/>
            <a:r>
              <a:rPr lang="en-IN" dirty="0"/>
              <a:t>This feature is referred to as the </a:t>
            </a:r>
            <a:r>
              <a:rPr lang="en-IN" b="1" i="1" dirty="0"/>
              <a:t>fast page mode</a:t>
            </a:r>
            <a:r>
              <a:rPr lang="en-IN" dirty="0"/>
              <a:t>. (A large block of data is often called a page.)</a:t>
            </a:r>
          </a:p>
        </p:txBody>
      </p:sp>
    </p:spTree>
    <p:extLst>
      <p:ext uri="{BB962C8B-B14F-4D97-AF65-F5344CB8AC3E}">
        <p14:creationId xmlns:p14="http://schemas.microsoft.com/office/powerpoint/2010/main" val="3678588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Memories-23</a:t>
            </a:r>
            <a:br>
              <a:rPr lang="en-IN" b="1" dirty="0"/>
            </a:br>
            <a:r>
              <a:rPr lang="en-IN" b="1" dirty="0"/>
              <a:t>Synchronous DRAMs (SDRAM)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32</a:t>
            </a:fld>
            <a:endParaRPr lang="en-US"/>
          </a:p>
        </p:txBody>
      </p:sp>
      <p:sp>
        <p:nvSpPr>
          <p:cNvPr id="4" name="Content Placeholder 3"/>
          <p:cNvSpPr>
            <a:spLocks noGrp="1"/>
          </p:cNvSpPr>
          <p:nvPr>
            <p:ph sz="quarter" idx="1"/>
          </p:nvPr>
        </p:nvSpPr>
        <p:spPr/>
        <p:txBody>
          <a:bodyPr>
            <a:normAutofit lnSpcReduction="10000"/>
          </a:bodyPr>
          <a:lstStyle/>
          <a:p>
            <a:pPr algn="just"/>
            <a:r>
              <a:rPr lang="en-IN" b="1" dirty="0"/>
              <a:t>DRAMs whose operation is synchronized with a clock signal. </a:t>
            </a:r>
            <a:r>
              <a:rPr lang="en-IN" dirty="0"/>
              <a:t>Such memories are known as </a:t>
            </a:r>
            <a:r>
              <a:rPr lang="en-IN" i="1" dirty="0"/>
              <a:t>synchronous DRAMs </a:t>
            </a:r>
            <a:r>
              <a:rPr lang="en-IN" dirty="0"/>
              <a:t>(SDRAMs).</a:t>
            </a:r>
          </a:p>
          <a:p>
            <a:pPr algn="just"/>
            <a:r>
              <a:rPr lang="en-IN" dirty="0"/>
              <a:t>The cell array is the same as in asynchronous DRAMs.</a:t>
            </a:r>
          </a:p>
          <a:p>
            <a:pPr algn="just"/>
            <a:r>
              <a:rPr lang="en-IN" b="1" dirty="0"/>
              <a:t>SDRAMs have built-in refresh circuitry, with a refresh counter to provide the addresses of the rows to be selected for refreshing. </a:t>
            </a:r>
          </a:p>
          <a:p>
            <a:pPr algn="just"/>
            <a:r>
              <a:rPr lang="en-IN" dirty="0"/>
              <a:t>As a result, the dynamic nature of these memory chips is almost invisible to the user.</a:t>
            </a:r>
          </a:p>
        </p:txBody>
      </p:sp>
    </p:spTree>
    <p:extLst>
      <p:ext uri="{BB962C8B-B14F-4D97-AF65-F5344CB8AC3E}">
        <p14:creationId xmlns:p14="http://schemas.microsoft.com/office/powerpoint/2010/main" val="1010967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Memories-24</a:t>
            </a:r>
            <a:br>
              <a:rPr lang="en-IN" b="1" dirty="0"/>
            </a:br>
            <a:r>
              <a:rPr lang="en-IN" b="1" dirty="0"/>
              <a:t>Synchronous DRAMs(SDRAM)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33</a:t>
            </a:fld>
            <a:endParaRPr lang="en-US"/>
          </a:p>
        </p:txBody>
      </p:sp>
      <p:sp>
        <p:nvSpPr>
          <p:cNvPr id="4" name="Content Placeholder 3"/>
          <p:cNvSpPr>
            <a:spLocks noGrp="1"/>
          </p:cNvSpPr>
          <p:nvPr>
            <p:ph sz="quarter" idx="1"/>
          </p:nvPr>
        </p:nvSpPr>
        <p:spPr/>
        <p:txBody>
          <a:bodyPr/>
          <a:lstStyle/>
          <a:p>
            <a:endParaRPr lang="en-IN" dirty="0"/>
          </a:p>
        </p:txBody>
      </p:sp>
      <p:pic>
        <p:nvPicPr>
          <p:cNvPr id="5" name="Picture 2"/>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a:off x="457200" y="1628775"/>
            <a:ext cx="8229600" cy="469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6884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Memories-25</a:t>
            </a:r>
            <a:br>
              <a:rPr lang="en-IN" b="1" dirty="0"/>
            </a:br>
            <a:r>
              <a:rPr lang="en-IN" b="1" dirty="0"/>
              <a:t>Synchronous DRAMs(SDRAM)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34</a:t>
            </a:fld>
            <a:endParaRPr lang="en-US"/>
          </a:p>
        </p:txBody>
      </p:sp>
      <p:sp>
        <p:nvSpPr>
          <p:cNvPr id="4" name="Content Placeholder 3"/>
          <p:cNvSpPr>
            <a:spLocks noGrp="1"/>
          </p:cNvSpPr>
          <p:nvPr>
            <p:ph sz="quarter" idx="1"/>
          </p:nvPr>
        </p:nvSpPr>
        <p:spPr/>
        <p:txBody>
          <a:bodyPr>
            <a:normAutofit fontScale="92500" lnSpcReduction="20000"/>
          </a:bodyPr>
          <a:lstStyle/>
          <a:p>
            <a:pPr algn="just"/>
            <a:r>
              <a:rPr lang="en-IN" dirty="0"/>
              <a:t>SDRAMs have several different modes of operation, which can be selected by writing </a:t>
            </a:r>
            <a:r>
              <a:rPr lang="en-IN" b="1" dirty="0"/>
              <a:t>control information into a </a:t>
            </a:r>
            <a:r>
              <a:rPr lang="en-IN" b="1" i="1" dirty="0"/>
              <a:t>mode </a:t>
            </a:r>
            <a:r>
              <a:rPr lang="en-IN" b="1" dirty="0"/>
              <a:t>register.</a:t>
            </a:r>
            <a:endParaRPr lang="en-IN" dirty="0"/>
          </a:p>
          <a:p>
            <a:pPr algn="just"/>
            <a:r>
              <a:rPr lang="en-IN" dirty="0"/>
              <a:t>For example, in </a:t>
            </a:r>
            <a:r>
              <a:rPr lang="en-IN" b="1" dirty="0"/>
              <a:t>burst operations </a:t>
            </a:r>
            <a:r>
              <a:rPr lang="en-IN" dirty="0"/>
              <a:t>of different lengths can be specified. </a:t>
            </a:r>
          </a:p>
          <a:p>
            <a:pPr algn="just"/>
            <a:r>
              <a:rPr lang="en-IN" dirty="0"/>
              <a:t>It is not necessary to provide externally-generated pulses on the CAS line to select successive columns. </a:t>
            </a:r>
          </a:p>
          <a:p>
            <a:pPr algn="just"/>
            <a:r>
              <a:rPr lang="en-IN" dirty="0"/>
              <a:t>The necessary control signals are generated internally using a </a:t>
            </a:r>
            <a:r>
              <a:rPr lang="en-IN" b="1" dirty="0"/>
              <a:t>column counter and the clock signal.</a:t>
            </a:r>
            <a:r>
              <a:rPr lang="en-IN" dirty="0"/>
              <a:t> </a:t>
            </a:r>
          </a:p>
          <a:p>
            <a:pPr algn="just"/>
            <a:r>
              <a:rPr lang="en-IN" dirty="0"/>
              <a:t>New data are placed on the data lines </a:t>
            </a:r>
            <a:r>
              <a:rPr lang="en-IN" b="1" dirty="0"/>
              <a:t>at the rising edge of each clock pulse.</a:t>
            </a:r>
          </a:p>
        </p:txBody>
      </p:sp>
    </p:spTree>
    <p:extLst>
      <p:ext uri="{BB962C8B-B14F-4D97-AF65-F5344CB8AC3E}">
        <p14:creationId xmlns:p14="http://schemas.microsoft.com/office/powerpoint/2010/main" val="2615987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Memories-26</a:t>
            </a:r>
            <a:br>
              <a:rPr lang="en-IN" b="1" dirty="0"/>
            </a:br>
            <a:r>
              <a:rPr lang="en-IN" b="1" dirty="0"/>
              <a:t>Synchronous DRAMs(SDRAM)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35</a:t>
            </a:fld>
            <a:endParaRPr lang="en-US"/>
          </a:p>
        </p:txBody>
      </p:sp>
      <p:sp>
        <p:nvSpPr>
          <p:cNvPr id="4" name="Content Placeholder 3"/>
          <p:cNvSpPr>
            <a:spLocks noGrp="1"/>
          </p:cNvSpPr>
          <p:nvPr>
            <p:ph sz="quarter" idx="1"/>
          </p:nvPr>
        </p:nvSpPr>
        <p:spPr/>
        <p:txBody>
          <a:bodyPr/>
          <a:lstStyle/>
          <a:p>
            <a:r>
              <a:rPr lang="en-IN" dirty="0"/>
              <a:t>Timing diagram for a typical burst read of length 4</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763" y="2228850"/>
            <a:ext cx="6848475" cy="440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1959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Memories-27</a:t>
            </a:r>
            <a:br>
              <a:rPr lang="en-IN" b="1" dirty="0"/>
            </a:br>
            <a:r>
              <a:rPr lang="en-IN" b="1" dirty="0"/>
              <a:t>Synchronous DRAMs(SDRAM)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36</a:t>
            </a:fld>
            <a:endParaRPr lang="en-US"/>
          </a:p>
        </p:txBody>
      </p:sp>
      <p:sp>
        <p:nvSpPr>
          <p:cNvPr id="4" name="Content Placeholder 3"/>
          <p:cNvSpPr>
            <a:spLocks noGrp="1"/>
          </p:cNvSpPr>
          <p:nvPr>
            <p:ph sz="quarter" idx="1"/>
          </p:nvPr>
        </p:nvSpPr>
        <p:spPr/>
        <p:txBody>
          <a:bodyPr>
            <a:normAutofit fontScale="92500" lnSpcReduction="10000"/>
          </a:bodyPr>
          <a:lstStyle/>
          <a:p>
            <a:pPr algn="just"/>
            <a:r>
              <a:rPr lang="en-IN" dirty="0"/>
              <a:t>First, the row address is latched under control of the RAS signal. The memory typically takes 2 or 3 clock cycles (we use 2 in the figure for simplicity) to activate the selected row. Then, the column address is latched under control of the CAS signal. </a:t>
            </a:r>
          </a:p>
          <a:p>
            <a:pPr algn="just"/>
            <a:r>
              <a:rPr lang="en-IN" dirty="0"/>
              <a:t>After a delay of one clock cycle, the first set of data bits is placed on the data lines. </a:t>
            </a:r>
          </a:p>
          <a:p>
            <a:pPr algn="just"/>
            <a:r>
              <a:rPr lang="en-IN" dirty="0"/>
              <a:t>The SDRAM automatically increments the column address to access the next three sets of bits in the selected row, which are placed on the data lines in the next 3 clock cycles.</a:t>
            </a:r>
          </a:p>
        </p:txBody>
      </p:sp>
    </p:spTree>
    <p:extLst>
      <p:ext uri="{BB962C8B-B14F-4D97-AF65-F5344CB8AC3E}">
        <p14:creationId xmlns:p14="http://schemas.microsoft.com/office/powerpoint/2010/main" val="3353739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Memories-28</a:t>
            </a:r>
            <a:br>
              <a:rPr lang="en-IN" b="1" dirty="0"/>
            </a:br>
            <a:r>
              <a:rPr lang="en-IN" b="1" dirty="0"/>
              <a:t>Synchronous DRAMs(SDRAM)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37</a:t>
            </a:fld>
            <a:endParaRPr lang="en-US"/>
          </a:p>
        </p:txBody>
      </p:sp>
      <p:sp>
        <p:nvSpPr>
          <p:cNvPr id="4" name="Content Placeholder 3"/>
          <p:cNvSpPr>
            <a:spLocks noGrp="1"/>
          </p:cNvSpPr>
          <p:nvPr>
            <p:ph sz="quarter" idx="1"/>
          </p:nvPr>
        </p:nvSpPr>
        <p:spPr/>
        <p:txBody>
          <a:bodyPr/>
          <a:lstStyle/>
          <a:p>
            <a:pPr algn="just"/>
            <a:r>
              <a:rPr lang="en-IN" dirty="0"/>
              <a:t>Synchronous DRAM scan deliver data at a very high rate, because all the control signals needed are generated inside the chip. </a:t>
            </a:r>
          </a:p>
          <a:p>
            <a:pPr algn="just"/>
            <a:r>
              <a:rPr lang="en-IN" dirty="0"/>
              <a:t>The initial commercial SDRAMs designed for clock speeds of up to 133 </a:t>
            </a:r>
            <a:r>
              <a:rPr lang="en-IN" dirty="0" err="1"/>
              <a:t>MHz.</a:t>
            </a:r>
            <a:r>
              <a:rPr lang="en-IN" dirty="0"/>
              <a:t> </a:t>
            </a:r>
          </a:p>
          <a:p>
            <a:pPr algn="just"/>
            <a:r>
              <a:rPr lang="en-IN" dirty="0"/>
              <a:t>As technology evolved, much faster SDRAM chips were developed. Today’s SDRAMs operate with clock speeds that can exceed 1 GHz.</a:t>
            </a:r>
          </a:p>
        </p:txBody>
      </p:sp>
    </p:spTree>
    <p:extLst>
      <p:ext uri="{BB962C8B-B14F-4D97-AF65-F5344CB8AC3E}">
        <p14:creationId xmlns:p14="http://schemas.microsoft.com/office/powerpoint/2010/main" val="16844662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Memories-28</a:t>
            </a:r>
            <a:br>
              <a:rPr lang="en-IN" b="1" dirty="0"/>
            </a:br>
            <a:r>
              <a:rPr lang="en-IN" b="1" dirty="0"/>
              <a:t>Synchronous DRAMs(SDRAM)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38</a:t>
            </a:fld>
            <a:endParaRPr lang="en-US"/>
          </a:p>
        </p:txBody>
      </p:sp>
      <p:sp>
        <p:nvSpPr>
          <p:cNvPr id="4" name="Content Placeholder 3"/>
          <p:cNvSpPr>
            <a:spLocks noGrp="1"/>
          </p:cNvSpPr>
          <p:nvPr>
            <p:ph sz="quarter" idx="1"/>
          </p:nvPr>
        </p:nvSpPr>
        <p:spPr/>
        <p:txBody>
          <a:bodyPr>
            <a:normAutofit fontScale="70000" lnSpcReduction="20000"/>
          </a:bodyPr>
          <a:lstStyle/>
          <a:p>
            <a:r>
              <a:rPr lang="en-IN" b="1" dirty="0"/>
              <a:t>Latency and Bandwidth</a:t>
            </a:r>
          </a:p>
          <a:p>
            <a:pPr algn="just"/>
            <a:r>
              <a:rPr lang="en-IN" dirty="0"/>
              <a:t>Data transfers to and from the main memory often involve blocks of data. </a:t>
            </a:r>
          </a:p>
          <a:p>
            <a:pPr algn="just"/>
            <a:r>
              <a:rPr lang="en-IN" b="1" dirty="0"/>
              <a:t>The memory access time defined earlier is not sufficient for describing the memory’s performance when transferring blocks of data</a:t>
            </a:r>
            <a:r>
              <a:rPr lang="en-IN" dirty="0"/>
              <a:t>. During block transfers, </a:t>
            </a:r>
            <a:r>
              <a:rPr lang="en-IN" b="1" i="1" dirty="0"/>
              <a:t>memory latency </a:t>
            </a:r>
            <a:r>
              <a:rPr lang="en-IN" dirty="0"/>
              <a:t>is the amount of time it takes to transfer the first word of a block. </a:t>
            </a:r>
          </a:p>
          <a:p>
            <a:pPr algn="just"/>
            <a:r>
              <a:rPr lang="en-IN" dirty="0"/>
              <a:t>The time required to transfer a complete block depends also on the rate at which successive words can be transferred and on the size of the block. </a:t>
            </a:r>
            <a:r>
              <a:rPr lang="en-IN" b="1" dirty="0"/>
              <a:t>The time between successive words of a block is much shorter than the time needed to transfer the first word.</a:t>
            </a:r>
            <a:r>
              <a:rPr lang="en-IN" dirty="0"/>
              <a:t> </a:t>
            </a:r>
          </a:p>
          <a:p>
            <a:pPr algn="just"/>
            <a:r>
              <a:rPr lang="en-IN" dirty="0"/>
              <a:t>For instance, as in the timing diagram, the access cycle begins with the assertion of the RAS signal. The first word of data is transferred five clock cycles later. Thus, the latency is five clock cycles. If the clock rate is 500 MHz, then the latency is 10 ns. </a:t>
            </a:r>
          </a:p>
          <a:p>
            <a:pPr algn="just"/>
            <a:r>
              <a:rPr lang="en-IN" dirty="0"/>
              <a:t>The remaining three words are transferred in consecutive clock cycles, at the rate of one word every 2 ns.</a:t>
            </a:r>
          </a:p>
        </p:txBody>
      </p:sp>
    </p:spTree>
    <p:extLst>
      <p:ext uri="{BB962C8B-B14F-4D97-AF65-F5344CB8AC3E}">
        <p14:creationId xmlns:p14="http://schemas.microsoft.com/office/powerpoint/2010/main" val="3043009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Memories-29</a:t>
            </a:r>
            <a:br>
              <a:rPr lang="en-IN" b="1" dirty="0"/>
            </a:br>
            <a:r>
              <a:rPr lang="en-IN" b="1" dirty="0"/>
              <a:t>Synchronous DRAMs(SDRAM)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39</a:t>
            </a:fld>
            <a:endParaRPr lang="en-US"/>
          </a:p>
        </p:txBody>
      </p:sp>
      <p:sp>
        <p:nvSpPr>
          <p:cNvPr id="4" name="Content Placeholder 3"/>
          <p:cNvSpPr>
            <a:spLocks noGrp="1"/>
          </p:cNvSpPr>
          <p:nvPr>
            <p:ph sz="quarter" idx="1"/>
          </p:nvPr>
        </p:nvSpPr>
        <p:spPr/>
        <p:txBody>
          <a:bodyPr>
            <a:normAutofit fontScale="92500" lnSpcReduction="20000"/>
          </a:bodyPr>
          <a:lstStyle/>
          <a:p>
            <a:pPr algn="just"/>
            <a:r>
              <a:rPr lang="en-IN" b="1" dirty="0"/>
              <a:t>A useful performance measure is the number of bits or bytes that can be transferred in one second. This measure is referred as the memory </a:t>
            </a:r>
            <a:r>
              <a:rPr lang="en-IN" b="1" i="1" dirty="0"/>
              <a:t>bandwidth</a:t>
            </a:r>
            <a:r>
              <a:rPr lang="en-IN" b="1" dirty="0"/>
              <a:t>.</a:t>
            </a:r>
          </a:p>
          <a:p>
            <a:pPr algn="just"/>
            <a:r>
              <a:rPr lang="en-IN" dirty="0"/>
              <a:t>It depends on the speed of access to the stored data and on the number of bits that can be accessed in parallel. </a:t>
            </a:r>
          </a:p>
          <a:p>
            <a:pPr algn="just"/>
            <a:r>
              <a:rPr lang="en-IN" dirty="0"/>
              <a:t>The rate at which data can be transferred to or from the memory depends on the bandwidth of the system interconnections.</a:t>
            </a:r>
          </a:p>
          <a:p>
            <a:pPr algn="just"/>
            <a:r>
              <a:rPr lang="en-IN" dirty="0"/>
              <a:t>For this reason, the interconnections used always ensure that the </a:t>
            </a:r>
            <a:r>
              <a:rPr lang="en-IN" b="1" dirty="0"/>
              <a:t>bandwidth available for data transfers between the processor and the memory is very high</a:t>
            </a:r>
            <a:r>
              <a:rPr lang="en-IN" dirty="0"/>
              <a:t>.</a:t>
            </a:r>
          </a:p>
        </p:txBody>
      </p:sp>
    </p:spTree>
    <p:extLst>
      <p:ext uri="{BB962C8B-B14F-4D97-AF65-F5344CB8AC3E}">
        <p14:creationId xmlns:p14="http://schemas.microsoft.com/office/powerpoint/2010/main" val="27928756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Memories-30</a:t>
            </a:r>
            <a:br>
              <a:rPr lang="en-IN" b="1" dirty="0"/>
            </a:br>
            <a:r>
              <a:rPr lang="en-IN" b="1" dirty="0"/>
              <a:t>Synchronous DRAMs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40</a:t>
            </a:fld>
            <a:endParaRPr lang="en-US"/>
          </a:p>
        </p:txBody>
      </p:sp>
      <p:sp>
        <p:nvSpPr>
          <p:cNvPr id="4" name="Content Placeholder 3"/>
          <p:cNvSpPr>
            <a:spLocks noGrp="1"/>
          </p:cNvSpPr>
          <p:nvPr>
            <p:ph sz="quarter" idx="1"/>
          </p:nvPr>
        </p:nvSpPr>
        <p:spPr/>
        <p:txBody>
          <a:bodyPr>
            <a:normAutofit/>
          </a:bodyPr>
          <a:lstStyle/>
          <a:p>
            <a:r>
              <a:rPr lang="en-IN" b="1" dirty="0"/>
              <a:t>Double-Data-Rate SDRAM (DDR-RAM)</a:t>
            </a:r>
          </a:p>
          <a:p>
            <a:pPr algn="just"/>
            <a:r>
              <a:rPr lang="en-IN" dirty="0"/>
              <a:t>The key idea is to take advantage of the fact that a large number of bits are accessed at the same time inside the chip when a row address is applied. </a:t>
            </a:r>
          </a:p>
          <a:p>
            <a:pPr algn="just"/>
            <a:r>
              <a:rPr lang="en-IN" b="1" dirty="0"/>
              <a:t>To make the best use of the available clock speed, data are transferred externally on both the rising and falling edges of the clock. </a:t>
            </a:r>
          </a:p>
          <a:p>
            <a:pPr algn="just"/>
            <a:r>
              <a:rPr lang="en-IN" dirty="0"/>
              <a:t>For this reason, memories that use this technique are called </a:t>
            </a:r>
            <a:r>
              <a:rPr lang="en-IN" i="1" dirty="0"/>
              <a:t>double-data-rate SDRAMs </a:t>
            </a:r>
            <a:r>
              <a:rPr lang="en-IN" dirty="0"/>
              <a:t>(DDR SDRAMs).</a:t>
            </a:r>
          </a:p>
        </p:txBody>
      </p:sp>
    </p:spTree>
    <p:extLst>
      <p:ext uri="{BB962C8B-B14F-4D97-AF65-F5344CB8AC3E}">
        <p14:creationId xmlns:p14="http://schemas.microsoft.com/office/powerpoint/2010/main" val="20347897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Memories-31</a:t>
            </a:r>
            <a:br>
              <a:rPr lang="en-IN" b="1" dirty="0"/>
            </a:br>
            <a:r>
              <a:rPr lang="en-IN" b="1" dirty="0"/>
              <a:t>Synchronous DRAMs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41</a:t>
            </a:fld>
            <a:endParaRPr lang="en-US"/>
          </a:p>
        </p:txBody>
      </p:sp>
      <p:sp>
        <p:nvSpPr>
          <p:cNvPr id="4" name="Content Placeholder 3"/>
          <p:cNvSpPr>
            <a:spLocks noGrp="1"/>
          </p:cNvSpPr>
          <p:nvPr>
            <p:ph sz="quarter" idx="1"/>
          </p:nvPr>
        </p:nvSpPr>
        <p:spPr/>
        <p:txBody>
          <a:bodyPr>
            <a:normAutofit lnSpcReduction="10000"/>
          </a:bodyPr>
          <a:lstStyle/>
          <a:p>
            <a:pPr algn="just"/>
            <a:r>
              <a:rPr lang="en-IN" dirty="0"/>
              <a:t>Several versions of DDR chips have been developed. The earliest version is known as DDR. Later versions, called DDR2, DDR3, and DDR4, have enhanced capabilities. </a:t>
            </a:r>
          </a:p>
          <a:p>
            <a:pPr algn="just"/>
            <a:r>
              <a:rPr lang="en-IN" dirty="0"/>
              <a:t>They offer increased storage capacity, lower power, and faster clock speeds. </a:t>
            </a:r>
          </a:p>
          <a:p>
            <a:pPr algn="just"/>
            <a:r>
              <a:rPr lang="en-IN" dirty="0"/>
              <a:t>For example, DDR2 and DDR3 can operate at clock frequencies of 400 and 800 MHz, respectively. Therefore, they transfer data using the effective clock speeds of 800 and 1600 MHz, respectively.</a:t>
            </a:r>
          </a:p>
        </p:txBody>
      </p:sp>
    </p:spTree>
    <p:extLst>
      <p:ext uri="{BB962C8B-B14F-4D97-AF65-F5344CB8AC3E}">
        <p14:creationId xmlns:p14="http://schemas.microsoft.com/office/powerpoint/2010/main" val="1820856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Memories-32</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42</a:t>
            </a:fld>
            <a:endParaRPr lang="en-US"/>
          </a:p>
        </p:txBody>
      </p:sp>
      <p:sp>
        <p:nvSpPr>
          <p:cNvPr id="4" name="Content Placeholder 3"/>
          <p:cNvSpPr>
            <a:spLocks noGrp="1"/>
          </p:cNvSpPr>
          <p:nvPr>
            <p:ph sz="quarter" idx="1"/>
          </p:nvPr>
        </p:nvSpPr>
        <p:spPr/>
        <p:txBody>
          <a:bodyPr/>
          <a:lstStyle/>
          <a:p>
            <a:pPr algn="just"/>
            <a:r>
              <a:rPr lang="en-IN" dirty="0"/>
              <a:t>The basic organization of memory circuits as they may be implemented on </a:t>
            </a:r>
            <a:r>
              <a:rPr lang="en-IN" b="1" dirty="0"/>
              <a:t>a single chip</a:t>
            </a:r>
            <a:r>
              <a:rPr lang="en-IN" dirty="0"/>
              <a:t>. Now examine how memory chips may be connected to form a much larger memory.</a:t>
            </a:r>
          </a:p>
        </p:txBody>
      </p:sp>
    </p:spTree>
    <p:extLst>
      <p:ext uri="{BB962C8B-B14F-4D97-AF65-F5344CB8AC3E}">
        <p14:creationId xmlns:p14="http://schemas.microsoft.com/office/powerpoint/2010/main" val="2788179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Memories-33</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43</a:t>
            </a:fld>
            <a:endParaRPr lang="en-US"/>
          </a:p>
        </p:txBody>
      </p:sp>
      <p:sp>
        <p:nvSpPr>
          <p:cNvPr id="4" name="Content Placeholder 3"/>
          <p:cNvSpPr>
            <a:spLocks noGrp="1"/>
          </p:cNvSpPr>
          <p:nvPr>
            <p:ph sz="quarter" idx="1"/>
          </p:nvPr>
        </p:nvSpPr>
        <p:spPr/>
        <p:txBody>
          <a:bodyPr>
            <a:normAutofit lnSpcReduction="10000"/>
          </a:bodyPr>
          <a:lstStyle/>
          <a:p>
            <a:r>
              <a:rPr lang="en-IN" b="1" dirty="0"/>
              <a:t>Static Memory Systems</a:t>
            </a:r>
          </a:p>
          <a:p>
            <a:pPr algn="just"/>
            <a:r>
              <a:rPr lang="en-IN" dirty="0"/>
              <a:t>Consider a memory consisting of 2M words of 32 bits each. Shown in next slide, how this memory can be implemented using 512K × 8 static memory chips. </a:t>
            </a:r>
          </a:p>
          <a:p>
            <a:pPr algn="just"/>
            <a:r>
              <a:rPr lang="en-IN" dirty="0"/>
              <a:t>Each column in the figure implements one byte position in a word, with four chips providing 2M bytes. </a:t>
            </a:r>
          </a:p>
          <a:p>
            <a:pPr algn="just"/>
            <a:r>
              <a:rPr lang="en-IN" dirty="0"/>
              <a:t>Four columns implement the required 2M × 32 memory. </a:t>
            </a:r>
          </a:p>
        </p:txBody>
      </p:sp>
    </p:spTree>
    <p:extLst>
      <p:ext uri="{BB962C8B-B14F-4D97-AF65-F5344CB8AC3E}">
        <p14:creationId xmlns:p14="http://schemas.microsoft.com/office/powerpoint/2010/main" val="30692908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Memories-34</a:t>
            </a:r>
            <a:br>
              <a:rPr lang="en-IN" b="1" dirty="0"/>
            </a:br>
            <a:r>
              <a:rPr lang="en-IN" b="1" dirty="0"/>
              <a:t>Structure of Larger Memories</a:t>
            </a:r>
            <a:endParaRPr lang="en-IN" dirty="0"/>
          </a:p>
        </p:txBody>
      </p:sp>
      <p:sp>
        <p:nvSpPr>
          <p:cNvPr id="6" name="Content Placeholder 5"/>
          <p:cNvSpPr>
            <a:spLocks noGrp="1"/>
          </p:cNvSpPr>
          <p:nvPr>
            <p:ph sz="quarter" idx="2"/>
          </p:nvPr>
        </p:nvSpPr>
        <p:spPr/>
        <p:txBody>
          <a:bodyPr/>
          <a:lstStyle/>
          <a:p>
            <a:pPr algn="just"/>
            <a:r>
              <a:rPr lang="en-IN" dirty="0"/>
              <a:t>Each chip has a control input called Chip-select. When this input is set to 1, it enables the chip to accept data from or to place data on its data lines.</a:t>
            </a:r>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44</a:t>
            </a:fld>
            <a:endParaRPr lang="en-US"/>
          </a:p>
        </p:txBody>
      </p:sp>
      <p:pic>
        <p:nvPicPr>
          <p:cNvPr id="7"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800100" y="2817813"/>
            <a:ext cx="3505200" cy="2114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8918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Memories-35</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45</a:t>
            </a:fld>
            <a:endParaRPr lang="en-US"/>
          </a:p>
        </p:txBody>
      </p:sp>
      <p:sp>
        <p:nvSpPr>
          <p:cNvPr id="4" name="Content Placeholder 3"/>
          <p:cNvSpPr>
            <a:spLocks noGrp="1"/>
          </p:cNvSpPr>
          <p:nvPr>
            <p:ph sz="quarter" idx="1"/>
          </p:nvPr>
        </p:nvSpPr>
        <p:spPr/>
        <p:txBody>
          <a:bodyPr/>
          <a:lstStyle/>
          <a:p>
            <a:pPr algn="just"/>
            <a:r>
              <a:rPr lang="en-IN" dirty="0"/>
              <a:t>Organization of a 2M × 32 memory module using 512K × 8 static memory chips.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514600"/>
            <a:ext cx="84582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49783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Memories-36</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46</a:t>
            </a:fld>
            <a:endParaRPr lang="en-US"/>
          </a:p>
        </p:txBody>
      </p:sp>
      <p:sp>
        <p:nvSpPr>
          <p:cNvPr id="4" name="Content Placeholder 3"/>
          <p:cNvSpPr>
            <a:spLocks noGrp="1"/>
          </p:cNvSpPr>
          <p:nvPr>
            <p:ph sz="quarter" idx="1"/>
          </p:nvPr>
        </p:nvSpPr>
        <p:spPr/>
        <p:txBody>
          <a:bodyPr>
            <a:normAutofit fontScale="85000" lnSpcReduction="10000"/>
          </a:bodyPr>
          <a:lstStyle/>
          <a:p>
            <a:pPr algn="just"/>
            <a:r>
              <a:rPr lang="en-IN" dirty="0"/>
              <a:t>Only the selected chip places data on the data output line, while all other outputs are electrically disconnected from the data lines. </a:t>
            </a:r>
          </a:p>
          <a:p>
            <a:pPr algn="just"/>
            <a:r>
              <a:rPr lang="en-IN" dirty="0"/>
              <a:t>21 address bits are needed to select a 32-bit word in this memory. </a:t>
            </a:r>
          </a:p>
          <a:p>
            <a:pPr algn="just"/>
            <a:r>
              <a:rPr lang="en-IN" dirty="0"/>
              <a:t>The high-order two bits of the address are decoded to determine which of the four rows should be selected. </a:t>
            </a:r>
          </a:p>
          <a:p>
            <a:pPr algn="just"/>
            <a:r>
              <a:rPr lang="en-IN" dirty="0"/>
              <a:t>The remaining 19 address bits are used to access specific byte locations inside each chip in the selected row. </a:t>
            </a:r>
          </a:p>
          <a:p>
            <a:pPr algn="just"/>
            <a:r>
              <a:rPr lang="en-IN" dirty="0"/>
              <a:t>The R/W inputs of all chips are tied together to provide a common Read/Write control line (not shown in the figure).</a:t>
            </a:r>
          </a:p>
        </p:txBody>
      </p:sp>
    </p:spTree>
    <p:extLst>
      <p:ext uri="{BB962C8B-B14F-4D97-AF65-F5344CB8AC3E}">
        <p14:creationId xmlns:p14="http://schemas.microsoft.com/office/powerpoint/2010/main" val="810314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Memories-37</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47</a:t>
            </a:fld>
            <a:endParaRPr lang="en-US"/>
          </a:p>
        </p:txBody>
      </p:sp>
      <p:sp>
        <p:nvSpPr>
          <p:cNvPr id="4" name="Content Placeholder 3"/>
          <p:cNvSpPr>
            <a:spLocks noGrp="1"/>
          </p:cNvSpPr>
          <p:nvPr>
            <p:ph sz="quarter" idx="1"/>
          </p:nvPr>
        </p:nvSpPr>
        <p:spPr/>
        <p:txBody>
          <a:bodyPr>
            <a:normAutofit lnSpcReduction="10000"/>
          </a:bodyPr>
          <a:lstStyle/>
          <a:p>
            <a:pPr algn="just"/>
            <a:r>
              <a:rPr lang="en-IN" b="1" dirty="0"/>
              <a:t>Dynamic Memory Systems</a:t>
            </a:r>
          </a:p>
          <a:p>
            <a:pPr algn="just"/>
            <a:r>
              <a:rPr lang="en-IN" dirty="0"/>
              <a:t>Modern computers use very large memories. Even a small personal computer is likely to have at least 1G bytes of memory. Typical desktop computers may have 4G bytes or more of memory. </a:t>
            </a:r>
          </a:p>
          <a:p>
            <a:pPr algn="just"/>
            <a:r>
              <a:rPr lang="en-IN" dirty="0"/>
              <a:t>A large memory leads to better performance, because more of the programs and data used in processing can be held in the memory, </a:t>
            </a:r>
            <a:r>
              <a:rPr lang="en-IN" b="1" dirty="0"/>
              <a:t>thus reducing the frequency of access to secondary storage</a:t>
            </a:r>
            <a:r>
              <a:rPr lang="en-IN" dirty="0"/>
              <a:t>.</a:t>
            </a:r>
          </a:p>
        </p:txBody>
      </p:sp>
    </p:spTree>
    <p:extLst>
      <p:ext uri="{BB962C8B-B14F-4D97-AF65-F5344CB8AC3E}">
        <p14:creationId xmlns:p14="http://schemas.microsoft.com/office/powerpoint/2010/main" val="17807255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Memories-38</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48</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dirty="0"/>
              <a:t>Because of their high bit density and low cost, dynamic RAMs, mostly of the synchronous type, are widely used in the memory units of computers. </a:t>
            </a:r>
          </a:p>
          <a:p>
            <a:pPr algn="just"/>
            <a:r>
              <a:rPr lang="en-IN" dirty="0"/>
              <a:t>They are slower than static RAMs, but they use less power and have considerably lower cost per bit. </a:t>
            </a:r>
          </a:p>
          <a:p>
            <a:pPr algn="just"/>
            <a:r>
              <a:rPr lang="en-IN" dirty="0"/>
              <a:t>Available chips have capacities as high as 2G bits, and even larger chips are being developed. To reduce the number of memory chips needed in a given computer, a memory chip may be organized to read or write a number of bits in parallel. </a:t>
            </a:r>
          </a:p>
          <a:p>
            <a:pPr algn="just"/>
            <a:r>
              <a:rPr lang="en-IN" dirty="0"/>
              <a:t>Chips are manufactured in different organizations, to provide flexibility in designing memory systems. For example, a 1-Gbit chip may be organized as 256M × 4, or 128M × 8.</a:t>
            </a:r>
          </a:p>
        </p:txBody>
      </p:sp>
    </p:spTree>
    <p:extLst>
      <p:ext uri="{BB962C8B-B14F-4D97-AF65-F5344CB8AC3E}">
        <p14:creationId xmlns:p14="http://schemas.microsoft.com/office/powerpoint/2010/main" val="18317329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Memories-39</a:t>
            </a:r>
            <a:br>
              <a:rPr lang="en-IN" b="1" dirty="0"/>
            </a:br>
            <a:r>
              <a:rPr lang="en-IN" b="1" dirty="0"/>
              <a:t>Structure of Larger Memories</a:t>
            </a:r>
            <a:endParaRPr lang="en-IN" dirty="0"/>
          </a:p>
        </p:txBody>
      </p:sp>
      <p:sp>
        <p:nvSpPr>
          <p:cNvPr id="4" name="Content Placeholder 3"/>
          <p:cNvSpPr>
            <a:spLocks noGrp="1"/>
          </p:cNvSpPr>
          <p:nvPr>
            <p:ph sz="quarter" idx="1"/>
          </p:nvPr>
        </p:nvSpPr>
        <p:spPr/>
        <p:txBody>
          <a:bodyPr>
            <a:normAutofit fontScale="55000" lnSpcReduction="20000"/>
          </a:bodyPr>
          <a:lstStyle/>
          <a:p>
            <a:pPr algn="just"/>
            <a:r>
              <a:rPr lang="en-IN" b="1" dirty="0"/>
              <a:t>Packaging considerations have led to the development of assemblies known as memory modules</a:t>
            </a:r>
            <a:r>
              <a:rPr lang="en-IN" dirty="0"/>
              <a:t>. Each such module houses many memory chips, typically in the range 16 to 32, on a small board that plugs into a socket on the computer’s motherboard. </a:t>
            </a:r>
          </a:p>
          <a:p>
            <a:pPr algn="just"/>
            <a:r>
              <a:rPr lang="en-IN" b="1" dirty="0"/>
              <a:t>Memory modules are commonly called </a:t>
            </a:r>
            <a:r>
              <a:rPr lang="en-IN" b="1" i="1" dirty="0"/>
              <a:t>SIMM</a:t>
            </a:r>
            <a:r>
              <a:rPr lang="en-IN" b="1" dirty="0"/>
              <a:t>s (Single In-line Memory Modules) or </a:t>
            </a:r>
            <a:r>
              <a:rPr lang="en-IN" b="1" i="1" dirty="0"/>
              <a:t>DIMM</a:t>
            </a:r>
            <a:r>
              <a:rPr lang="en-IN" b="1" dirty="0"/>
              <a:t>s (Dual In-line Memory Modules), depending on the configuration of the pins. </a:t>
            </a:r>
          </a:p>
          <a:p>
            <a:pPr algn="just"/>
            <a:r>
              <a:rPr lang="en-IN" dirty="0"/>
              <a:t>Modules of different sizes are designed to use the same socket. </a:t>
            </a:r>
          </a:p>
          <a:p>
            <a:pPr algn="just"/>
            <a:r>
              <a:rPr lang="en-IN" dirty="0"/>
              <a:t>For example, 128M × 64, 256M × 64, and 512M × 64 bit DIMMs all use the same 240-pin socket. </a:t>
            </a:r>
          </a:p>
          <a:p>
            <a:pPr algn="just"/>
            <a:r>
              <a:rPr lang="en-IN" dirty="0"/>
              <a:t>Thus, total memory capacity is easily expanded by replacing a smaller module with a larger one, using the same socket.</a:t>
            </a:r>
          </a:p>
        </p:txBody>
      </p:sp>
      <p:sp>
        <p:nvSpPr>
          <p:cNvPr id="5" name="Content Placeholder 4"/>
          <p:cNvSpPr>
            <a:spLocks noGrp="1"/>
          </p:cNvSpPr>
          <p:nvPr>
            <p:ph sz="quarter" idx="2"/>
          </p:nvPr>
        </p:nvSpPr>
        <p:spPr/>
        <p:txBody>
          <a:bodyPr>
            <a:normAutofit fontScale="55000" lnSpcReduction="20000"/>
          </a:bodyPr>
          <a:lstStyle/>
          <a:p>
            <a:endParaRPr lang="en-IN"/>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49</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600200"/>
            <a:ext cx="3810000"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5410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Memories-39</a:t>
            </a:r>
            <a:br>
              <a:rPr lang="en-IN" b="1" dirty="0"/>
            </a:br>
            <a:r>
              <a:rPr lang="en-IN" b="1" dirty="0"/>
              <a:t>Structure of Larger Memories</a:t>
            </a:r>
            <a:endParaRPr lang="en-IN" dirty="0"/>
          </a:p>
        </p:txBody>
      </p:sp>
      <p:sp>
        <p:nvSpPr>
          <p:cNvPr id="4" name="Content Placeholder 3"/>
          <p:cNvSpPr>
            <a:spLocks noGrp="1"/>
          </p:cNvSpPr>
          <p:nvPr>
            <p:ph sz="quarter" idx="1"/>
          </p:nvPr>
        </p:nvSpPr>
        <p:spPr/>
        <p:txBody>
          <a:bodyPr>
            <a:normAutofit fontScale="55000" lnSpcReduction="20000"/>
          </a:bodyPr>
          <a:lstStyle/>
          <a:p>
            <a:pPr algn="just"/>
            <a:r>
              <a:rPr lang="en-IN" b="1" dirty="0"/>
              <a:t>Packaging considerations have led to the development of assemblies known as memory modules</a:t>
            </a:r>
            <a:r>
              <a:rPr lang="en-IN" dirty="0"/>
              <a:t>. Each such module houses many memory chips, typically in the range 16 to 32, on a small board that plugs into a socket on the computer’s motherboard. </a:t>
            </a:r>
          </a:p>
          <a:p>
            <a:pPr algn="just"/>
            <a:r>
              <a:rPr lang="en-IN" b="1" dirty="0"/>
              <a:t>Memory modules are commonly called </a:t>
            </a:r>
            <a:r>
              <a:rPr lang="en-IN" b="1" i="1" dirty="0"/>
              <a:t>SIMM</a:t>
            </a:r>
            <a:r>
              <a:rPr lang="en-IN" b="1" dirty="0"/>
              <a:t>s (Single In-line Memory Modules) or </a:t>
            </a:r>
            <a:r>
              <a:rPr lang="en-IN" b="1" i="1" dirty="0"/>
              <a:t>DIMM</a:t>
            </a:r>
            <a:r>
              <a:rPr lang="en-IN" b="1" dirty="0"/>
              <a:t>s (Dual In-line Memory Modules), depending on the configuration of the pins. </a:t>
            </a:r>
          </a:p>
          <a:p>
            <a:pPr algn="just"/>
            <a:r>
              <a:rPr lang="en-IN" dirty="0"/>
              <a:t>Modules of different sizes are designed to use the same socket. </a:t>
            </a:r>
          </a:p>
          <a:p>
            <a:pPr algn="just"/>
            <a:r>
              <a:rPr lang="en-IN" dirty="0"/>
              <a:t>For example, 128M × 64, 256M × 64, and 512M × 64 bit DIMMs all use the same 240-pin socket. </a:t>
            </a:r>
          </a:p>
          <a:p>
            <a:pPr algn="just"/>
            <a:r>
              <a:rPr lang="en-IN" dirty="0"/>
              <a:t>Thus, total memory capacity is easily expanded by replacing a smaller module with a larger one, using the same socket.</a:t>
            </a:r>
          </a:p>
        </p:txBody>
      </p:sp>
      <p:sp>
        <p:nvSpPr>
          <p:cNvPr id="5" name="Content Placeholder 4"/>
          <p:cNvSpPr>
            <a:spLocks noGrp="1"/>
          </p:cNvSpPr>
          <p:nvPr>
            <p:ph sz="quarter" idx="2"/>
          </p:nvPr>
        </p:nvSpPr>
        <p:spPr/>
        <p:txBody>
          <a:bodyPr>
            <a:normAutofit fontScale="55000" lnSpcReduction="20000"/>
          </a:bodyPr>
          <a:lstStyle/>
          <a:p>
            <a:endParaRPr lang="en-IN"/>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50</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600200"/>
            <a:ext cx="3810000"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2463" y="1524000"/>
            <a:ext cx="3930537" cy="4908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8413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Memories-40</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51</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b="1" dirty="0"/>
              <a:t>Memory Controller</a:t>
            </a:r>
          </a:p>
          <a:p>
            <a:pPr algn="just"/>
            <a:r>
              <a:rPr lang="en-IN" dirty="0"/>
              <a:t>The address applied to dynamic RAM chips is divided into two parts , i.e. the high-order address bits, which select a row in the cell array by activating the RAS signal. Then, the low-order address bits, which select a column, are provided on the same address pins and latched under control of the CAS signal. </a:t>
            </a:r>
          </a:p>
          <a:p>
            <a:pPr algn="just"/>
            <a:r>
              <a:rPr lang="en-IN" dirty="0"/>
              <a:t>Since a typical processor issues all bits of an address at the same time, a multiplexer is required. This function is usually performed by a </a:t>
            </a:r>
            <a:r>
              <a:rPr lang="en-IN" i="1" dirty="0"/>
              <a:t>memory controller </a:t>
            </a:r>
            <a:r>
              <a:rPr lang="en-IN" dirty="0"/>
              <a:t>circuit. </a:t>
            </a:r>
          </a:p>
          <a:p>
            <a:pPr algn="just"/>
            <a:r>
              <a:rPr lang="en-IN" dirty="0"/>
              <a:t>The controller accepts a complete address and the R/W signal from the processor, under control of a </a:t>
            </a:r>
            <a:r>
              <a:rPr lang="en-IN" i="1" dirty="0"/>
              <a:t>Request </a:t>
            </a:r>
            <a:r>
              <a:rPr lang="en-IN" dirty="0"/>
              <a:t>signal which indicates that a memory access operation is needed. </a:t>
            </a:r>
          </a:p>
          <a:p>
            <a:pPr algn="just"/>
            <a:r>
              <a:rPr lang="en-IN" dirty="0"/>
              <a:t>It forwards the R/W signals and the row and column portions of the address to the memory and generates the RAS and CAS signals, with the appropriate timing.</a:t>
            </a:r>
          </a:p>
        </p:txBody>
      </p:sp>
    </p:spTree>
    <p:extLst>
      <p:ext uri="{BB962C8B-B14F-4D97-AF65-F5344CB8AC3E}">
        <p14:creationId xmlns:p14="http://schemas.microsoft.com/office/powerpoint/2010/main" val="5743815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Memories-41</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52</a:t>
            </a:fld>
            <a:endParaRPr lang="en-US"/>
          </a:p>
        </p:txBody>
      </p:sp>
      <p:sp>
        <p:nvSpPr>
          <p:cNvPr id="4" name="Content Placeholder 3"/>
          <p:cNvSpPr>
            <a:spLocks noGrp="1"/>
          </p:cNvSpPr>
          <p:nvPr>
            <p:ph sz="quarter" idx="1"/>
          </p:nvPr>
        </p:nvSpPr>
        <p:spPr/>
        <p:txBody>
          <a:bodyPr/>
          <a:lstStyle/>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634" y="1890713"/>
            <a:ext cx="6894566" cy="3976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24561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Memories-42</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53</a:t>
            </a:fld>
            <a:endParaRPr lang="en-US"/>
          </a:p>
        </p:txBody>
      </p:sp>
      <p:sp>
        <p:nvSpPr>
          <p:cNvPr id="4" name="Content Placeholder 3"/>
          <p:cNvSpPr>
            <a:spLocks noGrp="1"/>
          </p:cNvSpPr>
          <p:nvPr>
            <p:ph sz="quarter" idx="1"/>
          </p:nvPr>
        </p:nvSpPr>
        <p:spPr/>
        <p:txBody>
          <a:bodyPr>
            <a:normAutofit/>
          </a:bodyPr>
          <a:lstStyle/>
          <a:p>
            <a:pPr algn="just"/>
            <a:r>
              <a:rPr lang="en-IN" b="1" dirty="0"/>
              <a:t>Memory Controller</a:t>
            </a:r>
          </a:p>
          <a:p>
            <a:pPr algn="just"/>
            <a:r>
              <a:rPr lang="en-IN" dirty="0"/>
              <a:t>When a memory includes multiple modules, one of these modules is selected based on the high-order bits of the address. </a:t>
            </a:r>
          </a:p>
          <a:p>
            <a:pPr algn="just"/>
            <a:r>
              <a:rPr lang="en-IN" dirty="0"/>
              <a:t>The memory controller decodes these high-order bits and generates the chip-select signal for the appropriate module. </a:t>
            </a:r>
          </a:p>
          <a:p>
            <a:pPr algn="just"/>
            <a:r>
              <a:rPr lang="en-IN" dirty="0"/>
              <a:t>Data lines are connected directly between the processor and the memory.</a:t>
            </a:r>
          </a:p>
        </p:txBody>
      </p:sp>
    </p:spTree>
    <p:extLst>
      <p:ext uri="{BB962C8B-B14F-4D97-AF65-F5344CB8AC3E}">
        <p14:creationId xmlns:p14="http://schemas.microsoft.com/office/powerpoint/2010/main" val="24776135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Memories-43</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54</a:t>
            </a:fld>
            <a:endParaRPr lang="en-US"/>
          </a:p>
        </p:txBody>
      </p:sp>
      <p:sp>
        <p:nvSpPr>
          <p:cNvPr id="4" name="Content Placeholder 3"/>
          <p:cNvSpPr>
            <a:spLocks noGrp="1"/>
          </p:cNvSpPr>
          <p:nvPr>
            <p:ph sz="quarter" idx="1"/>
          </p:nvPr>
        </p:nvSpPr>
        <p:spPr/>
        <p:txBody>
          <a:bodyPr>
            <a:normAutofit/>
          </a:bodyPr>
          <a:lstStyle/>
          <a:p>
            <a:pPr algn="just"/>
            <a:r>
              <a:rPr lang="en-IN" b="1" dirty="0"/>
              <a:t>Memory Controller</a:t>
            </a:r>
          </a:p>
          <a:p>
            <a:pPr algn="just"/>
            <a:r>
              <a:rPr lang="en-IN" dirty="0"/>
              <a:t>Dynamic RAMs must be refreshed periodically. The circuitry required to initiate refresh cycles is included as part of the internal control circuitry of synchronous DRAMs.</a:t>
            </a:r>
          </a:p>
          <a:p>
            <a:pPr algn="just"/>
            <a:r>
              <a:rPr lang="en-IN" dirty="0"/>
              <a:t>However, a control circuit external to the chip is needed to initiate periodic Read cycles to refresh the cells of an asynchronous DRAM.</a:t>
            </a:r>
          </a:p>
          <a:p>
            <a:pPr algn="just"/>
            <a:r>
              <a:rPr lang="en-IN" dirty="0"/>
              <a:t>The memory controller provides this capability.</a:t>
            </a:r>
            <a:endParaRPr lang="en-IN" b="1" dirty="0"/>
          </a:p>
        </p:txBody>
      </p:sp>
    </p:spTree>
    <p:extLst>
      <p:ext uri="{BB962C8B-B14F-4D97-AF65-F5344CB8AC3E}">
        <p14:creationId xmlns:p14="http://schemas.microsoft.com/office/powerpoint/2010/main" val="14740916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Memories-44</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55</a:t>
            </a:fld>
            <a:endParaRPr lang="en-US"/>
          </a:p>
        </p:txBody>
      </p:sp>
      <p:sp>
        <p:nvSpPr>
          <p:cNvPr id="4" name="Content Placeholder 3"/>
          <p:cNvSpPr>
            <a:spLocks noGrp="1"/>
          </p:cNvSpPr>
          <p:nvPr>
            <p:ph sz="quarter" idx="1"/>
          </p:nvPr>
        </p:nvSpPr>
        <p:spPr/>
        <p:txBody>
          <a:bodyPr>
            <a:normAutofit fontScale="77500" lnSpcReduction="20000"/>
          </a:bodyPr>
          <a:lstStyle/>
          <a:p>
            <a:r>
              <a:rPr lang="en-IN" b="1" dirty="0"/>
              <a:t>Refresh Overhead</a:t>
            </a:r>
          </a:p>
          <a:p>
            <a:pPr algn="just"/>
            <a:r>
              <a:rPr lang="en-IN" dirty="0"/>
              <a:t>A dynamic RAM cannot respond to read or write requests while an internal refresh operation is taking place. </a:t>
            </a:r>
          </a:p>
          <a:p>
            <a:pPr algn="just"/>
            <a:r>
              <a:rPr lang="en-IN" dirty="0"/>
              <a:t>Such requests are delayed until the refresh cycle is completed.</a:t>
            </a:r>
          </a:p>
          <a:p>
            <a:pPr algn="just"/>
            <a:r>
              <a:rPr lang="en-IN" dirty="0"/>
              <a:t>E.g. SDRAM of 8k (8192) rows, in which each all rows are refreshed in 64 </a:t>
            </a:r>
            <a:r>
              <a:rPr lang="en-IN" dirty="0" err="1"/>
              <a:t>ms</a:t>
            </a:r>
            <a:r>
              <a:rPr lang="en-IN" dirty="0"/>
              <a:t>, suppose it takes 4 cycles to access each row. So 8192 x 4 = 32768 cycles to refresh all rows.</a:t>
            </a:r>
          </a:p>
          <a:p>
            <a:pPr algn="just"/>
            <a:r>
              <a:rPr lang="en-IN" dirty="0"/>
              <a:t>At 133MHz clock rate the time needed to refresh all rows is 32786/(133x10</a:t>
            </a:r>
            <a:r>
              <a:rPr lang="en-IN" baseline="30000" dirty="0"/>
              <a:t>6</a:t>
            </a:r>
            <a:r>
              <a:rPr lang="en-IN" dirty="0"/>
              <a:t>)=246µs. Thus refreshing takes 0.246ms in each 64ms.</a:t>
            </a:r>
          </a:p>
          <a:p>
            <a:pPr algn="just"/>
            <a:r>
              <a:rPr lang="en-IN" dirty="0"/>
              <a:t>So refreshed overhead is 0.246/64= 0.0038 which is less than 0.4% of the total time available for accessing the memory.</a:t>
            </a:r>
          </a:p>
        </p:txBody>
      </p:sp>
    </p:spTree>
    <p:extLst>
      <p:ext uri="{BB962C8B-B14F-4D97-AF65-F5344CB8AC3E}">
        <p14:creationId xmlns:p14="http://schemas.microsoft.com/office/powerpoint/2010/main" val="19593684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Memories-45</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56</a:t>
            </a:fld>
            <a:endParaRPr lang="en-US"/>
          </a:p>
        </p:txBody>
      </p:sp>
      <p:sp>
        <p:nvSpPr>
          <p:cNvPr id="4" name="Content Placeholder 3"/>
          <p:cNvSpPr>
            <a:spLocks noGrp="1"/>
          </p:cNvSpPr>
          <p:nvPr>
            <p:ph sz="quarter" idx="1"/>
          </p:nvPr>
        </p:nvSpPr>
        <p:spPr>
          <a:xfrm>
            <a:off x="612648" y="1600200"/>
            <a:ext cx="8153400" cy="3505200"/>
          </a:xfrm>
        </p:spPr>
        <p:txBody>
          <a:bodyPr>
            <a:normAutofit fontScale="85000" lnSpcReduction="10000"/>
          </a:bodyPr>
          <a:lstStyle/>
          <a:p>
            <a:r>
              <a:rPr lang="en-IN" b="1" dirty="0"/>
              <a:t>Rambus Memory</a:t>
            </a:r>
          </a:p>
          <a:p>
            <a:pPr algn="just"/>
            <a:r>
              <a:rPr lang="en-IN" dirty="0"/>
              <a:t>The rate of transferring data between the memory and the processor is a function of both the bandwidth of the memory and the bandwidth of its connection to the processor.</a:t>
            </a:r>
          </a:p>
          <a:p>
            <a:pPr algn="just"/>
            <a:r>
              <a:rPr lang="en-IN" dirty="0"/>
              <a:t>One way for increasing the bandwidth of this connection is to use a wider data path. However, this requires more space and more pins, increasing system cost. </a:t>
            </a:r>
          </a:p>
          <a:p>
            <a:pPr algn="just"/>
            <a:r>
              <a:rPr lang="en-IN" dirty="0"/>
              <a:t>The alternative is to use fewer wires with a higher clock speed. This is the approach taken by Rambus.</a:t>
            </a:r>
          </a:p>
        </p:txBody>
      </p:sp>
      <p:pic>
        <p:nvPicPr>
          <p:cNvPr id="2050" name="Picture 2" descr="http://www.certiology.com/wp-content/uploads/2014/05/rambu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0491" y="5105400"/>
            <a:ext cx="6334125" cy="172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3961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Semiconductor RAM Memories-46</a:t>
            </a:r>
            <a:br>
              <a:rPr lang="en-IN" b="1" dirty="0"/>
            </a:br>
            <a:r>
              <a:rPr lang="en-IN" b="1" dirty="0"/>
              <a:t>Structure of Larger Memories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57</a:t>
            </a:fld>
            <a:endParaRPr lang="en-US"/>
          </a:p>
        </p:txBody>
      </p:sp>
      <p:sp>
        <p:nvSpPr>
          <p:cNvPr id="4" name="Content Placeholder 3"/>
          <p:cNvSpPr>
            <a:spLocks noGrp="1"/>
          </p:cNvSpPr>
          <p:nvPr>
            <p:ph sz="quarter" idx="1"/>
          </p:nvPr>
        </p:nvSpPr>
        <p:spPr/>
        <p:txBody>
          <a:bodyPr/>
          <a:lstStyle/>
          <a:p>
            <a:pPr algn="just"/>
            <a:r>
              <a:rPr lang="en-IN" dirty="0"/>
              <a:t>The key feature of Rambus technology is the use of a </a:t>
            </a:r>
            <a:r>
              <a:rPr lang="en-IN" b="1" dirty="0"/>
              <a:t>differential-</a:t>
            </a:r>
            <a:r>
              <a:rPr lang="en-IN" b="1" dirty="0" err="1"/>
              <a:t>signaling</a:t>
            </a:r>
            <a:r>
              <a:rPr lang="en-IN" b="1" dirty="0"/>
              <a:t> technique </a:t>
            </a:r>
            <a:r>
              <a:rPr lang="en-IN" dirty="0"/>
              <a:t>to transfer data to and from the memory chips.</a:t>
            </a:r>
          </a:p>
          <a:p>
            <a:pPr algn="just"/>
            <a:r>
              <a:rPr lang="en-IN" dirty="0"/>
              <a:t>Instead of using signal have logic voltage level of 0 or V </a:t>
            </a:r>
            <a:r>
              <a:rPr lang="en-IN" baseline="-25000" dirty="0"/>
              <a:t>supply</a:t>
            </a:r>
            <a:r>
              <a:rPr lang="en-IN" baseline="30000" dirty="0"/>
              <a:t> </a:t>
            </a:r>
            <a:r>
              <a:rPr lang="en-IN" dirty="0"/>
              <a:t>the signals consist of much smaller voltage swings around reference voltage </a:t>
            </a:r>
            <a:r>
              <a:rPr lang="en-IN" dirty="0" err="1"/>
              <a:t>V</a:t>
            </a:r>
            <a:r>
              <a:rPr lang="en-IN" baseline="-25000" dirty="0" err="1"/>
              <a:t>ref</a:t>
            </a:r>
            <a:r>
              <a:rPr lang="en-IN" dirty="0"/>
              <a:t>. Two logic values represented by above and below </a:t>
            </a:r>
            <a:r>
              <a:rPr lang="en-IN" dirty="0" err="1"/>
              <a:t>V</a:t>
            </a:r>
            <a:r>
              <a:rPr lang="en-IN" baseline="-25000" dirty="0" err="1"/>
              <a:t>ref</a:t>
            </a:r>
            <a:r>
              <a:rPr lang="en-IN" dirty="0"/>
              <a:t>.  </a:t>
            </a:r>
          </a:p>
        </p:txBody>
      </p:sp>
    </p:spTree>
    <p:extLst>
      <p:ext uri="{BB962C8B-B14F-4D97-AF65-F5344CB8AC3E}">
        <p14:creationId xmlns:p14="http://schemas.microsoft.com/office/powerpoint/2010/main" val="35111453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Read-only Memories-1</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58</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dirty="0"/>
              <a:t>Both static and dynamic RAM chips are volatile, which means that they retain information only while power is turned on. </a:t>
            </a:r>
          </a:p>
          <a:p>
            <a:pPr algn="just"/>
            <a:r>
              <a:rPr lang="en-IN" dirty="0"/>
              <a:t>There are many applications requiring memory devices that retain the stored information when power is turned off. For example,  need to store a small program in such a memory, to be used to start the bootstrap process of loading the operating system from a hard disk into the main memory. The embedded applications are another important example.</a:t>
            </a:r>
          </a:p>
          <a:p>
            <a:pPr algn="just"/>
            <a:r>
              <a:rPr lang="en-IN" dirty="0"/>
              <a:t>Many embedded applications do not use a hard disk and require non-volatile memories to store their software.</a:t>
            </a:r>
          </a:p>
          <a:p>
            <a:pPr algn="just"/>
            <a:r>
              <a:rPr lang="en-IN" dirty="0"/>
              <a:t>Different types of non-volatile memories have been developed. But, a special writing process is needed to place the information into a non-volatile memory. Since its normal operation involves only reading the stored data, a memory of this type is called a </a:t>
            </a:r>
            <a:r>
              <a:rPr lang="en-IN" b="1" i="1" dirty="0"/>
              <a:t>read-only memory </a:t>
            </a:r>
            <a:r>
              <a:rPr lang="en-IN" b="1" dirty="0"/>
              <a:t>(ROM)</a:t>
            </a:r>
            <a:r>
              <a:rPr lang="en-IN" dirty="0"/>
              <a:t>.</a:t>
            </a:r>
          </a:p>
        </p:txBody>
      </p:sp>
    </p:spTree>
    <p:extLst>
      <p:ext uri="{BB962C8B-B14F-4D97-AF65-F5344CB8AC3E}">
        <p14:creationId xmlns:p14="http://schemas.microsoft.com/office/powerpoint/2010/main" val="555037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Read-only Memories-2</a:t>
            </a:r>
            <a:br>
              <a:rPr lang="en-IN" b="1" dirty="0"/>
            </a:br>
            <a:r>
              <a:rPr lang="en-IN" b="1" dirty="0"/>
              <a:t>ROM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59</a:t>
            </a:fld>
            <a:endParaRPr lang="en-US"/>
          </a:p>
        </p:txBody>
      </p:sp>
      <p:sp>
        <p:nvSpPr>
          <p:cNvPr id="4" name="Content Placeholder 3"/>
          <p:cNvSpPr>
            <a:spLocks noGrp="1"/>
          </p:cNvSpPr>
          <p:nvPr>
            <p:ph sz="quarter" idx="1"/>
          </p:nvPr>
        </p:nvSpPr>
        <p:spPr/>
        <p:txBody>
          <a:bodyPr>
            <a:normAutofit/>
          </a:bodyPr>
          <a:lstStyle/>
          <a:p>
            <a:pPr algn="just"/>
            <a:r>
              <a:rPr lang="en-IN" dirty="0"/>
              <a:t>A memory is called a read-only memory, or ROM, when information can be written into it only once at the time of manufacture. </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2971800"/>
            <a:ext cx="5372100" cy="346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descr="http://www.jmitelescopes.com/images/mic_ro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2667000"/>
            <a:ext cx="3941378"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4126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Read-only Memories-3</a:t>
            </a:r>
            <a:br>
              <a:rPr lang="en-IN" b="1" dirty="0"/>
            </a:br>
            <a:r>
              <a:rPr lang="en-IN" b="1" dirty="0"/>
              <a:t>ROM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60</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dirty="0"/>
              <a:t>A logic value 0 is stored in the cell if the transistor is connected to ground at point </a:t>
            </a:r>
            <a:r>
              <a:rPr lang="en-IN" i="1" dirty="0"/>
              <a:t>P</a:t>
            </a:r>
            <a:r>
              <a:rPr lang="en-IN" dirty="0"/>
              <a:t>; otherwise, a 1 is stored. </a:t>
            </a:r>
          </a:p>
          <a:p>
            <a:pPr algn="just"/>
            <a:r>
              <a:rPr lang="en-IN" dirty="0"/>
              <a:t>The bit line is connected through a resistor to the power supply. To read the state of the cell, the word line is activated to close the transistor switch.</a:t>
            </a:r>
          </a:p>
          <a:p>
            <a:pPr algn="just"/>
            <a:r>
              <a:rPr lang="en-IN" dirty="0"/>
              <a:t>As a result, the voltage on the bit line drops to near zero if there is a connection between the transistor and ground. </a:t>
            </a:r>
          </a:p>
          <a:p>
            <a:pPr algn="just"/>
            <a:r>
              <a:rPr lang="en-IN" dirty="0"/>
              <a:t>If there is no connection to ground, the bit line remains at the high voltage level, indicating a 1. </a:t>
            </a:r>
          </a:p>
          <a:p>
            <a:pPr algn="just"/>
            <a:r>
              <a:rPr lang="en-IN" dirty="0"/>
              <a:t>A sense circuit at the end of the bit line generates the proper output value. The state of the connection to ground in each cell is determined when the chip is manufactured, using a mask with a pattern that represents the information to be stored.</a:t>
            </a:r>
          </a:p>
        </p:txBody>
      </p:sp>
    </p:spTree>
    <p:extLst>
      <p:ext uri="{BB962C8B-B14F-4D97-AF65-F5344CB8AC3E}">
        <p14:creationId xmlns:p14="http://schemas.microsoft.com/office/powerpoint/2010/main" val="15461220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batronix.com/images/products/chips/QFP44-250-18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0"/>
            <a:ext cx="2381250" cy="1714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fontScale="90000"/>
          </a:bodyPr>
          <a:lstStyle/>
          <a:p>
            <a:r>
              <a:rPr lang="en-IN" b="1" dirty="0"/>
              <a:t>Read-only Memories-4</a:t>
            </a:r>
            <a:br>
              <a:rPr lang="en-IN" b="1" dirty="0"/>
            </a:br>
            <a:r>
              <a:rPr lang="en-IN" b="1" dirty="0"/>
              <a:t>PROM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61</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dirty="0"/>
              <a:t>Some ROM designs allow the data to be loaded by the user, thus providing a </a:t>
            </a:r>
            <a:r>
              <a:rPr lang="en-IN" i="1" dirty="0"/>
              <a:t>programmable ROM </a:t>
            </a:r>
            <a:r>
              <a:rPr lang="en-IN" dirty="0"/>
              <a:t>(PROM). </a:t>
            </a:r>
          </a:p>
          <a:p>
            <a:pPr algn="just"/>
            <a:r>
              <a:rPr lang="en-IN" b="1" dirty="0"/>
              <a:t>Programmability is achieved by inserting a </a:t>
            </a:r>
            <a:r>
              <a:rPr lang="en-IN" b="1" dirty="0">
                <a:solidFill>
                  <a:srgbClr val="FF0000"/>
                </a:solidFill>
              </a:rPr>
              <a:t>fuse</a:t>
            </a:r>
            <a:r>
              <a:rPr lang="en-IN" b="1" dirty="0"/>
              <a:t> at point </a:t>
            </a:r>
            <a:r>
              <a:rPr lang="en-IN" b="1" i="1" dirty="0"/>
              <a:t>P </a:t>
            </a:r>
            <a:r>
              <a:rPr lang="en-IN" b="1" dirty="0"/>
              <a:t>in a ROM cell.</a:t>
            </a:r>
          </a:p>
          <a:p>
            <a:pPr algn="just"/>
            <a:r>
              <a:rPr lang="en-IN" dirty="0"/>
              <a:t>Before it is programmed, the memory contains all 0s. The user can insert 1s at the required locations by burning out the fuses at these locations using high-current pulses. </a:t>
            </a:r>
            <a:r>
              <a:rPr lang="en-IN" b="1" dirty="0"/>
              <a:t>This process is irreversible.</a:t>
            </a:r>
            <a:r>
              <a:rPr lang="en-IN" dirty="0"/>
              <a:t> </a:t>
            </a:r>
          </a:p>
          <a:p>
            <a:pPr algn="just"/>
            <a:r>
              <a:rPr lang="en-IN" dirty="0"/>
              <a:t>PROMs provide flexibility and convenience not available with ROMs. The cost of preparing the masks needed for storing a particular information pattern makes ROMs cost effective only in large volumes. </a:t>
            </a:r>
          </a:p>
          <a:p>
            <a:pPr algn="just"/>
            <a:r>
              <a:rPr lang="en-IN" dirty="0"/>
              <a:t>The alternative technology of PROMs provides a more convenient and considerably less expensive approach, because memory chips can be programmed directly by the user.</a:t>
            </a:r>
          </a:p>
        </p:txBody>
      </p:sp>
    </p:spTree>
    <p:extLst>
      <p:ext uri="{BB962C8B-B14F-4D97-AF65-F5344CB8AC3E}">
        <p14:creationId xmlns:p14="http://schemas.microsoft.com/office/powerpoint/2010/main" val="17614894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Read-only Memories-5</a:t>
            </a:r>
            <a:br>
              <a:rPr lang="en-IN" b="1" dirty="0"/>
            </a:br>
            <a:r>
              <a:rPr lang="en-IN" b="1" dirty="0"/>
              <a:t>EPROM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62</a:t>
            </a:fld>
            <a:endParaRPr lang="en-US"/>
          </a:p>
        </p:txBody>
      </p:sp>
      <p:sp>
        <p:nvSpPr>
          <p:cNvPr id="4" name="Content Placeholder 3"/>
          <p:cNvSpPr>
            <a:spLocks noGrp="1"/>
          </p:cNvSpPr>
          <p:nvPr>
            <p:ph sz="quarter" idx="1"/>
          </p:nvPr>
        </p:nvSpPr>
        <p:spPr/>
        <p:txBody>
          <a:bodyPr>
            <a:noAutofit/>
          </a:bodyPr>
          <a:lstStyle/>
          <a:p>
            <a:pPr algn="just"/>
            <a:r>
              <a:rPr lang="en-IN" sz="2000" dirty="0"/>
              <a:t>It allows the stored data to be erased and new data to be written into it. Such an </a:t>
            </a:r>
            <a:r>
              <a:rPr lang="en-IN" sz="2000" b="1" i="1" dirty="0"/>
              <a:t>erasable</a:t>
            </a:r>
            <a:r>
              <a:rPr lang="en-IN" sz="2000" b="1" dirty="0"/>
              <a:t>, reprogrammable ROM is</a:t>
            </a:r>
            <a:r>
              <a:rPr lang="en-IN" sz="2000" dirty="0"/>
              <a:t> usually called an </a:t>
            </a:r>
            <a:r>
              <a:rPr lang="en-IN" sz="2000" i="1" dirty="0"/>
              <a:t>EPROM</a:t>
            </a:r>
            <a:r>
              <a:rPr lang="en-IN" sz="2000" dirty="0"/>
              <a:t>. </a:t>
            </a:r>
          </a:p>
          <a:p>
            <a:pPr algn="just"/>
            <a:r>
              <a:rPr lang="en-IN" sz="2000" dirty="0"/>
              <a:t>Since EPROMs are capable of retaining stored information for a long time, they can be used in place of ROMs or PROMs while software is being developed.</a:t>
            </a:r>
          </a:p>
          <a:p>
            <a:pPr algn="just"/>
            <a:r>
              <a:rPr lang="en-IN" sz="2000" dirty="0"/>
              <a:t>An EPROM cell has a structure similar to the ROM cell. However, the connection to ground </a:t>
            </a:r>
            <a:r>
              <a:rPr lang="en-IN" sz="2000" b="1" dirty="0"/>
              <a:t>at point </a:t>
            </a:r>
            <a:r>
              <a:rPr lang="en-IN" sz="2000" b="1" i="1" dirty="0"/>
              <a:t>P </a:t>
            </a:r>
            <a:r>
              <a:rPr lang="en-IN" sz="2000" b="1" dirty="0"/>
              <a:t>is made through a </a:t>
            </a:r>
            <a:r>
              <a:rPr lang="en-IN" sz="2000" b="1" dirty="0">
                <a:solidFill>
                  <a:srgbClr val="FF0000"/>
                </a:solidFill>
              </a:rPr>
              <a:t>special transistor</a:t>
            </a:r>
            <a:r>
              <a:rPr lang="en-IN" sz="2000" dirty="0"/>
              <a:t>. The transistor is normally turned off, creating an open switch. It can be turned on by injecting charge into it that becomes trapped inside. </a:t>
            </a:r>
          </a:p>
          <a:p>
            <a:pPr algn="just"/>
            <a:r>
              <a:rPr lang="en-IN" sz="2000" dirty="0"/>
              <a:t>By injecting the charges into it that become trapped in the transistors that form the memory cells. This can be done by exposing the chip to ultraviolet light, which erases the entire contents of the chip. To make this possible, EPROM chips are mounted in packages that have transparent windows.</a:t>
            </a:r>
          </a:p>
        </p:txBody>
      </p:sp>
      <p:pic>
        <p:nvPicPr>
          <p:cNvPr id="4098" name="Picture 2" descr="http://cdn.differencebetween.net/wp-content/uploads/2009/09/epro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8143"/>
            <a:ext cx="2857500" cy="1371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2032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Read-only Memories-6</a:t>
            </a:r>
            <a:br>
              <a:rPr lang="en-IN" b="1" dirty="0"/>
            </a:br>
            <a:r>
              <a:rPr lang="en-IN" b="1" dirty="0"/>
              <a:t>EEPROM</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63</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IN" dirty="0"/>
              <a:t>An EPROM must be physically removed from the circuit for reprogramming. Also, the stored information cannot be erased selectively. The entire contents of the chip are erased when exposed to ultraviolet light. </a:t>
            </a:r>
          </a:p>
          <a:p>
            <a:pPr algn="just"/>
            <a:r>
              <a:rPr lang="en-IN" dirty="0"/>
              <a:t>Another type of erasable PROM can be programmed, </a:t>
            </a:r>
            <a:r>
              <a:rPr lang="en-IN" b="1" dirty="0"/>
              <a:t>erased, and reprogrammed electrically</a:t>
            </a:r>
            <a:r>
              <a:rPr lang="en-IN" dirty="0"/>
              <a:t>. Such a chip is called an </a:t>
            </a:r>
            <a:r>
              <a:rPr lang="en-IN" i="1" dirty="0"/>
              <a:t>electrically erasable </a:t>
            </a:r>
            <a:r>
              <a:rPr lang="en-IN" dirty="0"/>
              <a:t>PROM, or EEPROM. </a:t>
            </a:r>
          </a:p>
          <a:p>
            <a:pPr algn="just"/>
            <a:r>
              <a:rPr lang="en-IN" b="1" dirty="0"/>
              <a:t>One disadvantage of EEPROMs is that different voltages are needed for erasing, writing, and reading the stored data, which increases circuit complexity.</a:t>
            </a:r>
          </a:p>
          <a:p>
            <a:pPr algn="just"/>
            <a:r>
              <a:rPr lang="en-IN" dirty="0"/>
              <a:t>However, this disadvantage is outweighed by the many advantages of EEPROMs. They have replaced EPROMs in practice.</a:t>
            </a:r>
          </a:p>
        </p:txBody>
      </p:sp>
    </p:spTree>
    <p:extLst>
      <p:ext uri="{BB962C8B-B14F-4D97-AF65-F5344CB8AC3E}">
        <p14:creationId xmlns:p14="http://schemas.microsoft.com/office/powerpoint/2010/main" val="4511098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Read-only Memories-7</a:t>
            </a:r>
            <a:br>
              <a:rPr lang="en-IN" b="1" dirty="0"/>
            </a:br>
            <a:r>
              <a:rPr lang="en-IN" b="1" dirty="0"/>
              <a:t>Flash Memory</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64</a:t>
            </a:fld>
            <a:endParaRPr lang="en-US"/>
          </a:p>
        </p:txBody>
      </p:sp>
      <p:sp>
        <p:nvSpPr>
          <p:cNvPr id="4" name="Content Placeholder 3"/>
          <p:cNvSpPr>
            <a:spLocks noGrp="1"/>
          </p:cNvSpPr>
          <p:nvPr>
            <p:ph sz="quarter" idx="1"/>
          </p:nvPr>
        </p:nvSpPr>
        <p:spPr/>
        <p:txBody>
          <a:bodyPr>
            <a:normAutofit fontScale="92500" lnSpcReduction="10000"/>
          </a:bodyPr>
          <a:lstStyle/>
          <a:p>
            <a:pPr algn="just"/>
            <a:r>
              <a:rPr lang="en-IN" dirty="0"/>
              <a:t>An approach similar to EEPROM technology has given rise to </a:t>
            </a:r>
            <a:r>
              <a:rPr lang="en-IN" i="1" dirty="0"/>
              <a:t>flash memory </a:t>
            </a:r>
            <a:r>
              <a:rPr lang="en-IN" dirty="0"/>
              <a:t>devices. A flash cell is based on a single transistor controlled by trapped charge, much like an EEPROM cell. </a:t>
            </a:r>
          </a:p>
          <a:p>
            <a:pPr algn="just"/>
            <a:r>
              <a:rPr lang="en-IN" dirty="0"/>
              <a:t>The key difference is that, in a </a:t>
            </a:r>
            <a:r>
              <a:rPr lang="en-IN" b="1" dirty="0"/>
              <a:t>flash device, it is only possible to write an entire block of cells</a:t>
            </a:r>
            <a:r>
              <a:rPr lang="en-IN" dirty="0"/>
              <a:t>. Prior to writing, the previous contents of the block are erased. </a:t>
            </a:r>
          </a:p>
          <a:p>
            <a:pPr algn="just"/>
            <a:r>
              <a:rPr lang="en-IN" dirty="0"/>
              <a:t>Flash devices have greater density, which leads to higher capacity and a lower cost per bit. They require a single power supply voltage, and consume less power in their operation.</a:t>
            </a:r>
          </a:p>
        </p:txBody>
      </p:sp>
    </p:spTree>
    <p:extLst>
      <p:ext uri="{BB962C8B-B14F-4D97-AF65-F5344CB8AC3E}">
        <p14:creationId xmlns:p14="http://schemas.microsoft.com/office/powerpoint/2010/main" val="34070560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Read-only Memories-8</a:t>
            </a:r>
            <a:br>
              <a:rPr lang="en-IN" b="1" dirty="0"/>
            </a:br>
            <a:r>
              <a:rPr lang="en-IN" b="1" dirty="0"/>
              <a:t>Flash Memory</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65</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IN" dirty="0"/>
              <a:t>The low power consumption of flash memories makes them attractive for use in portable, battery-powered equipment. </a:t>
            </a:r>
          </a:p>
          <a:p>
            <a:pPr algn="just"/>
            <a:r>
              <a:rPr lang="en-IN" dirty="0"/>
              <a:t>Typical applications include hand-held computers, cell phones, digital cameras, and MP3 music players.  A flash memory is used in digital cameras to store picture data. In MP3 players, flash memories store the data that represent sound.</a:t>
            </a:r>
          </a:p>
          <a:p>
            <a:pPr algn="just"/>
            <a:r>
              <a:rPr lang="en-IN" dirty="0"/>
              <a:t>Single flash chips may not provide sufficient storage capacity for the applications mentioned above. Larger memory modules consisting of a number of chips are used where needed. </a:t>
            </a:r>
          </a:p>
          <a:p>
            <a:pPr algn="just"/>
            <a:r>
              <a:rPr lang="en-IN" dirty="0"/>
              <a:t>There are two popular choices for the implementation of such modules: </a:t>
            </a:r>
            <a:r>
              <a:rPr lang="en-IN" b="1" dirty="0"/>
              <a:t>flash cards and flash drives</a:t>
            </a:r>
            <a:r>
              <a:rPr lang="en-IN" dirty="0"/>
              <a:t>.</a:t>
            </a:r>
          </a:p>
          <a:p>
            <a:pPr algn="just"/>
            <a:endParaRPr lang="en-IN" dirty="0"/>
          </a:p>
        </p:txBody>
      </p:sp>
    </p:spTree>
    <p:extLst>
      <p:ext uri="{BB962C8B-B14F-4D97-AF65-F5344CB8AC3E}">
        <p14:creationId xmlns:p14="http://schemas.microsoft.com/office/powerpoint/2010/main" val="13260811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Read-only Memories-9</a:t>
            </a:r>
            <a:br>
              <a:rPr lang="en-IN" b="1" dirty="0"/>
            </a:br>
            <a:r>
              <a:rPr lang="en-IN" b="1" dirty="0"/>
              <a:t>Flash Memory</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66</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IN" b="1" dirty="0"/>
              <a:t>Flash Cards</a:t>
            </a:r>
          </a:p>
          <a:p>
            <a:pPr algn="just"/>
            <a:r>
              <a:rPr lang="en-IN" dirty="0"/>
              <a:t>One way of constructing a larger module is to mount flash chips on a small card. Such flash cards have a standard interface that makes them usable in a variety of products. </a:t>
            </a:r>
          </a:p>
          <a:p>
            <a:pPr algn="just"/>
            <a:r>
              <a:rPr lang="en-IN" dirty="0"/>
              <a:t>A card is simply plugged into a conveniently accessible slot. Flash cards with a USB interface are widely used and are commonly known as memory keys. </a:t>
            </a:r>
          </a:p>
          <a:p>
            <a:pPr algn="just"/>
            <a:r>
              <a:rPr lang="en-IN" dirty="0"/>
              <a:t>They come in a variety of memory sizes. Larger cards may hold as much as 32 </a:t>
            </a:r>
            <a:r>
              <a:rPr lang="en-IN" dirty="0" err="1"/>
              <a:t>Gbytes</a:t>
            </a:r>
            <a:r>
              <a:rPr lang="en-IN" dirty="0"/>
              <a:t>. A minute of music can be stored in about 1 Mbyte of memory, using the MP3 encoding format. </a:t>
            </a:r>
          </a:p>
          <a:p>
            <a:pPr algn="just"/>
            <a:r>
              <a:rPr lang="en-IN" dirty="0"/>
              <a:t>Hence, a 32-Gbyte flash card can store approximately 500 hours of music.</a:t>
            </a:r>
            <a:endParaRPr lang="en-IN" b="1" dirty="0"/>
          </a:p>
          <a:p>
            <a:pPr algn="just"/>
            <a:endParaRPr lang="en-IN" dirty="0"/>
          </a:p>
        </p:txBody>
      </p:sp>
      <p:pic>
        <p:nvPicPr>
          <p:cNvPr id="5122" name="Picture 2" descr="http://www.mrgadget.com.au/blogimages/sandisk_compact_flash_memory_card_4gb.jpg"/>
          <p:cNvPicPr>
            <a:picLocks noChangeAspect="1" noChangeArrowheads="1"/>
          </p:cNvPicPr>
          <p:nvPr/>
        </p:nvPicPr>
        <p:blipFill rotWithShape="1">
          <a:blip r:embed="rId2">
            <a:extLst>
              <a:ext uri="{28A0092B-C50C-407E-A947-70E740481C1C}">
                <a14:useLocalDpi xmlns:a14="http://schemas.microsoft.com/office/drawing/2010/main" val="0"/>
              </a:ext>
            </a:extLst>
          </a:blip>
          <a:srcRect t="6401" b="7657"/>
          <a:stretch/>
        </p:blipFill>
        <p:spPr bwMode="auto">
          <a:xfrm>
            <a:off x="6629400" y="0"/>
            <a:ext cx="2381250" cy="2046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2248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Read-only Memories-10</a:t>
            </a:r>
            <a:br>
              <a:rPr lang="en-IN" b="1" dirty="0"/>
            </a:br>
            <a:r>
              <a:rPr lang="en-IN" b="1" dirty="0"/>
              <a:t>Flash Memory</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67</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b="1" dirty="0"/>
              <a:t>Flash Drives</a:t>
            </a:r>
          </a:p>
          <a:p>
            <a:pPr algn="just"/>
            <a:r>
              <a:rPr lang="en-IN" dirty="0"/>
              <a:t>Larger flash memory modules have been developed to replace hard disk drives, and hence are called flash drives. </a:t>
            </a:r>
          </a:p>
          <a:p>
            <a:pPr algn="just"/>
            <a:r>
              <a:rPr lang="en-IN" dirty="0"/>
              <a:t>They are designed to fully emulate hard disks, to the point that they can be fitted into standard disk drive bays. However, the storage capacity of flash drives is significantly lower. </a:t>
            </a:r>
          </a:p>
          <a:p>
            <a:pPr algn="just"/>
            <a:r>
              <a:rPr lang="en-IN" dirty="0"/>
              <a:t>Currently, the capacity of flash drives is on the order of 64 to 128 </a:t>
            </a:r>
            <a:r>
              <a:rPr lang="en-IN" dirty="0" err="1"/>
              <a:t>Gbytes</a:t>
            </a:r>
            <a:r>
              <a:rPr lang="en-IN" dirty="0"/>
              <a:t>. In contrast, hard disks have capacities exceeding a terabyte. Also, disk drives have a very low cost per bit.</a:t>
            </a:r>
          </a:p>
          <a:p>
            <a:pPr algn="just"/>
            <a:r>
              <a:rPr lang="en-IN" dirty="0"/>
              <a:t>The fact that flash drives are solid state electronic devices with no moving parts provides important advantages over disk drives. They have shorter access times, which result in a faster response. They are insensitive to vibration and they have lower power consumption, which makes them attractive for portable, battery-driven applications.</a:t>
            </a:r>
          </a:p>
        </p:txBody>
      </p:sp>
      <p:pic>
        <p:nvPicPr>
          <p:cNvPr id="6146" name="Picture 2" descr="https://lh6.googleusercontent.com/r0uY8toYZgM3kWswLYiPq--f0aDSiQJwKmt8UnawoYLkxKM7o-HsymUJ0cXgYy8h2p32VCnWfNnt84h7PX9Jv4S5aLnZ7MJjBJzWk0FiierVxBM1jnJu32gfSQ"/>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4200" y="762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9948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Speed, Size and Cost-1</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68</a:t>
            </a:fld>
            <a:endParaRPr lang="en-US"/>
          </a:p>
        </p:txBody>
      </p:sp>
      <p:sp>
        <p:nvSpPr>
          <p:cNvPr id="4" name="Content Placeholder 3"/>
          <p:cNvSpPr>
            <a:spLocks noGrp="1"/>
          </p:cNvSpPr>
          <p:nvPr>
            <p:ph sz="quarter" idx="1"/>
          </p:nvPr>
        </p:nvSpPr>
        <p:spPr/>
        <p:txBody>
          <a:bodyPr/>
          <a:lstStyle/>
          <a:p>
            <a:pPr algn="just"/>
            <a:r>
              <a:rPr lang="en-IN" dirty="0"/>
              <a:t>A very fast memory can be implemented using static RAM chips. But, these chips are not suitable for implementing large memories, because their basic cells are larger, consume more power than dynamic RAM cells and not cost effective.</a:t>
            </a:r>
          </a:p>
          <a:p>
            <a:pPr algn="just"/>
            <a:endParaRPr lang="en-IN" dirty="0"/>
          </a:p>
        </p:txBody>
      </p:sp>
    </p:spTree>
    <p:extLst>
      <p:ext uri="{BB962C8B-B14F-4D97-AF65-F5344CB8AC3E}">
        <p14:creationId xmlns:p14="http://schemas.microsoft.com/office/powerpoint/2010/main" val="6526226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Speed, Size and Cost-2</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69</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dirty="0"/>
              <a:t>Although dynamic memory units with gigabyte capacities can be implemented at a reasonable cost, the affordable size is still small compared to the demands of large programs with voluminous data. </a:t>
            </a:r>
          </a:p>
          <a:p>
            <a:pPr algn="just"/>
            <a:r>
              <a:rPr lang="en-IN" dirty="0"/>
              <a:t>A solution is provided by using secondary storage, mainly magnetic disks, to provide the required memory space. Disks are available at a reasonable cost, and they are used extensively in computer systems. However, they are much slower than semiconductor memory units. </a:t>
            </a:r>
          </a:p>
          <a:p>
            <a:pPr algn="just"/>
            <a:r>
              <a:rPr lang="en-IN" dirty="0"/>
              <a:t>So, a very large amount of cost-effective storage can be provided by magnetic disks, and a large and considerably faster, yet affordable, main memory can be built with dynamic RAM technology. </a:t>
            </a:r>
          </a:p>
          <a:p>
            <a:pPr algn="just"/>
            <a:r>
              <a:rPr lang="en-IN" dirty="0"/>
              <a:t>This leaves the more expensive and much faster static RAM technology to be used in smaller units where speed is of the essence, such as in cache memories.</a:t>
            </a:r>
          </a:p>
        </p:txBody>
      </p:sp>
    </p:spTree>
    <p:extLst>
      <p:ext uri="{BB962C8B-B14F-4D97-AF65-F5344CB8AC3E}">
        <p14:creationId xmlns:p14="http://schemas.microsoft.com/office/powerpoint/2010/main" val="21930705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Speed, Size and Cost-3</a:t>
            </a:r>
            <a:endParaRPr lang="en-IN" dirty="0"/>
          </a:p>
        </p:txBody>
      </p:sp>
      <p:sp>
        <p:nvSpPr>
          <p:cNvPr id="4" name="Content Placeholder 3"/>
          <p:cNvSpPr>
            <a:spLocks noGrp="1"/>
          </p:cNvSpPr>
          <p:nvPr>
            <p:ph sz="quarter" idx="1"/>
          </p:nvPr>
        </p:nvSpPr>
        <p:spPr/>
        <p:txBody>
          <a:bodyPr>
            <a:normAutofit fontScale="62500" lnSpcReduction="20000"/>
          </a:bodyPr>
          <a:lstStyle/>
          <a:p>
            <a:pPr algn="just"/>
            <a:r>
              <a:rPr lang="en-IN" b="1" dirty="0"/>
              <a:t>Memory hierarchy</a:t>
            </a:r>
          </a:p>
          <a:p>
            <a:pPr algn="just"/>
            <a:r>
              <a:rPr lang="en-IN" dirty="0"/>
              <a:t>The fastest access is to data held in processor registers.</a:t>
            </a:r>
          </a:p>
          <a:p>
            <a:pPr algn="just"/>
            <a:r>
              <a:rPr lang="en-IN" i="1" dirty="0"/>
              <a:t>Processor cache</a:t>
            </a:r>
            <a:r>
              <a:rPr lang="en-IN" dirty="0"/>
              <a:t>, holds copies of the instructions and data stored in a much larger memory that is provided externally.</a:t>
            </a:r>
          </a:p>
          <a:p>
            <a:pPr algn="just"/>
            <a:r>
              <a:rPr lang="en-IN" dirty="0"/>
              <a:t>A primary cache is always located on the processor chip. This cache is small and its access time is comparable to that of processor registers. The primary cache is referred to as the </a:t>
            </a:r>
            <a:r>
              <a:rPr lang="en-IN" i="1" dirty="0"/>
              <a:t>level 1 </a:t>
            </a:r>
            <a:r>
              <a:rPr lang="en-IN" dirty="0"/>
              <a:t>(L1) cache.</a:t>
            </a:r>
          </a:p>
          <a:p>
            <a:pPr algn="just"/>
            <a:r>
              <a:rPr lang="en-IN" dirty="0"/>
              <a:t>A larger, and hence somewhat slower, secondary cache is placed between the primary cache and the rest of the memory. It is referred to as the </a:t>
            </a:r>
            <a:r>
              <a:rPr lang="en-IN" i="1" dirty="0"/>
              <a:t>level 2 </a:t>
            </a:r>
            <a:r>
              <a:rPr lang="en-IN" dirty="0"/>
              <a:t>(L2) cache.</a:t>
            </a:r>
          </a:p>
        </p:txBody>
      </p:sp>
      <p:sp>
        <p:nvSpPr>
          <p:cNvPr id="5" name="Content Placeholder 4"/>
          <p:cNvSpPr>
            <a:spLocks noGrp="1"/>
          </p:cNvSpPr>
          <p:nvPr>
            <p:ph sz="quarter" idx="2"/>
          </p:nvPr>
        </p:nvSpPr>
        <p:spPr/>
        <p:txBody>
          <a:bodyPr>
            <a:normAutofit fontScale="62500" lnSpcReduction="20000"/>
          </a:bodyPr>
          <a:lstStyle/>
          <a:p>
            <a:endParaRPr lang="en-IN"/>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70</a:t>
            </a:fld>
            <a:endParaRPr lang="en-US"/>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230"/>
          <a:stretch/>
        </p:blipFill>
        <p:spPr bwMode="auto">
          <a:xfrm>
            <a:off x="4572000" y="1524000"/>
            <a:ext cx="4352925" cy="52694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69281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IN" b="1" dirty="0"/>
              <a:t>Speed, Size and Cost-4</a:t>
            </a:r>
            <a:endParaRPr lang="en-IN" dirty="0"/>
          </a:p>
        </p:txBody>
      </p:sp>
      <p:sp>
        <p:nvSpPr>
          <p:cNvPr id="5" name="Slide Number Placeholder 4"/>
          <p:cNvSpPr>
            <a:spLocks noGrp="1"/>
          </p:cNvSpPr>
          <p:nvPr>
            <p:ph type="sldNum" sz="quarter" idx="12"/>
          </p:nvPr>
        </p:nvSpPr>
        <p:spPr/>
        <p:txBody>
          <a:bodyPr>
            <a:normAutofit fontScale="85000" lnSpcReduction="20000"/>
          </a:bodyPr>
          <a:lstStyle/>
          <a:p>
            <a:fld id="{B6F15528-21DE-4FAA-801E-634DDDAF4B2B}" type="slidenum">
              <a:rPr lang="en-US" smtClean="0"/>
              <a:pPr/>
              <a:t>71</a:t>
            </a:fld>
            <a:endParaRPr lang="en-US"/>
          </a:p>
        </p:txBody>
      </p:sp>
      <p:sp>
        <p:nvSpPr>
          <p:cNvPr id="7" name="Content Placeholder 6"/>
          <p:cNvSpPr>
            <a:spLocks noGrp="1"/>
          </p:cNvSpPr>
          <p:nvPr>
            <p:ph sz="quarter" idx="1"/>
          </p:nvPr>
        </p:nvSpPr>
        <p:spPr/>
        <p:txBody>
          <a:bodyPr>
            <a:noAutofit/>
          </a:bodyPr>
          <a:lstStyle/>
          <a:p>
            <a:pPr algn="just"/>
            <a:r>
              <a:rPr lang="en-IN" sz="1800" dirty="0"/>
              <a:t>Some computers have a </a:t>
            </a:r>
            <a:r>
              <a:rPr lang="en-IN" sz="1800" i="1" dirty="0"/>
              <a:t>level 3 </a:t>
            </a:r>
            <a:r>
              <a:rPr lang="en-IN" sz="1800" dirty="0"/>
              <a:t>(L3) cache of even larger size, in addition to the L1and L2 caches. An L3 cache, also implemented in SRAM technology, may or may not be on the same chip with the processor and the L1 and L2 caches.</a:t>
            </a:r>
          </a:p>
          <a:p>
            <a:pPr algn="just"/>
            <a:r>
              <a:rPr lang="en-IN" sz="1800" dirty="0"/>
              <a:t>The </a:t>
            </a:r>
            <a:r>
              <a:rPr lang="en-IN" sz="1800" i="1" dirty="0"/>
              <a:t>main memory</a:t>
            </a:r>
            <a:r>
              <a:rPr lang="en-IN" sz="1800" dirty="0"/>
              <a:t>. This is a large memory implemented using dynamic memory components, typically assembled in memory modules such as DIMMs or SIMM or RIMM. </a:t>
            </a:r>
          </a:p>
          <a:p>
            <a:pPr algn="just"/>
            <a:r>
              <a:rPr lang="en-IN" sz="1800" dirty="0"/>
              <a:t>The main memory is much larger but significantly slower than cache memories. </a:t>
            </a:r>
          </a:p>
          <a:p>
            <a:pPr algn="just"/>
            <a:r>
              <a:rPr lang="en-IN" sz="1800" dirty="0"/>
              <a:t>Disk devices provide a very large amount of inexpensive memory, and they are widely used as secondary storage in computer systems. They are very slow compared to the main memory. </a:t>
            </a:r>
          </a:p>
          <a:p>
            <a:pPr algn="just"/>
            <a:r>
              <a:rPr lang="en-IN" sz="1800" dirty="0"/>
              <a:t>During program execution, the speed of memory access is of utmost importance. </a:t>
            </a:r>
          </a:p>
          <a:p>
            <a:pPr algn="just"/>
            <a:r>
              <a:rPr lang="en-IN" sz="1800" b="1" dirty="0"/>
              <a:t>The key to managing the operation of the hierarchical memory system is to bring the instructions and data that are about to be used as close to the processor as possible. This is the main purpose of using cache memories.</a:t>
            </a:r>
          </a:p>
        </p:txBody>
      </p:sp>
    </p:spTree>
    <p:extLst>
      <p:ext uri="{BB962C8B-B14F-4D97-AF65-F5344CB8AC3E}">
        <p14:creationId xmlns:p14="http://schemas.microsoft.com/office/powerpoint/2010/main" val="1984160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B7C8-A404-4442-86F3-EDCFA225A3D2}"/>
              </a:ext>
            </a:extLst>
          </p:cNvPr>
          <p:cNvSpPr>
            <a:spLocks noGrp="1"/>
          </p:cNvSpPr>
          <p:nvPr>
            <p:ph type="title"/>
          </p:nvPr>
        </p:nvSpPr>
        <p:spPr/>
        <p:txBody>
          <a:bodyPr/>
          <a:lstStyle/>
          <a:p>
            <a:r>
              <a:rPr lang="en-US" dirty="0"/>
              <a:t>Direct Memory Access - 1</a:t>
            </a:r>
            <a:endParaRPr lang="en-IN" dirty="0"/>
          </a:p>
        </p:txBody>
      </p:sp>
      <p:sp>
        <p:nvSpPr>
          <p:cNvPr id="3" name="Slide Number Placeholder 2">
            <a:extLst>
              <a:ext uri="{FF2B5EF4-FFF2-40B4-BE49-F238E27FC236}">
                <a16:creationId xmlns:a16="http://schemas.microsoft.com/office/drawing/2014/main" id="{4A45D40D-7009-40EF-9316-05FDF00B15C5}"/>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72</a:t>
            </a:fld>
            <a:endParaRPr lang="en-US"/>
          </a:p>
        </p:txBody>
      </p:sp>
      <p:sp>
        <p:nvSpPr>
          <p:cNvPr id="4" name="Content Placeholder 3">
            <a:extLst>
              <a:ext uri="{FF2B5EF4-FFF2-40B4-BE49-F238E27FC236}">
                <a16:creationId xmlns:a16="http://schemas.microsoft.com/office/drawing/2014/main" id="{FA030574-4735-4EF1-9FBD-62608DEAF8AF}"/>
              </a:ext>
            </a:extLst>
          </p:cNvPr>
          <p:cNvSpPr>
            <a:spLocks noGrp="1"/>
          </p:cNvSpPr>
          <p:nvPr>
            <p:ph sz="quarter" idx="1"/>
          </p:nvPr>
        </p:nvSpPr>
        <p:spPr>
          <a:xfrm>
            <a:off x="612648" y="1600200"/>
            <a:ext cx="8153400" cy="5181600"/>
          </a:xfrm>
        </p:spPr>
        <p:txBody>
          <a:bodyPr>
            <a:normAutofit fontScale="62500" lnSpcReduction="20000"/>
          </a:bodyPr>
          <a:lstStyle/>
          <a:p>
            <a:r>
              <a:rPr lang="en-US" dirty="0"/>
              <a:t>Data are transferred from an I/O device to the memory by first reading them from the I/O device using an instruction such as ,</a:t>
            </a:r>
          </a:p>
          <a:p>
            <a:pPr marL="0" indent="0">
              <a:buNone/>
            </a:pPr>
            <a:r>
              <a:rPr lang="en-US" dirty="0"/>
              <a:t>                         Load R2,DATAIN </a:t>
            </a:r>
          </a:p>
          <a:p>
            <a:pPr marL="0" indent="0">
              <a:buNone/>
            </a:pPr>
            <a:r>
              <a:rPr lang="en-US" dirty="0"/>
              <a:t>             which loads the data into a processor register. </a:t>
            </a:r>
          </a:p>
          <a:p>
            <a:pPr marL="0" indent="0">
              <a:buNone/>
            </a:pPr>
            <a:r>
              <a:rPr lang="en-US" dirty="0"/>
              <a:t>Then, the data read are stored into a memory location. </a:t>
            </a:r>
          </a:p>
          <a:p>
            <a:pPr>
              <a:buFont typeface="Wingdings" panose="05000000000000000000" pitchFamily="2" charset="2"/>
              <a:buChar char="q"/>
            </a:pPr>
            <a:r>
              <a:rPr lang="en-US" dirty="0"/>
              <a:t>The reverse process takes place for transferring data from the memory to an I/O device. </a:t>
            </a:r>
          </a:p>
          <a:p>
            <a:pPr>
              <a:buFont typeface="Wingdings" panose="05000000000000000000" pitchFamily="2" charset="2"/>
              <a:buChar char="q"/>
            </a:pPr>
            <a:r>
              <a:rPr lang="en-US" dirty="0"/>
              <a:t>An instruction to transfer input or output data is executed only after the processor determines that the I/O device is ready, either by polling its status register or by waiting for an interrupt request. </a:t>
            </a:r>
          </a:p>
          <a:p>
            <a:pPr>
              <a:buFont typeface="Wingdings" panose="05000000000000000000" pitchFamily="2" charset="2"/>
              <a:buChar char="q"/>
            </a:pPr>
            <a:r>
              <a:rPr lang="en-US" dirty="0"/>
              <a:t>In either case, considerable overhead is incurred, because several program instructions must be executed involving many memory accesses for each </a:t>
            </a:r>
            <a:r>
              <a:rPr lang="en-US" dirty="0" err="1"/>
              <a:t>dataword</a:t>
            </a:r>
            <a:r>
              <a:rPr lang="en-US" dirty="0"/>
              <a:t> transferred.</a:t>
            </a:r>
          </a:p>
          <a:p>
            <a:pPr>
              <a:buFont typeface="Wingdings" panose="05000000000000000000" pitchFamily="2" charset="2"/>
              <a:buChar char="q"/>
            </a:pPr>
            <a:r>
              <a:rPr lang="en-US" dirty="0"/>
              <a:t>When transferring a block of data, instructions are needed to increment the </a:t>
            </a:r>
            <a:r>
              <a:rPr lang="en-US" dirty="0" err="1"/>
              <a:t>memoryaddress</a:t>
            </a:r>
            <a:r>
              <a:rPr lang="en-US" dirty="0"/>
              <a:t> and keep track of the word count.</a:t>
            </a:r>
          </a:p>
          <a:p>
            <a:pPr>
              <a:buFont typeface="Wingdings" panose="05000000000000000000" pitchFamily="2" charset="2"/>
              <a:buChar char="q"/>
            </a:pPr>
            <a:r>
              <a:rPr lang="en-US" dirty="0"/>
              <a:t> The use of interrupts involves operating system routines which incur additional overhead to save and restore processor registers, the program counter, and other state information.</a:t>
            </a:r>
            <a:endParaRPr lang="en-IN" dirty="0"/>
          </a:p>
        </p:txBody>
      </p:sp>
    </p:spTree>
    <p:extLst>
      <p:ext uri="{BB962C8B-B14F-4D97-AF65-F5344CB8AC3E}">
        <p14:creationId xmlns:p14="http://schemas.microsoft.com/office/powerpoint/2010/main" val="11784865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E90C6-3A8F-4DF0-A60A-07DF73607005}"/>
              </a:ext>
            </a:extLst>
          </p:cNvPr>
          <p:cNvSpPr>
            <a:spLocks noGrp="1"/>
          </p:cNvSpPr>
          <p:nvPr>
            <p:ph type="title"/>
          </p:nvPr>
        </p:nvSpPr>
        <p:spPr/>
        <p:txBody>
          <a:bodyPr/>
          <a:lstStyle/>
          <a:p>
            <a:r>
              <a:rPr lang="en-US" dirty="0"/>
              <a:t>Direct Memory Access - 2</a:t>
            </a:r>
            <a:endParaRPr lang="en-IN" dirty="0"/>
          </a:p>
        </p:txBody>
      </p:sp>
      <p:sp>
        <p:nvSpPr>
          <p:cNvPr id="3" name="Slide Number Placeholder 2">
            <a:extLst>
              <a:ext uri="{FF2B5EF4-FFF2-40B4-BE49-F238E27FC236}">
                <a16:creationId xmlns:a16="http://schemas.microsoft.com/office/drawing/2014/main" id="{A4A31DA0-49CF-4A4C-AF40-94BDC7A584F3}"/>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73</a:t>
            </a:fld>
            <a:endParaRPr lang="en-US"/>
          </a:p>
        </p:txBody>
      </p:sp>
      <p:sp>
        <p:nvSpPr>
          <p:cNvPr id="4" name="Content Placeholder 3">
            <a:extLst>
              <a:ext uri="{FF2B5EF4-FFF2-40B4-BE49-F238E27FC236}">
                <a16:creationId xmlns:a16="http://schemas.microsoft.com/office/drawing/2014/main" id="{D280C524-DEF0-46E9-9D6B-D5CD64BD7C4B}"/>
              </a:ext>
            </a:extLst>
          </p:cNvPr>
          <p:cNvSpPr>
            <a:spLocks noGrp="1"/>
          </p:cNvSpPr>
          <p:nvPr>
            <p:ph sz="quarter" idx="1"/>
          </p:nvPr>
        </p:nvSpPr>
        <p:spPr/>
        <p:txBody>
          <a:bodyPr>
            <a:normAutofit fontScale="77500" lnSpcReduction="20000"/>
          </a:bodyPr>
          <a:lstStyle/>
          <a:p>
            <a:r>
              <a:rPr lang="en-US" dirty="0"/>
              <a:t>An alternative approach is used to transfer blocks of data directly between the main memory and I/O devices, such as disks. </a:t>
            </a:r>
          </a:p>
          <a:p>
            <a:r>
              <a:rPr lang="en-US" dirty="0"/>
              <a:t>A special control unit is provided to manage the transfer, without continuous intervention by the processor. This approach is called </a:t>
            </a:r>
            <a:r>
              <a:rPr lang="en-US" b="1" dirty="0"/>
              <a:t>direct memory access, or DMA</a:t>
            </a:r>
            <a:r>
              <a:rPr lang="en-US" dirty="0"/>
              <a:t>. </a:t>
            </a:r>
          </a:p>
          <a:p>
            <a:r>
              <a:rPr lang="en-US" dirty="0"/>
              <a:t>The unit that controls DMA transfers is referred to as a DMA controller. It may be part of the I/O device interface, or it may be a separate unit shared by a number of I/O devices.</a:t>
            </a:r>
          </a:p>
          <a:p>
            <a:r>
              <a:rPr lang="en-US" dirty="0"/>
              <a:t>The DMA controller performs the functions that would normally be carried out by the processor when accessing the main memory.</a:t>
            </a:r>
          </a:p>
          <a:p>
            <a:r>
              <a:rPr lang="en-US" dirty="0"/>
              <a:t> For each word transferred, it provides the memory address and generates all the control signals needed. It increments the memory address for successive words and keeps track of the number of transfers.</a:t>
            </a:r>
            <a:endParaRPr lang="en-IN" dirty="0"/>
          </a:p>
        </p:txBody>
      </p:sp>
    </p:spTree>
    <p:extLst>
      <p:ext uri="{BB962C8B-B14F-4D97-AF65-F5344CB8AC3E}">
        <p14:creationId xmlns:p14="http://schemas.microsoft.com/office/powerpoint/2010/main" val="17196803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A28F-3848-4191-AD19-33E52F2E404A}"/>
              </a:ext>
            </a:extLst>
          </p:cNvPr>
          <p:cNvSpPr>
            <a:spLocks noGrp="1"/>
          </p:cNvSpPr>
          <p:nvPr>
            <p:ph type="title"/>
          </p:nvPr>
        </p:nvSpPr>
        <p:spPr/>
        <p:txBody>
          <a:bodyPr/>
          <a:lstStyle/>
          <a:p>
            <a:r>
              <a:rPr lang="en-US" dirty="0"/>
              <a:t>Direct Memory Access - 3</a:t>
            </a:r>
            <a:endParaRPr lang="en-IN" dirty="0"/>
          </a:p>
        </p:txBody>
      </p:sp>
      <p:sp>
        <p:nvSpPr>
          <p:cNvPr id="3" name="Slide Number Placeholder 2">
            <a:extLst>
              <a:ext uri="{FF2B5EF4-FFF2-40B4-BE49-F238E27FC236}">
                <a16:creationId xmlns:a16="http://schemas.microsoft.com/office/drawing/2014/main" id="{46F1CF9B-C960-4FF3-A35F-AFA239669AA4}"/>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74</a:t>
            </a:fld>
            <a:endParaRPr lang="en-US"/>
          </a:p>
        </p:txBody>
      </p:sp>
      <p:sp>
        <p:nvSpPr>
          <p:cNvPr id="4" name="Content Placeholder 3">
            <a:extLst>
              <a:ext uri="{FF2B5EF4-FFF2-40B4-BE49-F238E27FC236}">
                <a16:creationId xmlns:a16="http://schemas.microsoft.com/office/drawing/2014/main" id="{E5CB6554-64EE-4B66-A25A-88D4ADD516DC}"/>
              </a:ext>
            </a:extLst>
          </p:cNvPr>
          <p:cNvSpPr>
            <a:spLocks noGrp="1"/>
          </p:cNvSpPr>
          <p:nvPr>
            <p:ph sz="quarter" idx="1"/>
          </p:nvPr>
        </p:nvSpPr>
        <p:spPr>
          <a:xfrm>
            <a:off x="612648" y="1600200"/>
            <a:ext cx="8153400" cy="5181600"/>
          </a:xfrm>
        </p:spPr>
        <p:txBody>
          <a:bodyPr>
            <a:normAutofit fontScale="62500" lnSpcReduction="20000"/>
          </a:bodyPr>
          <a:lstStyle/>
          <a:p>
            <a:r>
              <a:rPr lang="en-US" dirty="0"/>
              <a:t>Although a DMA controller transfers data without intervention by the processor, its operation must be under the control of a program executed by the processor, usually an operating system routine. </a:t>
            </a:r>
          </a:p>
          <a:p>
            <a:r>
              <a:rPr lang="en-US" dirty="0"/>
              <a:t>To initiate the transfer of a block of words, the processor sends to the DMA controller the starting address, the number of words in the block, and the direction of the transfer.</a:t>
            </a:r>
          </a:p>
          <a:p>
            <a:r>
              <a:rPr lang="en-US" dirty="0"/>
              <a:t>The DMA controller then proceeds to perform the requested operation. When the entire block has been transferred, it informs the processor by raising an interrupt.</a:t>
            </a:r>
          </a:p>
          <a:p>
            <a:r>
              <a:rPr lang="en-US" dirty="0"/>
              <a:t>Figure 8.12 shows an example of the </a:t>
            </a:r>
            <a:r>
              <a:rPr lang="en-US" dirty="0" err="1"/>
              <a:t>DMAcontroller</a:t>
            </a:r>
            <a:r>
              <a:rPr lang="en-US" dirty="0"/>
              <a:t> registers that are accessed by the processor to initiate data transfer operations. </a:t>
            </a:r>
          </a:p>
          <a:p>
            <a:r>
              <a:rPr lang="en-US" dirty="0"/>
              <a:t>Two registers are used for storing the starting address and the word count. </a:t>
            </a:r>
          </a:p>
          <a:p>
            <a:r>
              <a:rPr lang="en-US" dirty="0"/>
              <a:t>The third register contains status and control flags. </a:t>
            </a:r>
          </a:p>
          <a:p>
            <a:r>
              <a:rPr lang="en-US" dirty="0"/>
              <a:t>The R/W bit determines the direction of the transfer. When this bit is set to 1by a program instruction, the controller performs a Read operation, that is, it transfers data from the memory to </a:t>
            </a:r>
            <a:r>
              <a:rPr lang="en-US" dirty="0" err="1"/>
              <a:t>theI</a:t>
            </a:r>
            <a:r>
              <a:rPr lang="en-US" dirty="0"/>
              <a:t>/O device.</a:t>
            </a:r>
          </a:p>
          <a:p>
            <a:r>
              <a:rPr lang="en-US" dirty="0"/>
              <a:t> Otherwise, it performs a Write operation. Additional information is also transferred as may be required by the I/O device. For example, in the case of a disk, the processor provides the disk controller with information to identify where the data is located on the disk .</a:t>
            </a:r>
            <a:endParaRPr lang="en-IN" dirty="0"/>
          </a:p>
        </p:txBody>
      </p:sp>
    </p:spTree>
    <p:extLst>
      <p:ext uri="{BB962C8B-B14F-4D97-AF65-F5344CB8AC3E}">
        <p14:creationId xmlns:p14="http://schemas.microsoft.com/office/powerpoint/2010/main" val="37603421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5AD22-A468-41BE-9524-783BBD9557BE}"/>
              </a:ext>
            </a:extLst>
          </p:cNvPr>
          <p:cNvSpPr>
            <a:spLocks noGrp="1"/>
          </p:cNvSpPr>
          <p:nvPr>
            <p:ph type="title"/>
          </p:nvPr>
        </p:nvSpPr>
        <p:spPr/>
        <p:txBody>
          <a:bodyPr/>
          <a:lstStyle/>
          <a:p>
            <a:r>
              <a:rPr lang="en-US" dirty="0"/>
              <a:t>Direct Memory Access - 4</a:t>
            </a:r>
            <a:endParaRPr lang="en-IN" dirty="0"/>
          </a:p>
        </p:txBody>
      </p:sp>
      <p:sp>
        <p:nvSpPr>
          <p:cNvPr id="3" name="Slide Number Placeholder 2">
            <a:extLst>
              <a:ext uri="{FF2B5EF4-FFF2-40B4-BE49-F238E27FC236}">
                <a16:creationId xmlns:a16="http://schemas.microsoft.com/office/drawing/2014/main" id="{E86BFD29-87DC-41DC-9816-EA392831961E}"/>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75</a:t>
            </a:fld>
            <a:endParaRPr lang="en-US"/>
          </a:p>
        </p:txBody>
      </p:sp>
      <p:pic>
        <p:nvPicPr>
          <p:cNvPr id="6" name="Content Placeholder 5">
            <a:extLst>
              <a:ext uri="{FF2B5EF4-FFF2-40B4-BE49-F238E27FC236}">
                <a16:creationId xmlns:a16="http://schemas.microsoft.com/office/drawing/2014/main" id="{EAB127E4-6686-4106-9B41-560EB0F4047E}"/>
              </a:ext>
            </a:extLst>
          </p:cNvPr>
          <p:cNvPicPr>
            <a:picLocks noGrp="1" noChangeAspect="1"/>
          </p:cNvPicPr>
          <p:nvPr>
            <p:ph sz="quarter" idx="1"/>
          </p:nvPr>
        </p:nvPicPr>
        <p:blipFill>
          <a:blip r:embed="rId2"/>
          <a:stretch>
            <a:fillRect/>
          </a:stretch>
        </p:blipFill>
        <p:spPr>
          <a:xfrm>
            <a:off x="1295400" y="3429000"/>
            <a:ext cx="6781800" cy="3581400"/>
          </a:xfrm>
        </p:spPr>
      </p:pic>
      <p:sp>
        <p:nvSpPr>
          <p:cNvPr id="9" name="TextBox 8">
            <a:extLst>
              <a:ext uri="{FF2B5EF4-FFF2-40B4-BE49-F238E27FC236}">
                <a16:creationId xmlns:a16="http://schemas.microsoft.com/office/drawing/2014/main" id="{647848D0-98EB-4E9E-957E-BC63D4090692}"/>
              </a:ext>
            </a:extLst>
          </p:cNvPr>
          <p:cNvSpPr txBox="1"/>
          <p:nvPr/>
        </p:nvSpPr>
        <p:spPr>
          <a:xfrm>
            <a:off x="533400" y="1676400"/>
            <a:ext cx="823264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When the controller has completed transferring a block of data and is ready to receive </a:t>
            </a:r>
            <a:r>
              <a:rPr lang="en-US" dirty="0" err="1"/>
              <a:t>anothercommand,it</a:t>
            </a:r>
            <a:r>
              <a:rPr lang="en-US" dirty="0"/>
              <a:t> sets the </a:t>
            </a:r>
            <a:r>
              <a:rPr lang="en-US" dirty="0" err="1"/>
              <a:t>Doneflag</a:t>
            </a:r>
            <a:r>
              <a:rPr lang="en-US" dirty="0"/>
              <a:t> to1. </a:t>
            </a:r>
          </a:p>
          <a:p>
            <a:pPr marL="285750" indent="-285750">
              <a:buFont typeface="Arial" panose="020B0604020202020204" pitchFamily="34" charset="0"/>
              <a:buChar char="•"/>
            </a:pPr>
            <a:r>
              <a:rPr lang="en-US" dirty="0"/>
              <a:t>Bit30 is the Interrupt-</a:t>
            </a:r>
            <a:r>
              <a:rPr lang="en-US" dirty="0" err="1"/>
              <a:t>enableflag,IE</a:t>
            </a:r>
            <a:r>
              <a:rPr lang="en-US" dirty="0"/>
              <a:t>.</a:t>
            </a:r>
          </a:p>
          <a:p>
            <a:pPr marL="285750" indent="-285750">
              <a:buFont typeface="Arial" panose="020B0604020202020204" pitchFamily="34" charset="0"/>
              <a:buChar char="•"/>
            </a:pPr>
            <a:r>
              <a:rPr lang="en-US" dirty="0"/>
              <a:t>When this flag is set to 1, it causes the controller to raise an interrupt after it has completed transferring a block of data. Finally, the controller sets the IRQ bit to1when it has requested an interrupt.</a:t>
            </a:r>
            <a:endParaRPr lang="en-IN" dirty="0"/>
          </a:p>
        </p:txBody>
      </p:sp>
    </p:spTree>
    <p:extLst>
      <p:ext uri="{BB962C8B-B14F-4D97-AF65-F5344CB8AC3E}">
        <p14:creationId xmlns:p14="http://schemas.microsoft.com/office/powerpoint/2010/main" val="3571313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6A1F-2E1E-4DC9-A167-89C3BCC169EC}"/>
              </a:ext>
            </a:extLst>
          </p:cNvPr>
          <p:cNvSpPr>
            <a:spLocks noGrp="1"/>
          </p:cNvSpPr>
          <p:nvPr>
            <p:ph type="title"/>
          </p:nvPr>
        </p:nvSpPr>
        <p:spPr/>
        <p:txBody>
          <a:bodyPr/>
          <a:lstStyle/>
          <a:p>
            <a:r>
              <a:rPr lang="en-US" dirty="0"/>
              <a:t>Direct Memory Access - 5</a:t>
            </a:r>
            <a:endParaRPr lang="en-IN" dirty="0"/>
          </a:p>
        </p:txBody>
      </p:sp>
      <p:sp>
        <p:nvSpPr>
          <p:cNvPr id="3" name="Slide Number Placeholder 2">
            <a:extLst>
              <a:ext uri="{FF2B5EF4-FFF2-40B4-BE49-F238E27FC236}">
                <a16:creationId xmlns:a16="http://schemas.microsoft.com/office/drawing/2014/main" id="{97E009F8-A6DE-4391-96AD-270E40395E68}"/>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76</a:t>
            </a:fld>
            <a:endParaRPr lang="en-US"/>
          </a:p>
        </p:txBody>
      </p:sp>
      <p:pic>
        <p:nvPicPr>
          <p:cNvPr id="6" name="Content Placeholder 5">
            <a:extLst>
              <a:ext uri="{FF2B5EF4-FFF2-40B4-BE49-F238E27FC236}">
                <a16:creationId xmlns:a16="http://schemas.microsoft.com/office/drawing/2014/main" id="{4BEF07F8-FD2C-4DEF-9488-D6EA8C92DE79}"/>
              </a:ext>
            </a:extLst>
          </p:cNvPr>
          <p:cNvPicPr>
            <a:picLocks noGrp="1" noChangeAspect="1"/>
          </p:cNvPicPr>
          <p:nvPr>
            <p:ph sz="quarter" idx="1"/>
          </p:nvPr>
        </p:nvPicPr>
        <p:blipFill>
          <a:blip r:embed="rId2"/>
          <a:stretch>
            <a:fillRect/>
          </a:stretch>
        </p:blipFill>
        <p:spPr>
          <a:xfrm>
            <a:off x="1219200" y="1766887"/>
            <a:ext cx="5714999" cy="3414713"/>
          </a:xfrm>
        </p:spPr>
      </p:pic>
      <p:sp>
        <p:nvSpPr>
          <p:cNvPr id="7" name="TextBox 6">
            <a:extLst>
              <a:ext uri="{FF2B5EF4-FFF2-40B4-BE49-F238E27FC236}">
                <a16:creationId xmlns:a16="http://schemas.microsoft.com/office/drawing/2014/main" id="{AED814E1-2621-469B-9A88-0516415EEF6F}"/>
              </a:ext>
            </a:extLst>
          </p:cNvPr>
          <p:cNvSpPr txBox="1"/>
          <p:nvPr/>
        </p:nvSpPr>
        <p:spPr>
          <a:xfrm>
            <a:off x="228600" y="5181600"/>
            <a:ext cx="86106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One DMA controller connects a high-speed Ethernet to the computer’s I/O bus.</a:t>
            </a:r>
          </a:p>
          <a:p>
            <a:pPr marL="285750" indent="-285750">
              <a:buFont typeface="Arial" panose="020B0604020202020204" pitchFamily="34" charset="0"/>
              <a:buChar char="•"/>
            </a:pPr>
            <a:r>
              <a:rPr lang="en-US" dirty="0"/>
              <a:t>The disk controller, which controls two disks, also has DMA capability and provides two DMA channels. It can perform two independent DMA operations, as if each disk had its own DMA controller. The registers needed to store the memory address, the word count, and so on, are duplicated, so that one set can be used with each disk.</a:t>
            </a:r>
            <a:endParaRPr lang="en-IN" dirty="0"/>
          </a:p>
        </p:txBody>
      </p:sp>
    </p:spTree>
    <p:extLst>
      <p:ext uri="{BB962C8B-B14F-4D97-AF65-F5344CB8AC3E}">
        <p14:creationId xmlns:p14="http://schemas.microsoft.com/office/powerpoint/2010/main" val="41147140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B6CE4-B01C-43CA-A6A9-8D0013C435F9}"/>
              </a:ext>
            </a:extLst>
          </p:cNvPr>
          <p:cNvSpPr>
            <a:spLocks noGrp="1"/>
          </p:cNvSpPr>
          <p:nvPr>
            <p:ph type="title"/>
          </p:nvPr>
        </p:nvSpPr>
        <p:spPr/>
        <p:txBody>
          <a:bodyPr/>
          <a:lstStyle/>
          <a:p>
            <a:r>
              <a:rPr lang="en-US" dirty="0"/>
              <a:t>Direct Memory Access - 6</a:t>
            </a:r>
            <a:endParaRPr lang="en-IN" dirty="0"/>
          </a:p>
        </p:txBody>
      </p:sp>
      <p:sp>
        <p:nvSpPr>
          <p:cNvPr id="3" name="Slide Number Placeholder 2">
            <a:extLst>
              <a:ext uri="{FF2B5EF4-FFF2-40B4-BE49-F238E27FC236}">
                <a16:creationId xmlns:a16="http://schemas.microsoft.com/office/drawing/2014/main" id="{A121D399-3EBB-454E-B482-9B77CFFADBD9}"/>
              </a:ext>
            </a:extLst>
          </p:cNvPr>
          <p:cNvSpPr>
            <a:spLocks noGrp="1"/>
          </p:cNvSpPr>
          <p:nvPr>
            <p:ph type="sldNum" sz="quarter" idx="12"/>
          </p:nvPr>
        </p:nvSpPr>
        <p:spPr/>
        <p:txBody>
          <a:bodyPr/>
          <a:lstStyle/>
          <a:p>
            <a:fld id="{B6F15528-21DE-4FAA-801E-634DDDAF4B2B}" type="slidenum">
              <a:rPr lang="en-US" smtClean="0"/>
              <a:pPr/>
              <a:t>77</a:t>
            </a:fld>
            <a:endParaRPr lang="en-US"/>
          </a:p>
        </p:txBody>
      </p:sp>
      <p:sp>
        <p:nvSpPr>
          <p:cNvPr id="4" name="Content Placeholder 3">
            <a:extLst>
              <a:ext uri="{FF2B5EF4-FFF2-40B4-BE49-F238E27FC236}">
                <a16:creationId xmlns:a16="http://schemas.microsoft.com/office/drawing/2014/main" id="{35D852F2-CE57-4511-A6E2-588006F2E14B}"/>
              </a:ext>
            </a:extLst>
          </p:cNvPr>
          <p:cNvSpPr>
            <a:spLocks noGrp="1"/>
          </p:cNvSpPr>
          <p:nvPr>
            <p:ph sz="quarter" idx="1"/>
          </p:nvPr>
        </p:nvSpPr>
        <p:spPr>
          <a:xfrm>
            <a:off x="612648" y="1600200"/>
            <a:ext cx="8153400" cy="5181600"/>
          </a:xfrm>
        </p:spPr>
        <p:txBody>
          <a:bodyPr>
            <a:normAutofit fontScale="92500" lnSpcReduction="20000"/>
          </a:bodyPr>
          <a:lstStyle/>
          <a:p>
            <a:r>
              <a:rPr lang="en-US" dirty="0"/>
              <a:t>To start a DMA transfer of a block of data from the main memory to one of the disks, an OS routine writes the address and word count information into the registers of the disk controller.</a:t>
            </a:r>
          </a:p>
          <a:p>
            <a:r>
              <a:rPr lang="en-US" dirty="0"/>
              <a:t> The DMA controller proceeds independently to implement the specified operation. </a:t>
            </a:r>
          </a:p>
          <a:p>
            <a:r>
              <a:rPr lang="en-US" dirty="0"/>
              <a:t>When the transfer is completed, this fact is recorded in the status and control register of the DMA channel by setting the Done bit. </a:t>
            </a:r>
          </a:p>
          <a:p>
            <a:r>
              <a:rPr lang="en-US" dirty="0"/>
              <a:t>At the same time, if the IE bit is set, the controller sends an interrupt request to the processor and sets the IRQ bit. The status register may also be used to record other information, such as whether the transfer took place correctly or errors occurred.</a:t>
            </a:r>
            <a:endParaRPr lang="en-IN" dirty="0"/>
          </a:p>
        </p:txBody>
      </p:sp>
    </p:spTree>
    <p:extLst>
      <p:ext uri="{BB962C8B-B14F-4D97-AF65-F5344CB8AC3E}">
        <p14:creationId xmlns:p14="http://schemas.microsoft.com/office/powerpoint/2010/main" val="3921769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Memories-1</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78</a:t>
            </a:fld>
            <a:endParaRPr lang="en-US"/>
          </a:p>
        </p:txBody>
      </p:sp>
      <p:sp>
        <p:nvSpPr>
          <p:cNvPr id="4" name="Content Placeholder 3"/>
          <p:cNvSpPr>
            <a:spLocks noGrp="1"/>
          </p:cNvSpPr>
          <p:nvPr>
            <p:ph sz="quarter" idx="1"/>
          </p:nvPr>
        </p:nvSpPr>
        <p:spPr/>
        <p:txBody>
          <a:bodyPr/>
          <a:lstStyle/>
          <a:p>
            <a:pPr algn="just"/>
            <a:r>
              <a:rPr lang="en-IN" dirty="0"/>
              <a:t>The cache is a small and very fast memory, interposed between the processor and the main memory. </a:t>
            </a:r>
          </a:p>
          <a:p>
            <a:pPr algn="just"/>
            <a:r>
              <a:rPr lang="en-IN" dirty="0"/>
              <a:t>Its purpose is to make the main memory appear to the processor to be much faster than it actually is. </a:t>
            </a:r>
          </a:p>
          <a:p>
            <a:pPr algn="just"/>
            <a:r>
              <a:rPr lang="en-IN" dirty="0"/>
              <a:t>The effectiveness of this approach is based on a property of computer programs called </a:t>
            </a:r>
            <a:r>
              <a:rPr lang="en-IN" b="1" i="1" dirty="0"/>
              <a:t>locality of reference</a:t>
            </a:r>
            <a:r>
              <a:rPr lang="en-IN" b="1" dirty="0"/>
              <a:t>.</a:t>
            </a:r>
          </a:p>
        </p:txBody>
      </p:sp>
    </p:spTree>
    <p:extLst>
      <p:ext uri="{BB962C8B-B14F-4D97-AF65-F5344CB8AC3E}">
        <p14:creationId xmlns:p14="http://schemas.microsoft.com/office/powerpoint/2010/main" val="4730809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Memories-2</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79</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IN" dirty="0"/>
              <a:t>Analysis of programs shows that most of their execution time is spent in routines in which many instructions are executed repeatedly.</a:t>
            </a:r>
          </a:p>
          <a:p>
            <a:pPr algn="just"/>
            <a:r>
              <a:rPr lang="en-IN" dirty="0"/>
              <a:t>The actual detailed pattern of instruction sequencing is not important—the point is that many instructions in localized areas of the program are executed repeatedly during some time period. </a:t>
            </a:r>
          </a:p>
          <a:p>
            <a:pPr algn="just"/>
            <a:r>
              <a:rPr lang="en-IN" dirty="0"/>
              <a:t>This behaviour manifests itself in two ways: </a:t>
            </a:r>
            <a:r>
              <a:rPr lang="en-IN" b="1" dirty="0"/>
              <a:t>temporal and spatial. </a:t>
            </a:r>
          </a:p>
          <a:p>
            <a:pPr algn="just"/>
            <a:r>
              <a:rPr lang="en-IN" b="1" dirty="0"/>
              <a:t>Temporal -</a:t>
            </a:r>
            <a:r>
              <a:rPr lang="en-IN" dirty="0"/>
              <a:t> recently executed instruction is likely to be executed again very soon. </a:t>
            </a:r>
          </a:p>
          <a:p>
            <a:pPr algn="just"/>
            <a:r>
              <a:rPr lang="en-IN" b="1" dirty="0"/>
              <a:t>The spatial- </a:t>
            </a:r>
            <a:r>
              <a:rPr lang="en-IN" dirty="0"/>
              <a:t>means that instructions close to a recently executed instruction are also likely to be executed soon.</a:t>
            </a:r>
          </a:p>
        </p:txBody>
      </p:sp>
    </p:spTree>
    <p:extLst>
      <p:ext uri="{BB962C8B-B14F-4D97-AF65-F5344CB8AC3E}">
        <p14:creationId xmlns:p14="http://schemas.microsoft.com/office/powerpoint/2010/main" val="4522795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Memories-3</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80</a:t>
            </a:fld>
            <a:endParaRPr lang="en-US"/>
          </a:p>
        </p:txBody>
      </p:sp>
      <p:sp>
        <p:nvSpPr>
          <p:cNvPr id="4" name="Content Placeholder 3"/>
          <p:cNvSpPr>
            <a:spLocks noGrp="1"/>
          </p:cNvSpPr>
          <p:nvPr>
            <p:ph sz="quarter" idx="1"/>
          </p:nvPr>
        </p:nvSpPr>
        <p:spPr/>
        <p:txBody>
          <a:bodyPr>
            <a:normAutofit fontScale="92500" lnSpcReduction="20000"/>
          </a:bodyPr>
          <a:lstStyle/>
          <a:p>
            <a:pPr algn="just"/>
            <a:r>
              <a:rPr lang="en-IN" dirty="0"/>
              <a:t>The memory control circuitry is designed to take advantage of the property of locality of reference. </a:t>
            </a:r>
          </a:p>
          <a:p>
            <a:pPr algn="just"/>
            <a:r>
              <a:rPr lang="en-IN" dirty="0"/>
              <a:t>Temporal locality suggests that whenever an information item, instruction or data, is first needed, this item should be brought into the cache, because it is likely to be needed again soon. </a:t>
            </a:r>
          </a:p>
          <a:p>
            <a:pPr algn="just"/>
            <a:r>
              <a:rPr lang="en-IN" dirty="0"/>
              <a:t>Spatial locality suggests that instead of fetching just one item from the main memory to the cache, it is useful to fetch several items that are located at adjacent addresses as well. </a:t>
            </a:r>
          </a:p>
          <a:p>
            <a:pPr algn="just"/>
            <a:r>
              <a:rPr lang="en-IN" dirty="0"/>
              <a:t>The term </a:t>
            </a:r>
            <a:r>
              <a:rPr lang="en-IN" b="1" i="1" dirty="0"/>
              <a:t>cache block or cache line</a:t>
            </a:r>
            <a:r>
              <a:rPr lang="en-IN" i="1" dirty="0"/>
              <a:t> </a:t>
            </a:r>
            <a:r>
              <a:rPr lang="en-IN" dirty="0"/>
              <a:t>refers to a set of contiguous address locations of some size.</a:t>
            </a:r>
          </a:p>
        </p:txBody>
      </p:sp>
    </p:spTree>
    <p:extLst>
      <p:ext uri="{BB962C8B-B14F-4D97-AF65-F5344CB8AC3E}">
        <p14:creationId xmlns:p14="http://schemas.microsoft.com/office/powerpoint/2010/main" val="41575728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Memories-4</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81</a:t>
            </a:fld>
            <a:endParaRPr lang="en-US"/>
          </a:p>
        </p:txBody>
      </p:sp>
      <p:sp>
        <p:nvSpPr>
          <p:cNvPr id="4" name="Content Placeholder 3"/>
          <p:cNvSpPr>
            <a:spLocks noGrp="1"/>
          </p:cNvSpPr>
          <p:nvPr>
            <p:ph sz="quarter" idx="1"/>
          </p:nvPr>
        </p:nvSpPr>
        <p:spPr/>
        <p:txBody>
          <a:bodyPr>
            <a:normAutofit/>
          </a:bodyPr>
          <a:lstStyle/>
          <a:p>
            <a:r>
              <a:rPr lang="en-IN" dirty="0"/>
              <a:t>Use of a cache memory.</a:t>
            </a:r>
          </a:p>
          <a:p>
            <a:endParaRPr lang="en-IN" dirty="0"/>
          </a:p>
          <a:p>
            <a:endParaRPr lang="en-IN" dirty="0"/>
          </a:p>
          <a:p>
            <a:endParaRPr lang="en-IN" dirty="0"/>
          </a:p>
          <a:p>
            <a:endParaRPr lang="en-IN" dirty="0"/>
          </a:p>
          <a:p>
            <a:pPr algn="just"/>
            <a:r>
              <a:rPr lang="en-IN" dirty="0"/>
              <a:t>When the processor issues a Read request, the contents of a block of memory words containing the location specified are transferred into the cache.</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057400"/>
            <a:ext cx="4943475" cy="226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10137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Memories-5</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82</a:t>
            </a:fld>
            <a:endParaRPr lang="en-US"/>
          </a:p>
        </p:txBody>
      </p:sp>
      <p:sp>
        <p:nvSpPr>
          <p:cNvPr id="4" name="Content Placeholder 3"/>
          <p:cNvSpPr>
            <a:spLocks noGrp="1"/>
          </p:cNvSpPr>
          <p:nvPr>
            <p:ph sz="quarter" idx="1"/>
          </p:nvPr>
        </p:nvSpPr>
        <p:spPr/>
        <p:txBody>
          <a:bodyPr>
            <a:noAutofit/>
          </a:bodyPr>
          <a:lstStyle/>
          <a:p>
            <a:pPr algn="just"/>
            <a:r>
              <a:rPr lang="en-IN" sz="2000" dirty="0"/>
              <a:t>Subsequently, when the program references any of the locations in this block, the desired contents are read directly from the cache. </a:t>
            </a:r>
          </a:p>
          <a:p>
            <a:pPr algn="just"/>
            <a:r>
              <a:rPr lang="en-IN" sz="2000" dirty="0"/>
              <a:t>Usually, the cache memory can store a reasonable number of blocks at any given time, but this number is small compared to the total number of blocks in the main memory. </a:t>
            </a:r>
          </a:p>
          <a:p>
            <a:pPr algn="just"/>
            <a:r>
              <a:rPr lang="en-IN" sz="2000" dirty="0"/>
              <a:t>The correspondence between the main memory blocks and those in the cache is specified by a </a:t>
            </a:r>
            <a:r>
              <a:rPr lang="en-IN" sz="2000" b="1" i="1" dirty="0"/>
              <a:t>mapping function</a:t>
            </a:r>
            <a:r>
              <a:rPr lang="en-IN" sz="2000" b="1" dirty="0"/>
              <a:t>.</a:t>
            </a:r>
            <a:r>
              <a:rPr lang="en-IN" sz="2000" dirty="0"/>
              <a:t> </a:t>
            </a:r>
          </a:p>
          <a:p>
            <a:pPr algn="just"/>
            <a:r>
              <a:rPr lang="en-IN" sz="2000" dirty="0"/>
              <a:t>When the cache is full and a memory word (instruction or data) that is not in the cache is referenced, the cache control hardware must decide which block should be removed to create space for the new block that contains the referenced word. The collection of rules for making this decision constitutes the cache’s </a:t>
            </a:r>
            <a:r>
              <a:rPr lang="en-IN" sz="2000" b="1" i="1" dirty="0"/>
              <a:t>replacement algorithm</a:t>
            </a:r>
            <a:r>
              <a:rPr lang="en-IN" sz="2000" b="1" dirty="0"/>
              <a:t>.</a:t>
            </a:r>
          </a:p>
        </p:txBody>
      </p:sp>
    </p:spTree>
    <p:extLst>
      <p:ext uri="{BB962C8B-B14F-4D97-AF65-F5344CB8AC3E}">
        <p14:creationId xmlns:p14="http://schemas.microsoft.com/office/powerpoint/2010/main" val="38256082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Memories-6</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83</a:t>
            </a:fld>
            <a:endParaRPr lang="en-US"/>
          </a:p>
        </p:txBody>
      </p:sp>
      <p:sp>
        <p:nvSpPr>
          <p:cNvPr id="4" name="Content Placeholder 3"/>
          <p:cNvSpPr>
            <a:spLocks noGrp="1"/>
          </p:cNvSpPr>
          <p:nvPr>
            <p:ph sz="quarter" idx="1"/>
          </p:nvPr>
        </p:nvSpPr>
        <p:spPr/>
        <p:txBody>
          <a:bodyPr>
            <a:normAutofit fontScale="92500" lnSpcReduction="10000"/>
          </a:bodyPr>
          <a:lstStyle/>
          <a:p>
            <a:pPr algn="just"/>
            <a:r>
              <a:rPr lang="en-IN" b="1" dirty="0"/>
              <a:t>Cache Hits</a:t>
            </a:r>
          </a:p>
          <a:p>
            <a:pPr algn="just"/>
            <a:r>
              <a:rPr lang="en-IN" dirty="0"/>
              <a:t>The processor does not need to know explicitly about the existence of the cache. It simply issues R/W requests using addresses that refer to locations in the memory.</a:t>
            </a:r>
          </a:p>
          <a:p>
            <a:pPr algn="just"/>
            <a:r>
              <a:rPr lang="en-IN" dirty="0"/>
              <a:t>The cache control circuitry determines whether the requested word currently exists in the cache. If it does, the R/W operation is performed on the appropriate cache location. In this case, a </a:t>
            </a:r>
            <a:r>
              <a:rPr lang="en-IN" i="1" dirty="0"/>
              <a:t>read </a:t>
            </a:r>
            <a:r>
              <a:rPr lang="en-IN" dirty="0"/>
              <a:t>or </a:t>
            </a:r>
            <a:r>
              <a:rPr lang="en-IN" i="1" dirty="0"/>
              <a:t>write hit </a:t>
            </a:r>
            <a:r>
              <a:rPr lang="en-IN" dirty="0"/>
              <a:t>is said to have occurred. The main memory is not involved when there is a </a:t>
            </a:r>
            <a:r>
              <a:rPr lang="en-IN" b="1" dirty="0"/>
              <a:t>cache hit</a:t>
            </a:r>
            <a:r>
              <a:rPr lang="en-IN" dirty="0"/>
              <a:t> in a Read/Write operation.</a:t>
            </a:r>
            <a:endParaRPr lang="en-IN" b="1" dirty="0"/>
          </a:p>
          <a:p>
            <a:pPr algn="just"/>
            <a:endParaRPr lang="en-IN" dirty="0"/>
          </a:p>
        </p:txBody>
      </p:sp>
    </p:spTree>
    <p:extLst>
      <p:ext uri="{BB962C8B-B14F-4D97-AF65-F5344CB8AC3E}">
        <p14:creationId xmlns:p14="http://schemas.microsoft.com/office/powerpoint/2010/main" val="32081912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Memories-7</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84</a:t>
            </a:fld>
            <a:endParaRPr lang="en-US"/>
          </a:p>
        </p:txBody>
      </p:sp>
      <p:sp>
        <p:nvSpPr>
          <p:cNvPr id="4" name="Content Placeholder 3"/>
          <p:cNvSpPr>
            <a:spLocks noGrp="1"/>
          </p:cNvSpPr>
          <p:nvPr>
            <p:ph sz="quarter" idx="1"/>
          </p:nvPr>
        </p:nvSpPr>
        <p:spPr/>
        <p:txBody>
          <a:bodyPr>
            <a:normAutofit fontScale="92500" lnSpcReduction="20000"/>
          </a:bodyPr>
          <a:lstStyle/>
          <a:p>
            <a:pPr algn="just"/>
            <a:r>
              <a:rPr lang="en-IN" dirty="0"/>
              <a:t>For a Write operation, the system can proceed in one of two ways. </a:t>
            </a:r>
          </a:p>
          <a:p>
            <a:pPr algn="just"/>
            <a:r>
              <a:rPr lang="en-IN" dirty="0"/>
              <a:t>In the </a:t>
            </a:r>
            <a:r>
              <a:rPr lang="en-IN" b="1" dirty="0"/>
              <a:t>first technique</a:t>
            </a:r>
            <a:r>
              <a:rPr lang="en-IN" dirty="0"/>
              <a:t>, called the </a:t>
            </a:r>
            <a:r>
              <a:rPr lang="en-IN" b="1" i="1" dirty="0"/>
              <a:t>write-through </a:t>
            </a:r>
            <a:r>
              <a:rPr lang="en-IN" b="1" dirty="0"/>
              <a:t>protocol</a:t>
            </a:r>
            <a:r>
              <a:rPr lang="en-IN" dirty="0"/>
              <a:t>, both the cache location and the main memory location are updated. </a:t>
            </a:r>
          </a:p>
          <a:p>
            <a:pPr algn="just"/>
            <a:r>
              <a:rPr lang="en-IN" dirty="0"/>
              <a:t>The </a:t>
            </a:r>
            <a:r>
              <a:rPr lang="en-IN" b="1" dirty="0"/>
              <a:t>second technique</a:t>
            </a:r>
            <a:r>
              <a:rPr lang="en-IN" dirty="0"/>
              <a:t> is to update only the cache location and to </a:t>
            </a:r>
            <a:r>
              <a:rPr lang="en-IN" b="1" dirty="0"/>
              <a:t>mark the block containing it with an associated flag bit</a:t>
            </a:r>
            <a:r>
              <a:rPr lang="en-IN" dirty="0"/>
              <a:t>, often called the </a:t>
            </a:r>
            <a:r>
              <a:rPr lang="en-IN" b="1" i="1" dirty="0"/>
              <a:t>dirty </a:t>
            </a:r>
            <a:r>
              <a:rPr lang="en-IN" b="1" dirty="0"/>
              <a:t>or </a:t>
            </a:r>
            <a:r>
              <a:rPr lang="en-IN" b="1" i="1" dirty="0"/>
              <a:t>modified bit</a:t>
            </a:r>
            <a:r>
              <a:rPr lang="en-IN" dirty="0"/>
              <a:t>. </a:t>
            </a:r>
          </a:p>
          <a:p>
            <a:pPr lvl="1" algn="just"/>
            <a:r>
              <a:rPr lang="en-IN" dirty="0"/>
              <a:t>The main memory location of the word is updated later, when the block containing this marked word is removed from the cache to make room for a new block. </a:t>
            </a:r>
            <a:r>
              <a:rPr lang="en-IN" b="1" dirty="0"/>
              <a:t>This technique is known as the </a:t>
            </a:r>
            <a:r>
              <a:rPr lang="en-IN" b="1" i="1" dirty="0"/>
              <a:t>write-back</a:t>
            </a:r>
            <a:r>
              <a:rPr lang="en-IN" b="1" dirty="0"/>
              <a:t>, or </a:t>
            </a:r>
            <a:r>
              <a:rPr lang="en-IN" b="1" i="1" dirty="0"/>
              <a:t>copy-back</a:t>
            </a:r>
            <a:r>
              <a:rPr lang="en-IN" b="1" dirty="0"/>
              <a:t>, protocol</a:t>
            </a:r>
            <a:r>
              <a:rPr lang="en-IN" dirty="0"/>
              <a:t>.</a:t>
            </a:r>
          </a:p>
        </p:txBody>
      </p:sp>
    </p:spTree>
    <p:extLst>
      <p:ext uri="{BB962C8B-B14F-4D97-AF65-F5344CB8AC3E}">
        <p14:creationId xmlns:p14="http://schemas.microsoft.com/office/powerpoint/2010/main" val="36776439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Memories-8</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85</a:t>
            </a:fld>
            <a:endParaRPr lang="en-US"/>
          </a:p>
        </p:txBody>
      </p:sp>
      <p:sp>
        <p:nvSpPr>
          <p:cNvPr id="4" name="Content Placeholder 3"/>
          <p:cNvSpPr>
            <a:spLocks noGrp="1"/>
          </p:cNvSpPr>
          <p:nvPr>
            <p:ph sz="quarter" idx="1"/>
          </p:nvPr>
        </p:nvSpPr>
        <p:spPr/>
        <p:txBody>
          <a:bodyPr>
            <a:normAutofit fontScale="92500" lnSpcReduction="20000"/>
          </a:bodyPr>
          <a:lstStyle/>
          <a:p>
            <a:pPr algn="just"/>
            <a:r>
              <a:rPr lang="en-IN" dirty="0"/>
              <a:t>The write-through protocol is simpler than the write-back protocol, but it results in unnecessary Write operations in the main memory when a given cache word is updated several times during its cache residency. </a:t>
            </a:r>
          </a:p>
          <a:p>
            <a:pPr algn="just"/>
            <a:r>
              <a:rPr lang="en-IN" dirty="0"/>
              <a:t>The write-back protocol also involves unnecessary Write operations, because all words of the block are eventually written back, even if only a single word has been changed while the block was in the cache. </a:t>
            </a:r>
          </a:p>
          <a:p>
            <a:pPr algn="just"/>
            <a:r>
              <a:rPr lang="en-IN" dirty="0"/>
              <a:t>The write-back protocol is used most often, to take advantage of the high speed with which data blocks can be transferred to memory chips.</a:t>
            </a:r>
          </a:p>
        </p:txBody>
      </p:sp>
    </p:spTree>
    <p:extLst>
      <p:ext uri="{BB962C8B-B14F-4D97-AF65-F5344CB8AC3E}">
        <p14:creationId xmlns:p14="http://schemas.microsoft.com/office/powerpoint/2010/main" val="14941639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Memories-9</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86</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IN" b="1" dirty="0"/>
              <a:t>Cache Misses</a:t>
            </a:r>
          </a:p>
          <a:p>
            <a:pPr algn="just"/>
            <a:r>
              <a:rPr lang="en-IN" dirty="0"/>
              <a:t>A Read operation for a word that is not in the cache constitutes a </a:t>
            </a:r>
            <a:r>
              <a:rPr lang="en-IN" i="1" dirty="0"/>
              <a:t>Read miss</a:t>
            </a:r>
            <a:r>
              <a:rPr lang="en-IN" dirty="0"/>
              <a:t>. </a:t>
            </a:r>
          </a:p>
          <a:p>
            <a:pPr algn="just"/>
            <a:r>
              <a:rPr lang="en-IN" dirty="0"/>
              <a:t>It causes the block of words containing the requested word to be copied from the main memory into the cache. After the entire block is loaded into the cache, the particular word requested is forwarded to the processor. </a:t>
            </a:r>
          </a:p>
          <a:p>
            <a:pPr algn="just"/>
            <a:r>
              <a:rPr lang="en-IN" b="1" dirty="0"/>
              <a:t>Alternatively, this word may be sent to the processor as soon as it is read from the main memory. </a:t>
            </a:r>
          </a:p>
          <a:p>
            <a:pPr algn="just"/>
            <a:r>
              <a:rPr lang="en-IN" b="1" dirty="0"/>
              <a:t>The latter approach, which is called </a:t>
            </a:r>
            <a:r>
              <a:rPr lang="en-IN" b="1" i="1" dirty="0"/>
              <a:t>load-through</a:t>
            </a:r>
            <a:r>
              <a:rPr lang="en-IN" b="1" dirty="0"/>
              <a:t>, or </a:t>
            </a:r>
            <a:r>
              <a:rPr lang="en-IN" b="1" i="1" dirty="0"/>
              <a:t>early restart</a:t>
            </a:r>
            <a:r>
              <a:rPr lang="en-IN" b="1" dirty="0"/>
              <a:t>, reduces the processor’s waiting time somewhat, at the expense of more complex circuitry.</a:t>
            </a:r>
          </a:p>
        </p:txBody>
      </p:sp>
    </p:spTree>
    <p:extLst>
      <p:ext uri="{BB962C8B-B14F-4D97-AF65-F5344CB8AC3E}">
        <p14:creationId xmlns:p14="http://schemas.microsoft.com/office/powerpoint/2010/main" val="17686632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Memories-10</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87</a:t>
            </a:fld>
            <a:endParaRPr lang="en-US"/>
          </a:p>
        </p:txBody>
      </p:sp>
      <p:sp>
        <p:nvSpPr>
          <p:cNvPr id="4" name="Content Placeholder 3"/>
          <p:cNvSpPr>
            <a:spLocks noGrp="1"/>
          </p:cNvSpPr>
          <p:nvPr>
            <p:ph sz="quarter" idx="1"/>
          </p:nvPr>
        </p:nvSpPr>
        <p:spPr/>
        <p:txBody>
          <a:bodyPr>
            <a:normAutofit/>
          </a:bodyPr>
          <a:lstStyle/>
          <a:p>
            <a:pPr algn="just"/>
            <a:r>
              <a:rPr lang="en-IN" dirty="0"/>
              <a:t>When a </a:t>
            </a:r>
            <a:r>
              <a:rPr lang="en-IN" i="1" dirty="0"/>
              <a:t>Write miss </a:t>
            </a:r>
            <a:r>
              <a:rPr lang="en-IN" dirty="0"/>
              <a:t>occurs in a computer that uses the write-through protocol, the information is written directly into the main memory. </a:t>
            </a:r>
          </a:p>
          <a:p>
            <a:pPr algn="just"/>
            <a:r>
              <a:rPr lang="en-IN" dirty="0"/>
              <a:t>For the write-back protocol, the block containing the addressed word is first brought into the cache, and then the desired word in the cache is overwritten with the new information.</a:t>
            </a:r>
          </a:p>
        </p:txBody>
      </p:sp>
    </p:spTree>
    <p:extLst>
      <p:ext uri="{BB962C8B-B14F-4D97-AF65-F5344CB8AC3E}">
        <p14:creationId xmlns:p14="http://schemas.microsoft.com/office/powerpoint/2010/main" val="33005132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Memories-11</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88</a:t>
            </a:fld>
            <a:endParaRPr lang="en-US"/>
          </a:p>
        </p:txBody>
      </p:sp>
      <p:sp>
        <p:nvSpPr>
          <p:cNvPr id="4" name="Content Placeholder 3"/>
          <p:cNvSpPr>
            <a:spLocks noGrp="1"/>
          </p:cNvSpPr>
          <p:nvPr>
            <p:ph sz="quarter" idx="1"/>
          </p:nvPr>
        </p:nvSpPr>
        <p:spPr/>
        <p:txBody>
          <a:bodyPr>
            <a:normAutofit fontScale="92500"/>
          </a:bodyPr>
          <a:lstStyle/>
          <a:p>
            <a:pPr algn="just"/>
            <a:r>
              <a:rPr lang="en-IN" dirty="0"/>
              <a:t>In a pipelined processor can cause instruction execution to stall for one or more cycles. </a:t>
            </a:r>
          </a:p>
          <a:p>
            <a:pPr algn="just"/>
            <a:r>
              <a:rPr lang="en-IN" dirty="0"/>
              <a:t>This can occur if a Load or Store instruction requests access to data in the memory at the same time that a subsequent instruction is being fetched. When this happens, instruction fetch is delayed until the data access operation is completed. </a:t>
            </a:r>
          </a:p>
          <a:p>
            <a:pPr algn="just"/>
            <a:r>
              <a:rPr lang="en-IN" dirty="0"/>
              <a:t>To avoid stalling the pipeline, many processors use separate caches for instructions and data, making it possible for the two operations to proceed in parallel.</a:t>
            </a:r>
          </a:p>
          <a:p>
            <a:endParaRPr lang="en-IN" dirty="0"/>
          </a:p>
        </p:txBody>
      </p:sp>
    </p:spTree>
    <p:extLst>
      <p:ext uri="{BB962C8B-B14F-4D97-AF65-F5344CB8AC3E}">
        <p14:creationId xmlns:p14="http://schemas.microsoft.com/office/powerpoint/2010/main" val="38215876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Memories-12</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89</a:t>
            </a:fld>
            <a:endParaRPr lang="en-US"/>
          </a:p>
        </p:txBody>
      </p:sp>
      <p:sp>
        <p:nvSpPr>
          <p:cNvPr id="4" name="Content Placeholder 3"/>
          <p:cNvSpPr>
            <a:spLocks noGrp="1"/>
          </p:cNvSpPr>
          <p:nvPr>
            <p:ph sz="quarter" idx="1"/>
          </p:nvPr>
        </p:nvSpPr>
        <p:spPr/>
        <p:txBody>
          <a:bodyPr>
            <a:normAutofit lnSpcReduction="10000"/>
          </a:bodyPr>
          <a:lstStyle/>
          <a:p>
            <a:pPr algn="just"/>
            <a:r>
              <a:rPr lang="en-IN" dirty="0"/>
              <a:t>There are several possible methods for determining where memory blocks are placed in the cache. </a:t>
            </a:r>
          </a:p>
          <a:p>
            <a:pPr algn="just"/>
            <a:r>
              <a:rPr lang="en-IN" dirty="0"/>
              <a:t>Consider a example, cache consisting of 128 blocks of 16 words each, for a total of 2048 (2K) words, and assume that the main memory is addressable by a 16-bit address. </a:t>
            </a:r>
          </a:p>
          <a:p>
            <a:pPr algn="just"/>
            <a:r>
              <a:rPr lang="en-IN" dirty="0"/>
              <a:t>The main memory has 64K words, which will view as 4K blocks of 16 words each. </a:t>
            </a:r>
          </a:p>
          <a:p>
            <a:pPr algn="just"/>
            <a:r>
              <a:rPr lang="en-IN" dirty="0"/>
              <a:t>For simplicity, assume that consecutive addresses refer to consecutive words.</a:t>
            </a:r>
          </a:p>
        </p:txBody>
      </p:sp>
    </p:spTree>
    <p:extLst>
      <p:ext uri="{BB962C8B-B14F-4D97-AF65-F5344CB8AC3E}">
        <p14:creationId xmlns:p14="http://schemas.microsoft.com/office/powerpoint/2010/main" val="4805625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Memories-13</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90</a:t>
            </a:fld>
            <a:endParaRPr lang="en-US"/>
          </a:p>
        </p:txBody>
      </p:sp>
      <p:sp>
        <p:nvSpPr>
          <p:cNvPr id="4" name="Content Placeholder 3"/>
          <p:cNvSpPr>
            <a:spLocks noGrp="1"/>
          </p:cNvSpPr>
          <p:nvPr>
            <p:ph sz="quarter" idx="1"/>
          </p:nvPr>
        </p:nvSpPr>
        <p:spPr/>
        <p:txBody>
          <a:bodyPr>
            <a:normAutofit fontScale="70000" lnSpcReduction="20000"/>
          </a:bodyPr>
          <a:lstStyle/>
          <a:p>
            <a:pPr algn="just"/>
            <a:r>
              <a:rPr lang="en-IN" b="1" dirty="0"/>
              <a:t>Direct Mapping</a:t>
            </a:r>
          </a:p>
          <a:p>
            <a:pPr algn="just"/>
            <a:r>
              <a:rPr lang="en-IN" dirty="0"/>
              <a:t>The simplest way to determine cache locations in which to store memory blocks is the </a:t>
            </a:r>
            <a:r>
              <a:rPr lang="en-IN" i="1" dirty="0"/>
              <a:t>direct-mapping </a:t>
            </a:r>
            <a:r>
              <a:rPr lang="en-IN" dirty="0"/>
              <a:t>technique. </a:t>
            </a:r>
          </a:p>
          <a:p>
            <a:pPr algn="just"/>
            <a:r>
              <a:rPr lang="en-IN" dirty="0"/>
              <a:t>In this technique, block </a:t>
            </a:r>
            <a:r>
              <a:rPr lang="en-IN" i="1" dirty="0"/>
              <a:t>j </a:t>
            </a:r>
            <a:r>
              <a:rPr lang="en-IN" dirty="0"/>
              <a:t>of the main memory maps onto block </a:t>
            </a:r>
            <a:r>
              <a:rPr lang="en-IN" i="1" dirty="0"/>
              <a:t>j </a:t>
            </a:r>
            <a:r>
              <a:rPr lang="en-IN" dirty="0"/>
              <a:t>modulo 128 of the cache, as shown in next slide. </a:t>
            </a:r>
          </a:p>
          <a:p>
            <a:pPr algn="just"/>
            <a:r>
              <a:rPr lang="en-IN" dirty="0"/>
              <a:t>Thus, whenever one of the main memory blocks 0</a:t>
            </a:r>
            <a:r>
              <a:rPr lang="en-IN" i="1" dirty="0"/>
              <a:t>, </a:t>
            </a:r>
            <a:r>
              <a:rPr lang="en-IN" dirty="0"/>
              <a:t>128</a:t>
            </a:r>
            <a:r>
              <a:rPr lang="en-IN" i="1" dirty="0"/>
              <a:t>, </a:t>
            </a:r>
            <a:r>
              <a:rPr lang="en-IN" dirty="0"/>
              <a:t>256</a:t>
            </a:r>
            <a:r>
              <a:rPr lang="en-IN" i="1" dirty="0"/>
              <a:t>, . . . </a:t>
            </a:r>
            <a:r>
              <a:rPr lang="en-IN" dirty="0"/>
              <a:t>is loaded into the cache, it is stored in cache block 0. Blocks 1</a:t>
            </a:r>
            <a:r>
              <a:rPr lang="en-IN" i="1" dirty="0"/>
              <a:t>, </a:t>
            </a:r>
            <a:r>
              <a:rPr lang="en-IN" dirty="0"/>
              <a:t>129</a:t>
            </a:r>
            <a:r>
              <a:rPr lang="en-IN" i="1" dirty="0"/>
              <a:t>, </a:t>
            </a:r>
            <a:r>
              <a:rPr lang="en-IN" dirty="0"/>
              <a:t>257</a:t>
            </a:r>
            <a:r>
              <a:rPr lang="en-IN" i="1" dirty="0"/>
              <a:t>, . . . </a:t>
            </a:r>
            <a:r>
              <a:rPr lang="en-IN" dirty="0"/>
              <a:t>are stored in cache block 1, and so on. </a:t>
            </a:r>
          </a:p>
          <a:p>
            <a:pPr algn="just"/>
            <a:r>
              <a:rPr lang="en-IN" dirty="0"/>
              <a:t>Since more than one memory block is mapped onto a given cache block position, contention may arise for that position even when the cache is not full. </a:t>
            </a:r>
          </a:p>
          <a:p>
            <a:pPr algn="just"/>
            <a:r>
              <a:rPr lang="en-IN" dirty="0"/>
              <a:t>For example, instructions of a program may start in block 1 and continue in block 129, possibly after a branch. As this program is executed, both of these blocks must be transferred to the block-1 position in the cache. Contention is resolved by allowing the new block to overwrite the currently resident block.</a:t>
            </a:r>
          </a:p>
        </p:txBody>
      </p:sp>
    </p:spTree>
    <p:extLst>
      <p:ext uri="{BB962C8B-B14F-4D97-AF65-F5344CB8AC3E}">
        <p14:creationId xmlns:p14="http://schemas.microsoft.com/office/powerpoint/2010/main" val="37502014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Memories-14</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91</a:t>
            </a:fld>
            <a:endParaRPr lang="en-US"/>
          </a:p>
        </p:txBody>
      </p:sp>
      <p:sp>
        <p:nvSpPr>
          <p:cNvPr id="4" name="Content Placeholder 3"/>
          <p:cNvSpPr>
            <a:spLocks noGrp="1"/>
          </p:cNvSpPr>
          <p:nvPr>
            <p:ph sz="quarter" idx="1"/>
          </p:nvPr>
        </p:nvSpPr>
        <p:spPr/>
        <p:txBody>
          <a:bodyPr/>
          <a:lstStyle/>
          <a:p>
            <a:endParaRPr lang="en-IN"/>
          </a:p>
        </p:txBody>
      </p:sp>
      <p:pic>
        <p:nvPicPr>
          <p:cNvPr id="9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050" y="219075"/>
            <a:ext cx="4010025" cy="6334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 y="1562100"/>
            <a:ext cx="4286250" cy="4991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475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fade">
                                      <p:cBhvr>
                                        <p:cTn id="7" dur="1000"/>
                                        <p:tgtEl>
                                          <p:spTgt spid="9222"/>
                                        </p:tgtEl>
                                      </p:cBhvr>
                                    </p:animEffect>
                                    <p:anim calcmode="lin" valueType="num">
                                      <p:cBhvr>
                                        <p:cTn id="8" dur="1000" fill="hold"/>
                                        <p:tgtEl>
                                          <p:spTgt spid="9222"/>
                                        </p:tgtEl>
                                        <p:attrNameLst>
                                          <p:attrName>ppt_x</p:attrName>
                                        </p:attrNameLst>
                                      </p:cBhvr>
                                      <p:tavLst>
                                        <p:tav tm="0">
                                          <p:val>
                                            <p:strVal val="#ppt_x"/>
                                          </p:val>
                                        </p:tav>
                                        <p:tav tm="100000">
                                          <p:val>
                                            <p:strVal val="#ppt_x"/>
                                          </p:val>
                                        </p:tav>
                                      </p:tavLst>
                                    </p:anim>
                                    <p:anim calcmode="lin" valueType="num">
                                      <p:cBhvr>
                                        <p:cTn id="9" dur="1000" fill="hold"/>
                                        <p:tgtEl>
                                          <p:spTgt spid="92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Memories-15</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92</a:t>
            </a:fld>
            <a:endParaRPr lang="en-US"/>
          </a:p>
        </p:txBody>
      </p:sp>
      <p:sp>
        <p:nvSpPr>
          <p:cNvPr id="4" name="Content Placeholder 3"/>
          <p:cNvSpPr>
            <a:spLocks noGrp="1"/>
          </p:cNvSpPr>
          <p:nvPr>
            <p:ph sz="quarter" idx="1"/>
          </p:nvPr>
        </p:nvSpPr>
        <p:spPr/>
        <p:txBody>
          <a:bodyPr>
            <a:normAutofit/>
          </a:bodyPr>
          <a:lstStyle/>
          <a:p>
            <a:pPr algn="just"/>
            <a:r>
              <a:rPr lang="en-IN" dirty="0"/>
              <a:t>With direct mapping, the replacement algorithm is trivial. Placement of a block in the cache is determined by its memory address. </a:t>
            </a:r>
          </a:p>
          <a:p>
            <a:pPr algn="just"/>
            <a:r>
              <a:rPr lang="en-IN" dirty="0"/>
              <a:t>The memory address can be divided into three fields, as shown in previous slide. </a:t>
            </a:r>
          </a:p>
          <a:p>
            <a:pPr algn="just"/>
            <a:r>
              <a:rPr lang="en-IN" dirty="0"/>
              <a:t>The low-order 4 bits select one of 16 words in a block. When a new block enters the cache, the 7-bit cache block field determines the cache position in which this block must be stored. </a:t>
            </a:r>
          </a:p>
        </p:txBody>
      </p:sp>
    </p:spTree>
    <p:extLst>
      <p:ext uri="{BB962C8B-B14F-4D97-AF65-F5344CB8AC3E}">
        <p14:creationId xmlns:p14="http://schemas.microsoft.com/office/powerpoint/2010/main" val="18114495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Memories-16</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93</a:t>
            </a:fld>
            <a:endParaRPr lang="en-US"/>
          </a:p>
        </p:txBody>
      </p:sp>
      <p:sp>
        <p:nvSpPr>
          <p:cNvPr id="4" name="Content Placeholder 3"/>
          <p:cNvSpPr>
            <a:spLocks noGrp="1"/>
          </p:cNvSpPr>
          <p:nvPr>
            <p:ph sz="quarter" idx="1"/>
          </p:nvPr>
        </p:nvSpPr>
        <p:spPr/>
        <p:txBody>
          <a:bodyPr>
            <a:normAutofit fontScale="77500" lnSpcReduction="20000"/>
          </a:bodyPr>
          <a:lstStyle/>
          <a:p>
            <a:pPr algn="just"/>
            <a:r>
              <a:rPr lang="en-IN" dirty="0"/>
              <a:t>The high-order 5 bits of the memory address of the block are stored in 5 </a:t>
            </a:r>
            <a:r>
              <a:rPr lang="en-IN" i="1" dirty="0"/>
              <a:t>tag </a:t>
            </a:r>
            <a:r>
              <a:rPr lang="en-IN" dirty="0"/>
              <a:t>bits associated with its location in the cache. </a:t>
            </a:r>
          </a:p>
          <a:p>
            <a:pPr algn="just"/>
            <a:r>
              <a:rPr lang="en-IN" dirty="0"/>
              <a:t>The tag bits identify which of the 32 main memory blocks mapped into this cache position is currently resident in the cache. </a:t>
            </a:r>
          </a:p>
          <a:p>
            <a:pPr algn="just"/>
            <a:r>
              <a:rPr lang="en-IN" dirty="0"/>
              <a:t>As execution proceeds, the 7-bit cache block field of each address generated by the processor points to a particular block location in the cache. </a:t>
            </a:r>
          </a:p>
          <a:p>
            <a:pPr algn="just"/>
            <a:r>
              <a:rPr lang="en-IN" dirty="0"/>
              <a:t>The high-order 5 bits of the address are compared with the tag bits associated with that cache location. If they match, then the desired word is in that block of the cache. If there is no match, then the block containing the required word must first be read from the main memory and loaded into the cache. </a:t>
            </a:r>
          </a:p>
          <a:p>
            <a:pPr algn="just"/>
            <a:r>
              <a:rPr lang="en-IN" dirty="0"/>
              <a:t>The direct-mapping technique is easy to implement, but it is not very flexible.</a:t>
            </a:r>
          </a:p>
        </p:txBody>
      </p:sp>
    </p:spTree>
    <p:extLst>
      <p:ext uri="{BB962C8B-B14F-4D97-AF65-F5344CB8AC3E}">
        <p14:creationId xmlns:p14="http://schemas.microsoft.com/office/powerpoint/2010/main" val="22347758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Memories-17</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94</a:t>
            </a:fld>
            <a:endParaRPr lang="en-US"/>
          </a:p>
        </p:txBody>
      </p:sp>
      <p:sp>
        <p:nvSpPr>
          <p:cNvPr id="4" name="Content Placeholder 3"/>
          <p:cNvSpPr>
            <a:spLocks noGrp="1"/>
          </p:cNvSpPr>
          <p:nvPr>
            <p:ph sz="quarter" idx="1"/>
          </p:nvPr>
        </p:nvSpPr>
        <p:spPr/>
        <p:txBody>
          <a:bodyPr>
            <a:normAutofit fontScale="92500"/>
          </a:bodyPr>
          <a:lstStyle/>
          <a:p>
            <a:r>
              <a:rPr lang="en-IN" b="1" dirty="0"/>
              <a:t>Associative Mapping</a:t>
            </a:r>
          </a:p>
          <a:p>
            <a:pPr algn="just"/>
            <a:r>
              <a:rPr lang="en-IN" dirty="0"/>
              <a:t>In which a main memory block can be placed into any cache block position.</a:t>
            </a:r>
          </a:p>
          <a:p>
            <a:pPr algn="just"/>
            <a:r>
              <a:rPr lang="en-IN" dirty="0"/>
              <a:t>In diagram (Next slide), 12 tag bits are required to identify a memory block when it is resident in the cache. </a:t>
            </a:r>
          </a:p>
          <a:p>
            <a:pPr algn="just"/>
            <a:r>
              <a:rPr lang="en-IN" dirty="0"/>
              <a:t>The tag bits of an address received from the processor are compared to the tag bits of each block of the cache to see if the desired block is present. This is called the </a:t>
            </a:r>
            <a:r>
              <a:rPr lang="en-IN" i="1" dirty="0"/>
              <a:t>associative-mapping </a:t>
            </a:r>
            <a:r>
              <a:rPr lang="en-IN" dirty="0"/>
              <a:t>technique. </a:t>
            </a:r>
          </a:p>
        </p:txBody>
      </p:sp>
    </p:spTree>
    <p:extLst>
      <p:ext uri="{BB962C8B-B14F-4D97-AF65-F5344CB8AC3E}">
        <p14:creationId xmlns:p14="http://schemas.microsoft.com/office/powerpoint/2010/main" val="8987527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Memories-18</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95</a:t>
            </a:fld>
            <a:endParaRPr lang="en-US"/>
          </a:p>
        </p:txBody>
      </p:sp>
      <p:sp>
        <p:nvSpPr>
          <p:cNvPr id="4" name="Content Placeholder 3"/>
          <p:cNvSpPr>
            <a:spLocks noGrp="1"/>
          </p:cNvSpPr>
          <p:nvPr>
            <p:ph sz="quarter" idx="1"/>
          </p:nvPr>
        </p:nvSpPr>
        <p:spPr/>
        <p:txBody>
          <a:bodyPr/>
          <a:lstStyle/>
          <a:p>
            <a:endParaRPr lang="en-IN"/>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329" y="1600200"/>
            <a:ext cx="8095343" cy="5214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68944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Memories-19</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96</a:t>
            </a:fld>
            <a:endParaRPr lang="en-US"/>
          </a:p>
        </p:txBody>
      </p:sp>
      <p:sp>
        <p:nvSpPr>
          <p:cNvPr id="4" name="Content Placeholder 3"/>
          <p:cNvSpPr>
            <a:spLocks noGrp="1"/>
          </p:cNvSpPr>
          <p:nvPr>
            <p:ph sz="quarter" idx="1"/>
          </p:nvPr>
        </p:nvSpPr>
        <p:spPr/>
        <p:txBody>
          <a:bodyPr>
            <a:normAutofit fontScale="85000" lnSpcReduction="20000"/>
          </a:bodyPr>
          <a:lstStyle/>
          <a:p>
            <a:pPr algn="just"/>
            <a:r>
              <a:rPr lang="en-IN" dirty="0"/>
              <a:t>It gives complete freedom in choosing the cache location in which to place the memory block, resulting in a more efficient use of the space in the cache.</a:t>
            </a:r>
          </a:p>
          <a:p>
            <a:pPr algn="just"/>
            <a:r>
              <a:rPr lang="en-IN" dirty="0"/>
              <a:t>When a new block is brought into the cache, it replaces (ejects) an existing block only if the cache is full. </a:t>
            </a:r>
          </a:p>
          <a:p>
            <a:pPr algn="just"/>
            <a:r>
              <a:rPr lang="en-IN" dirty="0"/>
              <a:t>In this case, we need an algorithm to select the block to be replaced. </a:t>
            </a:r>
          </a:p>
          <a:p>
            <a:pPr algn="just"/>
            <a:r>
              <a:rPr lang="en-IN" dirty="0"/>
              <a:t>The complexity of an associative cache is higher than that of a direct-mapped cache, because of the need to search all 128 tag patterns to determine whether a given block is in the cache. </a:t>
            </a:r>
          </a:p>
          <a:p>
            <a:pPr algn="just"/>
            <a:r>
              <a:rPr lang="en-IN" dirty="0"/>
              <a:t>To avoid a long delay, the tags must be searched in parallel. A search of this kind is called an </a:t>
            </a:r>
            <a:r>
              <a:rPr lang="en-IN" i="1" dirty="0"/>
              <a:t>associative search</a:t>
            </a:r>
            <a:r>
              <a:rPr lang="en-IN" dirty="0"/>
              <a:t>.</a:t>
            </a:r>
          </a:p>
        </p:txBody>
      </p:sp>
    </p:spTree>
    <p:extLst>
      <p:ext uri="{BB962C8B-B14F-4D97-AF65-F5344CB8AC3E}">
        <p14:creationId xmlns:p14="http://schemas.microsoft.com/office/powerpoint/2010/main" val="37365389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Memories-20</a:t>
            </a:r>
            <a:br>
              <a:rPr lang="en-IN" b="1" dirty="0"/>
            </a:br>
            <a:r>
              <a:rPr lang="en-IN" b="1" dirty="0"/>
              <a:t>Mapping Functions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97</a:t>
            </a:fld>
            <a:endParaRPr lang="en-US"/>
          </a:p>
        </p:txBody>
      </p:sp>
      <p:sp>
        <p:nvSpPr>
          <p:cNvPr id="4" name="Content Placeholder 3"/>
          <p:cNvSpPr>
            <a:spLocks noGrp="1"/>
          </p:cNvSpPr>
          <p:nvPr>
            <p:ph sz="quarter" idx="1"/>
          </p:nvPr>
        </p:nvSpPr>
        <p:spPr/>
        <p:txBody>
          <a:bodyPr>
            <a:normAutofit fontScale="92500" lnSpcReduction="10000"/>
          </a:bodyPr>
          <a:lstStyle/>
          <a:p>
            <a:r>
              <a:rPr lang="en-IN" b="1" dirty="0"/>
              <a:t>Set-Associative Mapping</a:t>
            </a:r>
          </a:p>
          <a:p>
            <a:pPr algn="just"/>
            <a:r>
              <a:rPr lang="en-IN" dirty="0"/>
              <a:t>Another approach is to use a combination of the direct- and associative-mapping techniques.</a:t>
            </a:r>
          </a:p>
          <a:p>
            <a:pPr algn="just"/>
            <a:r>
              <a:rPr lang="en-IN" dirty="0"/>
              <a:t>The blocks of the cache are grouped into sets, and the mapping allows a block of the main memory to reside in any block of a specific set. </a:t>
            </a:r>
          </a:p>
          <a:p>
            <a:pPr algn="just"/>
            <a:r>
              <a:rPr lang="en-IN" dirty="0"/>
              <a:t>Hence, the contention problem of the direct method is eased by having a few choices for block placement. </a:t>
            </a:r>
          </a:p>
          <a:p>
            <a:pPr algn="just"/>
            <a:r>
              <a:rPr lang="en-IN" dirty="0"/>
              <a:t>At the same time, the hardware cost is reduced by decreasing the size of the associative search.</a:t>
            </a:r>
          </a:p>
        </p:txBody>
      </p:sp>
    </p:spTree>
    <p:extLst>
      <p:ext uri="{BB962C8B-B14F-4D97-AF65-F5344CB8AC3E}">
        <p14:creationId xmlns:p14="http://schemas.microsoft.com/office/powerpoint/2010/main" val="34952727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Cache Memories-21</a:t>
            </a:r>
            <a:br>
              <a:rPr lang="en-IN" b="1" dirty="0"/>
            </a:br>
            <a:r>
              <a:rPr lang="en-IN" b="1" dirty="0"/>
              <a:t>Mapping Functions</a:t>
            </a:r>
            <a:endParaRPr lang="en-IN" dirty="0"/>
          </a:p>
        </p:txBody>
      </p:sp>
      <p:sp>
        <p:nvSpPr>
          <p:cNvPr id="5" name="Content Placeholder 4"/>
          <p:cNvSpPr>
            <a:spLocks noGrp="1"/>
          </p:cNvSpPr>
          <p:nvPr>
            <p:ph sz="quarter" idx="1"/>
          </p:nvPr>
        </p:nvSpPr>
        <p:spPr/>
        <p:txBody>
          <a:bodyPr>
            <a:normAutofit fontScale="92500" lnSpcReduction="20000"/>
          </a:bodyPr>
          <a:lstStyle/>
          <a:p>
            <a:pPr algn="just"/>
            <a:r>
              <a:rPr lang="en-IN" dirty="0"/>
              <a:t>Memory blocks 0</a:t>
            </a:r>
            <a:r>
              <a:rPr lang="en-IN" i="1" dirty="0"/>
              <a:t>, </a:t>
            </a:r>
            <a:r>
              <a:rPr lang="en-IN" dirty="0"/>
              <a:t>64</a:t>
            </a:r>
            <a:r>
              <a:rPr lang="en-IN" i="1" dirty="0"/>
              <a:t>, </a:t>
            </a:r>
            <a:r>
              <a:rPr lang="en-IN" dirty="0"/>
              <a:t>128</a:t>
            </a:r>
            <a:r>
              <a:rPr lang="en-IN" i="1" dirty="0"/>
              <a:t>, . . . , </a:t>
            </a:r>
            <a:r>
              <a:rPr lang="en-IN" dirty="0"/>
              <a:t>4032 map into cache set 0, and they can occupy either of the two block positions within this set. </a:t>
            </a:r>
          </a:p>
          <a:p>
            <a:pPr algn="just"/>
            <a:r>
              <a:rPr lang="en-IN" dirty="0"/>
              <a:t>Having 64 sets means that the 6-bit set field of the address determines which set of the cache might contain the desired block.</a:t>
            </a:r>
          </a:p>
        </p:txBody>
      </p:sp>
      <p:sp>
        <p:nvSpPr>
          <p:cNvPr id="6" name="Content Placeholder 5"/>
          <p:cNvSpPr>
            <a:spLocks noGrp="1"/>
          </p:cNvSpPr>
          <p:nvPr>
            <p:ph sz="quarter" idx="2"/>
          </p:nvPr>
        </p:nvSpPr>
        <p:spPr/>
        <p:txBody>
          <a:bodyPr>
            <a:normAutofit fontScale="92500" lnSpcReduction="20000"/>
          </a:bodyPr>
          <a:lstStyle/>
          <a:p>
            <a:endParaRPr lang="en-IN"/>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98</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295400"/>
            <a:ext cx="4009271" cy="544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00195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IN" b="1" dirty="0"/>
              <a:t>Cache Memories-22</a:t>
            </a:r>
            <a:br>
              <a:rPr lang="en-IN" b="1" dirty="0"/>
            </a:br>
            <a:r>
              <a:rPr lang="en-IN" b="1" dirty="0"/>
              <a:t>Mapping Functions</a:t>
            </a:r>
            <a:endParaRPr lang="en-IN" dirty="0"/>
          </a:p>
        </p:txBody>
      </p:sp>
      <p:sp>
        <p:nvSpPr>
          <p:cNvPr id="5" name="Slide Number Placeholder 4"/>
          <p:cNvSpPr>
            <a:spLocks noGrp="1"/>
          </p:cNvSpPr>
          <p:nvPr>
            <p:ph type="sldNum" sz="quarter" idx="12"/>
          </p:nvPr>
        </p:nvSpPr>
        <p:spPr/>
        <p:txBody>
          <a:bodyPr>
            <a:normAutofit fontScale="85000" lnSpcReduction="20000"/>
          </a:bodyPr>
          <a:lstStyle/>
          <a:p>
            <a:fld id="{B6F15528-21DE-4FAA-801E-634DDDAF4B2B}" type="slidenum">
              <a:rPr lang="en-US" smtClean="0"/>
              <a:pPr/>
              <a:t>99</a:t>
            </a:fld>
            <a:endParaRPr lang="en-US"/>
          </a:p>
        </p:txBody>
      </p:sp>
      <p:sp>
        <p:nvSpPr>
          <p:cNvPr id="7" name="Content Placeholder 6"/>
          <p:cNvSpPr>
            <a:spLocks noGrp="1"/>
          </p:cNvSpPr>
          <p:nvPr>
            <p:ph sz="quarter" idx="1"/>
          </p:nvPr>
        </p:nvSpPr>
        <p:spPr/>
        <p:txBody>
          <a:bodyPr>
            <a:noAutofit/>
          </a:bodyPr>
          <a:lstStyle/>
          <a:p>
            <a:pPr algn="just"/>
            <a:r>
              <a:rPr lang="en-IN" sz="2000" dirty="0"/>
              <a:t>The tag field of the address must then be associatively compared to the tags of the two blocks of the set to check if the desired block is present. This two-way associative search is simple to implement.</a:t>
            </a:r>
          </a:p>
          <a:p>
            <a:pPr algn="just"/>
            <a:r>
              <a:rPr lang="en-IN" sz="2000" dirty="0"/>
              <a:t>The number of blocks per set is a parameter that can be selected to suit the requirements of a particular computer. </a:t>
            </a:r>
          </a:p>
          <a:p>
            <a:pPr algn="just"/>
            <a:r>
              <a:rPr lang="en-IN" sz="2000" dirty="0"/>
              <a:t>For the main memory and cache sizes in above example, four blocks per set can be accommodated by a 5-bit set field, eight blocks per set by a 4-bit set field, and so on. </a:t>
            </a:r>
          </a:p>
          <a:p>
            <a:pPr algn="just"/>
            <a:r>
              <a:rPr lang="en-IN" sz="2000" dirty="0"/>
              <a:t>The extreme condition of 128 blocks per set requires no set bits and corresponds to the fully-associative technique, with 12 tag bits. The other extreme of one block per set is the direct-mapping method. </a:t>
            </a:r>
          </a:p>
          <a:p>
            <a:pPr algn="just"/>
            <a:r>
              <a:rPr lang="en-IN" sz="2000" dirty="0"/>
              <a:t>A cache that has </a:t>
            </a:r>
            <a:r>
              <a:rPr lang="en-IN" sz="2000" i="1" dirty="0"/>
              <a:t>k </a:t>
            </a:r>
            <a:r>
              <a:rPr lang="en-IN" sz="2000" dirty="0"/>
              <a:t>blocks per set is referred to as a </a:t>
            </a:r>
            <a:r>
              <a:rPr lang="en-IN" sz="2000" i="1" dirty="0"/>
              <a:t>k</a:t>
            </a:r>
            <a:r>
              <a:rPr lang="en-IN" sz="2000" dirty="0"/>
              <a:t>-way set-associative cache.</a:t>
            </a:r>
          </a:p>
        </p:txBody>
      </p:sp>
    </p:spTree>
    <p:extLst>
      <p:ext uri="{BB962C8B-B14F-4D97-AF65-F5344CB8AC3E}">
        <p14:creationId xmlns:p14="http://schemas.microsoft.com/office/powerpoint/2010/main" val="14811234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Cache Memories-23</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100</a:t>
            </a:fld>
            <a:endParaRPr lang="en-US"/>
          </a:p>
        </p:txBody>
      </p:sp>
      <p:sp>
        <p:nvSpPr>
          <p:cNvPr id="4" name="Content Placeholder 3"/>
          <p:cNvSpPr>
            <a:spLocks noGrp="1"/>
          </p:cNvSpPr>
          <p:nvPr>
            <p:ph sz="quarter" idx="1"/>
          </p:nvPr>
        </p:nvSpPr>
        <p:spPr/>
        <p:txBody>
          <a:bodyPr>
            <a:normAutofit fontScale="92500" lnSpcReduction="10000"/>
          </a:bodyPr>
          <a:lstStyle/>
          <a:p>
            <a:r>
              <a:rPr lang="en-IN" sz="1800" b="1" dirty="0"/>
              <a:t>Stale Data</a:t>
            </a:r>
          </a:p>
          <a:p>
            <a:pPr algn="just"/>
            <a:r>
              <a:rPr lang="en-IN" sz="1800" dirty="0"/>
              <a:t>When power is first turned on, the cache contains no valid data. A control bit, usually called the </a:t>
            </a:r>
            <a:r>
              <a:rPr lang="en-IN" sz="1800" i="1" dirty="0"/>
              <a:t>valid bit</a:t>
            </a:r>
            <a:r>
              <a:rPr lang="en-IN" sz="1800" dirty="0"/>
              <a:t>, must be provided for each cache block to indicate whether the data in that block are valid. </a:t>
            </a:r>
          </a:p>
          <a:p>
            <a:pPr algn="just"/>
            <a:r>
              <a:rPr lang="en-IN" sz="1800" dirty="0"/>
              <a:t>The valid bits of all cache blocks are set to 0 when power is initially applied to the system. Some valid bits may also be set to 0 when new programs or data are loaded from the disk into the main memory. </a:t>
            </a:r>
          </a:p>
          <a:p>
            <a:pPr algn="just"/>
            <a:r>
              <a:rPr lang="en-IN" sz="1800" dirty="0"/>
              <a:t>Data transferred from the disk to the main memory using the DMA mechanism are usually loaded directly into the main memory, bypassing the cache. </a:t>
            </a:r>
          </a:p>
          <a:p>
            <a:pPr algn="just"/>
            <a:r>
              <a:rPr lang="en-IN" sz="1800" dirty="0"/>
              <a:t>If the memory blocks being updated are currently in the cache, the valid bits of the corresponding cache blocks are set to 0. </a:t>
            </a:r>
          </a:p>
          <a:p>
            <a:pPr algn="just"/>
            <a:r>
              <a:rPr lang="en-IN" sz="1800" dirty="0"/>
              <a:t>As program execution proceeds, the valid bit of a given cache block is set to 1 when a memory block is loaded into that location. </a:t>
            </a:r>
          </a:p>
          <a:p>
            <a:pPr algn="just"/>
            <a:r>
              <a:rPr lang="en-IN" sz="1800" dirty="0"/>
              <a:t>The processor fetches data from a cache block only if its valid bit is equal to 1. The use of the valid bit in this manner ensures that the processor will not fetch </a:t>
            </a:r>
            <a:r>
              <a:rPr lang="en-IN" sz="1800" i="1" dirty="0"/>
              <a:t>stale (old) </a:t>
            </a:r>
            <a:r>
              <a:rPr lang="en-IN" sz="1800" dirty="0"/>
              <a:t>data from the cache.</a:t>
            </a:r>
          </a:p>
        </p:txBody>
      </p:sp>
    </p:spTree>
    <p:extLst>
      <p:ext uri="{BB962C8B-B14F-4D97-AF65-F5344CB8AC3E}">
        <p14:creationId xmlns:p14="http://schemas.microsoft.com/office/powerpoint/2010/main" val="28235824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Cache Memories-24</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101</a:t>
            </a:fld>
            <a:endParaRPr lang="en-US"/>
          </a:p>
        </p:txBody>
      </p:sp>
      <p:sp>
        <p:nvSpPr>
          <p:cNvPr id="4" name="Content Placeholder 3"/>
          <p:cNvSpPr>
            <a:spLocks noGrp="1"/>
          </p:cNvSpPr>
          <p:nvPr>
            <p:ph sz="quarter" idx="1"/>
          </p:nvPr>
        </p:nvSpPr>
        <p:spPr/>
        <p:txBody>
          <a:bodyPr>
            <a:normAutofit lnSpcReduction="10000"/>
          </a:bodyPr>
          <a:lstStyle/>
          <a:p>
            <a:pPr algn="just"/>
            <a:r>
              <a:rPr lang="en-IN" sz="2000" dirty="0"/>
              <a:t>A similar precaution is needed in a system that uses the write-back protocol. Under this protocol, new data written into the cache are not written to the memory at the same time.</a:t>
            </a:r>
          </a:p>
          <a:p>
            <a:pPr algn="just"/>
            <a:r>
              <a:rPr lang="en-IN" sz="2000" dirty="0"/>
              <a:t>Hence, data in the memory do not always reflect the changes that may have been made in the cached copy. It is important to ensure that such </a:t>
            </a:r>
            <a:r>
              <a:rPr lang="en-IN" sz="2000" b="1" dirty="0"/>
              <a:t>stale data </a:t>
            </a:r>
            <a:r>
              <a:rPr lang="en-IN" sz="2000" dirty="0"/>
              <a:t>in the memory are not transferred to the disk. </a:t>
            </a:r>
          </a:p>
          <a:p>
            <a:pPr algn="just"/>
            <a:r>
              <a:rPr lang="en-IN" sz="2000" dirty="0"/>
              <a:t>One solution is to </a:t>
            </a:r>
            <a:r>
              <a:rPr lang="en-IN" sz="2000" b="1" i="1" dirty="0"/>
              <a:t>flush </a:t>
            </a:r>
            <a:r>
              <a:rPr lang="en-IN" sz="2000" b="1" dirty="0"/>
              <a:t>the cache</a:t>
            </a:r>
            <a:r>
              <a:rPr lang="en-IN" sz="2000" dirty="0"/>
              <a:t>, by forcing all dirty blocks to be written back to the memory before performing the transfer. The operating system can do this by issuing a command to the cache before initiating the DMA operation that transfers the data to the disk. </a:t>
            </a:r>
          </a:p>
          <a:p>
            <a:pPr algn="just"/>
            <a:r>
              <a:rPr lang="en-IN" sz="2000" dirty="0"/>
              <a:t>Flushing the cache does not affect performance greatly, because such disk transfers do not occur often. The need to ensure that two different entities (the processor and the DMA subsystems in this case) </a:t>
            </a:r>
            <a:r>
              <a:rPr lang="en-IN" sz="2000" b="1" dirty="0"/>
              <a:t>use identical copies of the data is referred to as a </a:t>
            </a:r>
            <a:r>
              <a:rPr lang="en-IN" sz="2000" b="1" i="1" dirty="0"/>
              <a:t>cache-coherence </a:t>
            </a:r>
            <a:r>
              <a:rPr lang="en-IN" sz="2000" b="1" dirty="0"/>
              <a:t>problem</a:t>
            </a:r>
            <a:r>
              <a:rPr lang="en-IN" sz="2000" dirty="0"/>
              <a:t>.</a:t>
            </a:r>
          </a:p>
        </p:txBody>
      </p:sp>
    </p:spTree>
    <p:extLst>
      <p:ext uri="{BB962C8B-B14F-4D97-AF65-F5344CB8AC3E}">
        <p14:creationId xmlns:p14="http://schemas.microsoft.com/office/powerpoint/2010/main" val="20571903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Virtual Memory-1</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102</a:t>
            </a:fld>
            <a:endParaRPr lang="en-US"/>
          </a:p>
        </p:txBody>
      </p:sp>
      <p:sp>
        <p:nvSpPr>
          <p:cNvPr id="4" name="Content Placeholder 3"/>
          <p:cNvSpPr>
            <a:spLocks noGrp="1"/>
          </p:cNvSpPr>
          <p:nvPr>
            <p:ph sz="quarter" idx="1"/>
          </p:nvPr>
        </p:nvSpPr>
        <p:spPr/>
        <p:txBody>
          <a:bodyPr/>
          <a:lstStyle/>
          <a:p>
            <a:pPr marL="438912" algn="just">
              <a:spcBef>
                <a:spcPts val="0"/>
              </a:spcBef>
              <a:buFont typeface="Wingdings 2"/>
              <a:buChar char=""/>
              <a:defRPr/>
            </a:pPr>
            <a:r>
              <a:rPr lang="en-US" dirty="0"/>
              <a:t>Recall that an important challenge in the design of a computer system is to provide a large, fast memory system at an affordable cost. </a:t>
            </a:r>
          </a:p>
          <a:p>
            <a:pPr marL="438912" algn="just">
              <a:spcBef>
                <a:spcPts val="0"/>
              </a:spcBef>
              <a:buFont typeface="Wingdings 2"/>
              <a:buChar char=""/>
              <a:defRPr/>
            </a:pPr>
            <a:r>
              <a:rPr lang="en-US" dirty="0"/>
              <a:t>Architectural solutions to increase the effective speed and size of the memory system.</a:t>
            </a:r>
          </a:p>
          <a:p>
            <a:pPr marL="438912" algn="just">
              <a:spcBef>
                <a:spcPts val="0"/>
              </a:spcBef>
              <a:buFont typeface="Wingdings 2"/>
              <a:buChar char=""/>
              <a:defRPr/>
            </a:pPr>
            <a:r>
              <a:rPr lang="en-US" dirty="0"/>
              <a:t>Cache memories were developed to increase the effective speed of the memory system.</a:t>
            </a:r>
          </a:p>
          <a:p>
            <a:pPr marL="438912" algn="just">
              <a:spcBef>
                <a:spcPts val="0"/>
              </a:spcBef>
              <a:buFont typeface="Wingdings 2"/>
              <a:buChar char=""/>
              <a:defRPr/>
            </a:pPr>
            <a:r>
              <a:rPr lang="en-US" u="sng" dirty="0"/>
              <a:t>Virtual memory</a:t>
            </a:r>
            <a:r>
              <a:rPr lang="en-US" dirty="0"/>
              <a:t> is an architectural solution to increase the effective size of the memory system.</a:t>
            </a:r>
            <a:endParaRPr lang="en-IN" dirty="0"/>
          </a:p>
        </p:txBody>
      </p:sp>
    </p:spTree>
    <p:extLst>
      <p:ext uri="{BB962C8B-B14F-4D97-AF65-F5344CB8AC3E}">
        <p14:creationId xmlns:p14="http://schemas.microsoft.com/office/powerpoint/2010/main" val="25406269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Virtual Memory-2</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103</a:t>
            </a:fld>
            <a:endParaRPr lang="en-US"/>
          </a:p>
        </p:txBody>
      </p:sp>
      <p:sp>
        <p:nvSpPr>
          <p:cNvPr id="4" name="Content Placeholder 3"/>
          <p:cNvSpPr>
            <a:spLocks noGrp="1"/>
          </p:cNvSpPr>
          <p:nvPr>
            <p:ph sz="quarter" idx="1"/>
          </p:nvPr>
        </p:nvSpPr>
        <p:spPr/>
        <p:txBody>
          <a:bodyPr>
            <a:normAutofit fontScale="92500"/>
          </a:bodyPr>
          <a:lstStyle/>
          <a:p>
            <a:pPr marL="438912" algn="just">
              <a:spcBef>
                <a:spcPts val="0"/>
              </a:spcBef>
              <a:buFont typeface="Wingdings 2"/>
              <a:buChar char=""/>
              <a:defRPr/>
            </a:pPr>
            <a:r>
              <a:rPr lang="en-US" dirty="0"/>
              <a:t>Recall that the addressable memory space depends on the number of address bits in a computer.</a:t>
            </a:r>
          </a:p>
          <a:p>
            <a:pPr marL="731520" lvl="1" algn="just">
              <a:buFont typeface="Wingdings"/>
              <a:buChar char=""/>
              <a:defRPr/>
            </a:pPr>
            <a:r>
              <a:rPr lang="en-US" sz="1800" dirty="0"/>
              <a:t>For example, if a computer issues 32-bit addresses, the addressable memory space is 4G bytes.</a:t>
            </a:r>
            <a:endParaRPr lang="en-US" dirty="0"/>
          </a:p>
          <a:p>
            <a:pPr marL="438912" algn="just">
              <a:spcBef>
                <a:spcPts val="0"/>
              </a:spcBef>
              <a:buFont typeface="Wingdings 2"/>
              <a:buChar char=""/>
              <a:defRPr/>
            </a:pPr>
            <a:r>
              <a:rPr lang="en-US" dirty="0"/>
              <a:t>Physical main memory in a computer is generally not as large as the entire possible addressable space.</a:t>
            </a:r>
          </a:p>
          <a:p>
            <a:pPr marL="731520" lvl="1" algn="just">
              <a:buFont typeface="Wingdings"/>
              <a:buChar char=""/>
              <a:defRPr/>
            </a:pPr>
            <a:r>
              <a:rPr lang="en-US" sz="1800" dirty="0"/>
              <a:t>Physical memory typically ranges from a few hundred megabytes to 1G bytes.</a:t>
            </a:r>
          </a:p>
          <a:p>
            <a:pPr marL="438912" algn="just">
              <a:spcBef>
                <a:spcPts val="0"/>
              </a:spcBef>
              <a:buFont typeface="Wingdings 2"/>
              <a:buChar char=""/>
              <a:defRPr/>
            </a:pPr>
            <a:r>
              <a:rPr lang="en-US" dirty="0"/>
              <a:t>Large programs that cannot fit completely into the main memory have their parts stored on secondary storage devices such as magnetic disks.</a:t>
            </a:r>
          </a:p>
          <a:p>
            <a:pPr marL="731520" lvl="1" algn="just">
              <a:buFont typeface="Wingdings"/>
              <a:buChar char=""/>
              <a:defRPr/>
            </a:pPr>
            <a:r>
              <a:rPr lang="en-US" sz="1800" dirty="0"/>
              <a:t>Pieces of programs must be transferred to the main memory from secondary storage before they can be executed.</a:t>
            </a:r>
            <a:endParaRPr lang="en-IN" dirty="0"/>
          </a:p>
        </p:txBody>
      </p:sp>
    </p:spTree>
    <p:extLst>
      <p:ext uri="{BB962C8B-B14F-4D97-AF65-F5344CB8AC3E}">
        <p14:creationId xmlns:p14="http://schemas.microsoft.com/office/powerpoint/2010/main" val="9133087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Virtual Memory-3</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104</a:t>
            </a:fld>
            <a:endParaRPr lang="en-US"/>
          </a:p>
        </p:txBody>
      </p:sp>
      <p:sp>
        <p:nvSpPr>
          <p:cNvPr id="4" name="Content Placeholder 3"/>
          <p:cNvSpPr>
            <a:spLocks noGrp="1"/>
          </p:cNvSpPr>
          <p:nvPr>
            <p:ph sz="quarter" idx="1"/>
          </p:nvPr>
        </p:nvSpPr>
        <p:spPr/>
        <p:txBody>
          <a:bodyPr/>
          <a:lstStyle/>
          <a:p>
            <a:pPr marL="438912" algn="just">
              <a:spcBef>
                <a:spcPts val="0"/>
              </a:spcBef>
              <a:buFont typeface="Wingdings 2"/>
              <a:buChar char=""/>
              <a:defRPr/>
            </a:pPr>
            <a:r>
              <a:rPr lang="en-US" dirty="0"/>
              <a:t>When a new piece of a program is to be transferred to the main memory, and the main memory is full, then some other piece in the main memory must be replaced. </a:t>
            </a:r>
          </a:p>
          <a:p>
            <a:pPr marL="731520" lvl="1" algn="just">
              <a:buFont typeface="Wingdings"/>
              <a:buChar char=""/>
              <a:defRPr/>
            </a:pPr>
            <a:r>
              <a:rPr lang="en-US" sz="1800" dirty="0"/>
              <a:t>Recall this is very similar to what we studied in case of cache memories.</a:t>
            </a:r>
            <a:endParaRPr lang="en-US" dirty="0"/>
          </a:p>
          <a:p>
            <a:pPr marL="438912" algn="just">
              <a:spcBef>
                <a:spcPts val="0"/>
              </a:spcBef>
              <a:buFont typeface="Wingdings 2"/>
              <a:buChar char=""/>
              <a:defRPr/>
            </a:pPr>
            <a:r>
              <a:rPr lang="en-US" dirty="0"/>
              <a:t>Operating system automatically transfers data between the main memory and secondary storage.</a:t>
            </a:r>
          </a:p>
          <a:p>
            <a:pPr marL="731520" lvl="1" algn="just">
              <a:buFont typeface="Wingdings"/>
              <a:buChar char=""/>
              <a:defRPr/>
            </a:pPr>
            <a:r>
              <a:rPr lang="en-US" sz="1800" dirty="0"/>
              <a:t>Application programmer need not be concerned with this transfer.</a:t>
            </a:r>
          </a:p>
          <a:p>
            <a:pPr marL="731520" lvl="1" algn="just">
              <a:buFont typeface="Wingdings"/>
              <a:buChar char=""/>
              <a:defRPr/>
            </a:pPr>
            <a:r>
              <a:rPr lang="en-US" sz="1800" dirty="0"/>
              <a:t>Also, application programmer does not need to be aware of the limitations imposed by the available physical memory.</a:t>
            </a:r>
            <a:endParaRPr lang="en-IN" dirty="0"/>
          </a:p>
        </p:txBody>
      </p:sp>
    </p:spTree>
    <p:extLst>
      <p:ext uri="{BB962C8B-B14F-4D97-AF65-F5344CB8AC3E}">
        <p14:creationId xmlns:p14="http://schemas.microsoft.com/office/powerpoint/2010/main" val="142999835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Virtual Memory-4</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105</a:t>
            </a:fld>
            <a:endParaRPr lang="en-US"/>
          </a:p>
        </p:txBody>
      </p:sp>
      <p:sp>
        <p:nvSpPr>
          <p:cNvPr id="4" name="Content Placeholder 3"/>
          <p:cNvSpPr>
            <a:spLocks noGrp="1"/>
          </p:cNvSpPr>
          <p:nvPr>
            <p:ph sz="quarter" idx="1"/>
          </p:nvPr>
        </p:nvSpPr>
        <p:spPr/>
        <p:txBody>
          <a:bodyPr>
            <a:normAutofit fontScale="85000" lnSpcReduction="20000"/>
          </a:bodyPr>
          <a:lstStyle/>
          <a:p>
            <a:pPr marL="438912" algn="just">
              <a:spcBef>
                <a:spcPts val="0"/>
              </a:spcBef>
              <a:buFont typeface="Wingdings 2"/>
              <a:buChar char=""/>
              <a:defRPr/>
            </a:pPr>
            <a:r>
              <a:rPr lang="en-US" dirty="0"/>
              <a:t>Techniques that automatically move program and data between main memory and secondary storage when they are required for execution are called </a:t>
            </a:r>
            <a:r>
              <a:rPr lang="en-US" u="sng" dirty="0"/>
              <a:t>virtual-memory</a:t>
            </a:r>
            <a:r>
              <a:rPr lang="en-US" dirty="0"/>
              <a:t> techniques. </a:t>
            </a:r>
          </a:p>
          <a:p>
            <a:pPr marL="438912" algn="just">
              <a:spcBef>
                <a:spcPts val="0"/>
              </a:spcBef>
              <a:buFont typeface="Wingdings 2"/>
              <a:buChar char=""/>
              <a:defRPr/>
            </a:pPr>
            <a:r>
              <a:rPr lang="en-US" dirty="0"/>
              <a:t>Programs and processors reference an instruction or data independent of the size of the main memory.</a:t>
            </a:r>
          </a:p>
          <a:p>
            <a:pPr marL="438912" algn="just">
              <a:spcBef>
                <a:spcPts val="0"/>
              </a:spcBef>
              <a:buFont typeface="Wingdings 2"/>
              <a:buChar char=""/>
              <a:defRPr/>
            </a:pPr>
            <a:r>
              <a:rPr lang="en-US" dirty="0"/>
              <a:t>Processor issues binary addresses for instructions and data.</a:t>
            </a:r>
          </a:p>
          <a:p>
            <a:pPr marL="731520" lvl="1" algn="just">
              <a:buFont typeface="Wingdings"/>
              <a:buChar char=""/>
              <a:defRPr/>
            </a:pPr>
            <a:r>
              <a:rPr lang="en-US" sz="1800" dirty="0"/>
              <a:t>These binary addresses are called logical or virtual addresses.</a:t>
            </a:r>
            <a:r>
              <a:rPr lang="en-US" dirty="0"/>
              <a:t> </a:t>
            </a:r>
          </a:p>
          <a:p>
            <a:pPr marL="438912" algn="just">
              <a:spcBef>
                <a:spcPts val="0"/>
              </a:spcBef>
              <a:buFont typeface="Wingdings 2"/>
              <a:buChar char=""/>
              <a:defRPr/>
            </a:pPr>
            <a:r>
              <a:rPr lang="en-US" dirty="0"/>
              <a:t>Virtual addresses are translated into physical addresses by a combination of hardware and software subsystems. </a:t>
            </a:r>
          </a:p>
          <a:p>
            <a:pPr marL="731520" lvl="1" algn="just">
              <a:buFont typeface="Wingdings"/>
              <a:buChar char=""/>
              <a:defRPr/>
            </a:pPr>
            <a:r>
              <a:rPr lang="en-US" sz="1800" dirty="0"/>
              <a:t>If virtual address refers to a part of the program that is currently in the main memory, it is accessed immediately.</a:t>
            </a:r>
          </a:p>
          <a:p>
            <a:pPr marL="731520" lvl="1" algn="just">
              <a:buFont typeface="Wingdings"/>
              <a:buChar char=""/>
              <a:defRPr/>
            </a:pPr>
            <a:r>
              <a:rPr lang="en-US" sz="1800" dirty="0"/>
              <a:t>If the address refers to a part of the program that is not currently in the main memory, it is first transferred to the main memory before it can be used.</a:t>
            </a:r>
            <a:endParaRPr lang="en-IN" dirty="0"/>
          </a:p>
        </p:txBody>
      </p:sp>
    </p:spTree>
    <p:extLst>
      <p:ext uri="{BB962C8B-B14F-4D97-AF65-F5344CB8AC3E}">
        <p14:creationId xmlns:p14="http://schemas.microsoft.com/office/powerpoint/2010/main" val="116417645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Virtual Memory-5</a:t>
            </a:r>
            <a:endParaRPr lang="en-IN" dirty="0"/>
          </a:p>
        </p:txBody>
      </p:sp>
      <p:sp>
        <p:nvSpPr>
          <p:cNvPr id="5" name="Content Placeholder 4"/>
          <p:cNvSpPr>
            <a:spLocks noGrp="1"/>
          </p:cNvSpPr>
          <p:nvPr>
            <p:ph sz="quarter" idx="1"/>
          </p:nvPr>
        </p:nvSpPr>
        <p:spPr/>
        <p:txBody>
          <a:bodyPr>
            <a:normAutofit fontScale="70000" lnSpcReduction="20000"/>
          </a:bodyPr>
          <a:lstStyle/>
          <a:p>
            <a:pPr algn="just">
              <a:buFontTx/>
              <a:buChar char="•"/>
            </a:pPr>
            <a:r>
              <a:rPr lang="en-US" altLang="en-US" dirty="0">
                <a:latin typeface="Corbel" pitchFamily="34" charset="0"/>
              </a:rPr>
              <a:t>Memory management unit (MMU) translates virtual addresses into physical addresses. </a:t>
            </a:r>
          </a:p>
          <a:p>
            <a:pPr algn="just">
              <a:buFontTx/>
              <a:buChar char="•"/>
            </a:pPr>
            <a:r>
              <a:rPr lang="en-US" altLang="en-US" dirty="0">
                <a:latin typeface="Corbel" pitchFamily="34" charset="0"/>
              </a:rPr>
              <a:t>If the desired data or instructions are in the main memory they are fetched as described  previously.</a:t>
            </a:r>
          </a:p>
          <a:p>
            <a:pPr algn="just">
              <a:buFontTx/>
              <a:buChar char="•"/>
            </a:pPr>
            <a:r>
              <a:rPr lang="en-US" altLang="en-US" dirty="0">
                <a:latin typeface="Corbel" pitchFamily="34" charset="0"/>
              </a:rPr>
              <a:t>If the desired data or instructions are not in the main memory, they must be transferred from secondary storage to the main memory.</a:t>
            </a:r>
          </a:p>
          <a:p>
            <a:pPr algn="just">
              <a:buFontTx/>
              <a:buChar char="•"/>
            </a:pPr>
            <a:r>
              <a:rPr lang="en-US" altLang="en-US" dirty="0">
                <a:latin typeface="Corbel" pitchFamily="34" charset="0"/>
              </a:rPr>
              <a:t>MMU causes the operating system to bring the data from the secondary storage into the  main memory.</a:t>
            </a:r>
            <a:endParaRPr lang="en-IN" dirty="0"/>
          </a:p>
        </p:txBody>
      </p:sp>
      <p:sp>
        <p:nvSpPr>
          <p:cNvPr id="6" name="Content Placeholder 5"/>
          <p:cNvSpPr>
            <a:spLocks noGrp="1"/>
          </p:cNvSpPr>
          <p:nvPr>
            <p:ph sz="quarter" idx="2"/>
          </p:nvPr>
        </p:nvSpPr>
        <p:spPr/>
        <p:txBody>
          <a:bodyPr>
            <a:normAutofit fontScale="70000" lnSpcReduction="20000"/>
          </a:bodyPr>
          <a:lstStyle/>
          <a:p>
            <a:endParaRPr lang="en-IN" dirty="0"/>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106</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7275" y="1095375"/>
            <a:ext cx="3438525" cy="576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55656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Memory-6</a:t>
            </a:r>
            <a:br>
              <a:rPr lang="en-IN" b="1" dirty="0"/>
            </a:br>
            <a:r>
              <a:rPr lang="en-IN" b="1" dirty="0"/>
              <a:t>Address Translation</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107</a:t>
            </a:fld>
            <a:endParaRPr lang="en-US"/>
          </a:p>
        </p:txBody>
      </p:sp>
      <p:sp>
        <p:nvSpPr>
          <p:cNvPr id="4" name="Content Placeholder 3"/>
          <p:cNvSpPr>
            <a:spLocks noGrp="1"/>
          </p:cNvSpPr>
          <p:nvPr>
            <p:ph sz="quarter" idx="1"/>
          </p:nvPr>
        </p:nvSpPr>
        <p:spPr/>
        <p:txBody>
          <a:bodyPr>
            <a:normAutofit fontScale="92500" lnSpcReduction="10000"/>
          </a:bodyPr>
          <a:lstStyle/>
          <a:p>
            <a:pPr marL="438912" algn="just">
              <a:spcBef>
                <a:spcPts val="0"/>
              </a:spcBef>
              <a:buFont typeface="Wingdings 2"/>
              <a:buChar char=""/>
              <a:defRPr/>
            </a:pPr>
            <a:r>
              <a:rPr lang="en-US" dirty="0"/>
              <a:t>Assume that program and data are composed of fixed-length units called pages. </a:t>
            </a:r>
          </a:p>
          <a:p>
            <a:pPr marL="438912" algn="just">
              <a:spcBef>
                <a:spcPts val="0"/>
              </a:spcBef>
              <a:buFont typeface="Wingdings 2"/>
              <a:buChar char=""/>
              <a:defRPr/>
            </a:pPr>
            <a:r>
              <a:rPr lang="en-US" dirty="0"/>
              <a:t>A page consists of a block of words that occupy contiguous locations in the main memory.</a:t>
            </a:r>
          </a:p>
          <a:p>
            <a:pPr marL="438912" algn="just">
              <a:spcBef>
                <a:spcPts val="0"/>
              </a:spcBef>
              <a:buFont typeface="Wingdings 2"/>
              <a:buChar char=""/>
              <a:defRPr/>
            </a:pPr>
            <a:r>
              <a:rPr lang="en-US" dirty="0"/>
              <a:t>Page is a basic unit of information that is transferred between secondary storage and main memory. </a:t>
            </a:r>
          </a:p>
          <a:p>
            <a:pPr marL="438912" algn="just">
              <a:spcBef>
                <a:spcPts val="0"/>
              </a:spcBef>
              <a:buFont typeface="Wingdings 2"/>
              <a:buChar char=""/>
              <a:defRPr/>
            </a:pPr>
            <a:r>
              <a:rPr lang="en-US" dirty="0"/>
              <a:t>Size of a page commonly ranges from 2K to 16K bytes. </a:t>
            </a:r>
          </a:p>
          <a:p>
            <a:pPr marL="731520" lvl="1" algn="just">
              <a:buFont typeface="Wingdings"/>
              <a:buChar char=""/>
              <a:defRPr/>
            </a:pPr>
            <a:r>
              <a:rPr lang="en-US" sz="1800" dirty="0"/>
              <a:t>Pages should not be too small, because the access time of a secondary storage device is much larger than the main memory. </a:t>
            </a:r>
          </a:p>
          <a:p>
            <a:pPr marL="731520" lvl="1" algn="just">
              <a:buFont typeface="Wingdings"/>
              <a:buChar char=""/>
              <a:defRPr/>
            </a:pPr>
            <a:r>
              <a:rPr lang="en-US" sz="1800" dirty="0"/>
              <a:t>Pages should not be too large, else a large portion of the page may not be used, and it will occupy valuable space in the main memory.</a:t>
            </a:r>
            <a:endParaRPr lang="en-IN" dirty="0"/>
          </a:p>
        </p:txBody>
      </p:sp>
    </p:spTree>
    <p:extLst>
      <p:ext uri="{BB962C8B-B14F-4D97-AF65-F5344CB8AC3E}">
        <p14:creationId xmlns:p14="http://schemas.microsoft.com/office/powerpoint/2010/main" val="274398014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Memory-7</a:t>
            </a:r>
            <a:br>
              <a:rPr lang="en-IN" b="1" dirty="0"/>
            </a:br>
            <a:r>
              <a:rPr lang="en-IN" b="1" dirty="0"/>
              <a:t>Address Translation</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108</a:t>
            </a:fld>
            <a:endParaRPr lang="en-US"/>
          </a:p>
        </p:txBody>
      </p:sp>
      <p:sp>
        <p:nvSpPr>
          <p:cNvPr id="4" name="Content Placeholder 3"/>
          <p:cNvSpPr>
            <a:spLocks noGrp="1"/>
          </p:cNvSpPr>
          <p:nvPr>
            <p:ph sz="quarter" idx="1"/>
          </p:nvPr>
        </p:nvSpPr>
        <p:spPr/>
        <p:txBody>
          <a:bodyPr/>
          <a:lstStyle/>
          <a:p>
            <a:pPr algn="just"/>
            <a:r>
              <a:rPr lang="en-US" altLang="en-US" dirty="0"/>
              <a:t>Concepts of virtual memory are similar to the concepts of cache memory. </a:t>
            </a:r>
          </a:p>
          <a:p>
            <a:pPr algn="just"/>
            <a:r>
              <a:rPr lang="en-US" altLang="en-US" dirty="0"/>
              <a:t>Cache memory:</a:t>
            </a:r>
          </a:p>
          <a:p>
            <a:pPr lvl="1" algn="just"/>
            <a:r>
              <a:rPr lang="en-US" altLang="en-US" sz="1800" dirty="0"/>
              <a:t>Introduced to bridge the speed gap between the processor and the main memory.</a:t>
            </a:r>
          </a:p>
          <a:p>
            <a:pPr lvl="1" algn="just"/>
            <a:r>
              <a:rPr lang="en-US" altLang="en-US" sz="1800" dirty="0"/>
              <a:t>Implemented in hardware.</a:t>
            </a:r>
          </a:p>
          <a:p>
            <a:pPr algn="just"/>
            <a:r>
              <a:rPr lang="en-US" altLang="en-US" dirty="0"/>
              <a:t>Virtual memory:</a:t>
            </a:r>
          </a:p>
          <a:p>
            <a:pPr lvl="1" algn="just"/>
            <a:r>
              <a:rPr lang="en-US" altLang="en-US" sz="1800" dirty="0"/>
              <a:t>Introduced to bridge the speed gap between the main memory and secondary storage. </a:t>
            </a:r>
          </a:p>
          <a:p>
            <a:pPr lvl="1" algn="just"/>
            <a:r>
              <a:rPr lang="en-US" altLang="en-US" sz="1800" dirty="0"/>
              <a:t>Implemented in part by software.</a:t>
            </a:r>
            <a:endParaRPr lang="en-IN" dirty="0"/>
          </a:p>
        </p:txBody>
      </p:sp>
    </p:spTree>
    <p:extLst>
      <p:ext uri="{BB962C8B-B14F-4D97-AF65-F5344CB8AC3E}">
        <p14:creationId xmlns:p14="http://schemas.microsoft.com/office/powerpoint/2010/main" val="144172403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Memory-8</a:t>
            </a:r>
            <a:br>
              <a:rPr lang="en-IN" b="1" dirty="0"/>
            </a:br>
            <a:r>
              <a:rPr lang="en-IN" b="1" dirty="0"/>
              <a:t>Address Translation</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109</a:t>
            </a:fld>
            <a:endParaRPr lang="en-US"/>
          </a:p>
        </p:txBody>
      </p:sp>
      <p:sp>
        <p:nvSpPr>
          <p:cNvPr id="4" name="Content Placeholder 3"/>
          <p:cNvSpPr>
            <a:spLocks noGrp="1"/>
          </p:cNvSpPr>
          <p:nvPr>
            <p:ph sz="quarter" idx="1"/>
          </p:nvPr>
        </p:nvSpPr>
        <p:spPr/>
        <p:txBody>
          <a:bodyPr>
            <a:normAutofit fontScale="92500" lnSpcReduction="20000"/>
          </a:bodyPr>
          <a:lstStyle/>
          <a:p>
            <a:pPr marL="438912" algn="just">
              <a:spcBef>
                <a:spcPts val="0"/>
              </a:spcBef>
              <a:buFont typeface="Wingdings 2"/>
              <a:buChar char=""/>
              <a:defRPr/>
            </a:pPr>
            <a:r>
              <a:rPr lang="en-US" dirty="0"/>
              <a:t>Each virtual or logical address generated by a processor is interpreted as a virtual page number (high-order bits) plus an offset (low-order bits) that specifies the location of a particular byte within that page.</a:t>
            </a:r>
          </a:p>
          <a:p>
            <a:pPr marL="438912" algn="just">
              <a:spcBef>
                <a:spcPts val="0"/>
              </a:spcBef>
              <a:buFont typeface="Wingdings 2"/>
              <a:buChar char=""/>
              <a:defRPr/>
            </a:pPr>
            <a:r>
              <a:rPr lang="en-US" dirty="0"/>
              <a:t>Information about the main memory location of each page is kept in the </a:t>
            </a:r>
            <a:r>
              <a:rPr lang="en-US" u="sng" dirty="0"/>
              <a:t>page table</a:t>
            </a:r>
            <a:r>
              <a:rPr lang="en-US" dirty="0"/>
              <a:t>.</a:t>
            </a:r>
          </a:p>
          <a:p>
            <a:pPr marL="731520" lvl="1" algn="just">
              <a:buFont typeface="Wingdings"/>
              <a:buChar char=""/>
              <a:defRPr/>
            </a:pPr>
            <a:r>
              <a:rPr lang="en-US" sz="1800" dirty="0"/>
              <a:t>Main memory address where the page is stored. </a:t>
            </a:r>
          </a:p>
          <a:p>
            <a:pPr marL="731520" lvl="1" algn="just">
              <a:buFont typeface="Wingdings"/>
              <a:buChar char=""/>
              <a:defRPr/>
            </a:pPr>
            <a:r>
              <a:rPr lang="en-US" sz="1800" dirty="0"/>
              <a:t>Current status of the page.</a:t>
            </a:r>
            <a:r>
              <a:rPr lang="en-US" dirty="0"/>
              <a:t> </a:t>
            </a:r>
          </a:p>
          <a:p>
            <a:pPr marL="438912" algn="just">
              <a:spcBef>
                <a:spcPts val="0"/>
              </a:spcBef>
              <a:buFont typeface="Wingdings 2"/>
              <a:buChar char=""/>
              <a:defRPr/>
            </a:pPr>
            <a:r>
              <a:rPr lang="en-US" dirty="0"/>
              <a:t>Area of the main memory that can hold a page is called as </a:t>
            </a:r>
            <a:r>
              <a:rPr lang="en-US" u="sng" dirty="0"/>
              <a:t>page frame</a:t>
            </a:r>
            <a:r>
              <a:rPr lang="en-US" dirty="0"/>
              <a:t>.</a:t>
            </a:r>
          </a:p>
          <a:p>
            <a:pPr marL="438912" algn="just">
              <a:spcBef>
                <a:spcPts val="0"/>
              </a:spcBef>
              <a:buFont typeface="Wingdings 2"/>
              <a:buChar char=""/>
              <a:defRPr/>
            </a:pPr>
            <a:r>
              <a:rPr lang="en-US" dirty="0"/>
              <a:t>Starting address of the page table is kept in a </a:t>
            </a:r>
            <a:r>
              <a:rPr lang="en-US" u="sng" dirty="0"/>
              <a:t>page table base register.</a:t>
            </a:r>
          </a:p>
          <a:p>
            <a:pPr algn="just"/>
            <a:endParaRPr lang="en-IN" dirty="0"/>
          </a:p>
        </p:txBody>
      </p:sp>
    </p:spTree>
    <p:extLst>
      <p:ext uri="{BB962C8B-B14F-4D97-AF65-F5344CB8AC3E}">
        <p14:creationId xmlns:p14="http://schemas.microsoft.com/office/powerpoint/2010/main" val="40351389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Memory-9</a:t>
            </a:r>
            <a:br>
              <a:rPr lang="en-IN" b="1" dirty="0"/>
            </a:br>
            <a:r>
              <a:rPr lang="en-IN" b="1" dirty="0"/>
              <a:t>Address Translation</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110</a:t>
            </a:fld>
            <a:endParaRPr lang="en-US"/>
          </a:p>
        </p:txBody>
      </p:sp>
      <p:sp>
        <p:nvSpPr>
          <p:cNvPr id="4" name="Content Placeholder 3"/>
          <p:cNvSpPr>
            <a:spLocks noGrp="1"/>
          </p:cNvSpPr>
          <p:nvPr>
            <p:ph sz="quarter" idx="1"/>
          </p:nvPr>
        </p:nvSpPr>
        <p:spPr/>
        <p:txBody>
          <a:bodyPr/>
          <a:lstStyle/>
          <a:p>
            <a:pPr algn="just"/>
            <a:r>
              <a:rPr lang="en-US" altLang="en-US" dirty="0"/>
              <a:t>Virtual page number generated by the processor is added to the contents of the page table base register. </a:t>
            </a:r>
          </a:p>
          <a:p>
            <a:pPr lvl="1" algn="just"/>
            <a:r>
              <a:rPr lang="en-US" altLang="en-US" sz="1800" dirty="0"/>
              <a:t>This provides the address of the corresponding entry in the page table.</a:t>
            </a:r>
            <a:r>
              <a:rPr lang="en-US" altLang="en-US" dirty="0"/>
              <a:t> </a:t>
            </a:r>
          </a:p>
          <a:p>
            <a:pPr algn="just"/>
            <a:r>
              <a:rPr lang="en-US" altLang="en-US" dirty="0"/>
              <a:t>The contents of this location in the page table give the starting address of the page if the page is currently in the main memory.</a:t>
            </a:r>
            <a:endParaRPr lang="en-IN" dirty="0"/>
          </a:p>
        </p:txBody>
      </p:sp>
    </p:spTree>
    <p:extLst>
      <p:ext uri="{BB962C8B-B14F-4D97-AF65-F5344CB8AC3E}">
        <p14:creationId xmlns:p14="http://schemas.microsoft.com/office/powerpoint/2010/main" val="47665663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Memory-10</a:t>
            </a:r>
            <a:br>
              <a:rPr lang="en-IN" b="1" dirty="0"/>
            </a:br>
            <a:r>
              <a:rPr lang="en-IN" b="1" dirty="0"/>
              <a:t>Address Translation</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111</a:t>
            </a:fld>
            <a:endParaRPr lang="en-US"/>
          </a:p>
        </p:txBody>
      </p:sp>
      <p:grpSp>
        <p:nvGrpSpPr>
          <p:cNvPr id="87" name="Group 86"/>
          <p:cNvGrpSpPr/>
          <p:nvPr/>
        </p:nvGrpSpPr>
        <p:grpSpPr>
          <a:xfrm>
            <a:off x="454025" y="1659523"/>
            <a:ext cx="8479711" cy="5123279"/>
            <a:chOff x="454025" y="1659523"/>
            <a:chExt cx="8479711" cy="5123279"/>
          </a:xfrm>
        </p:grpSpPr>
        <p:sp>
          <p:nvSpPr>
            <p:cNvPr id="6" name="Rectangle 4"/>
            <p:cNvSpPr>
              <a:spLocks noChangeArrowheads="1"/>
            </p:cNvSpPr>
            <p:nvPr/>
          </p:nvSpPr>
          <p:spPr bwMode="auto">
            <a:xfrm>
              <a:off x="4013200" y="5881687"/>
              <a:ext cx="75982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Page frame</a:t>
              </a:r>
              <a:endParaRPr lang="en-CA" altLang="en-US" sz="2400" b="1">
                <a:latin typeface="Corbel" pitchFamily="34" charset="0"/>
              </a:endParaRPr>
            </a:p>
          </p:txBody>
        </p:sp>
        <p:sp>
          <p:nvSpPr>
            <p:cNvPr id="7" name="Rectangle 5"/>
            <p:cNvSpPr>
              <a:spLocks noChangeArrowheads="1"/>
            </p:cNvSpPr>
            <p:nvPr/>
          </p:nvSpPr>
          <p:spPr bwMode="auto">
            <a:xfrm>
              <a:off x="4782198" y="1659523"/>
              <a:ext cx="209031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dirty="0">
                  <a:latin typeface="Nimbus Roman No9 L"/>
                </a:rPr>
                <a:t>Virtual address from processor</a:t>
              </a:r>
              <a:endParaRPr lang="en-CA" altLang="en-US" sz="2400" b="1" dirty="0">
                <a:latin typeface="Corbel" pitchFamily="34" charset="0"/>
              </a:endParaRPr>
            </a:p>
          </p:txBody>
        </p:sp>
        <p:sp>
          <p:nvSpPr>
            <p:cNvPr id="8" name="Rectangle 6"/>
            <p:cNvSpPr>
              <a:spLocks noChangeArrowheads="1"/>
            </p:cNvSpPr>
            <p:nvPr/>
          </p:nvSpPr>
          <p:spPr bwMode="auto">
            <a:xfrm>
              <a:off x="4027488" y="6003925"/>
              <a:ext cx="71173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in memory</a:t>
              </a:r>
              <a:endParaRPr lang="en-CA" altLang="en-US" sz="2400" b="1">
                <a:latin typeface="Corbel" pitchFamily="34" charset="0"/>
              </a:endParaRPr>
            </a:p>
          </p:txBody>
        </p:sp>
        <p:sp>
          <p:nvSpPr>
            <p:cNvPr id="9" name="Freeform 7"/>
            <p:cNvSpPr>
              <a:spLocks/>
            </p:cNvSpPr>
            <p:nvPr/>
          </p:nvSpPr>
          <p:spPr bwMode="auto">
            <a:xfrm>
              <a:off x="5210175" y="6310312"/>
              <a:ext cx="1765300" cy="92075"/>
            </a:xfrm>
            <a:custGeom>
              <a:avLst/>
              <a:gdLst>
                <a:gd name="T0" fmla="*/ 1765300 w 115"/>
                <a:gd name="T1" fmla="*/ 0 h 6"/>
                <a:gd name="T2" fmla="*/ 1765300 w 115"/>
                <a:gd name="T3" fmla="*/ 92075 h 6"/>
                <a:gd name="T4" fmla="*/ 1673197 w 115"/>
                <a:gd name="T5" fmla="*/ 92075 h 6"/>
                <a:gd name="T6" fmla="*/ 92103 w 115"/>
                <a:gd name="T7" fmla="*/ 92075 h 6"/>
                <a:gd name="T8" fmla="*/ 0 w 115"/>
                <a:gd name="T9" fmla="*/ 92075 h 6"/>
                <a:gd name="T10" fmla="*/ 0 w 115"/>
                <a:gd name="T11" fmla="*/ 0 h 6"/>
                <a:gd name="T12" fmla="*/ 0 60000 65536"/>
                <a:gd name="T13" fmla="*/ 0 60000 65536"/>
                <a:gd name="T14" fmla="*/ 0 60000 65536"/>
                <a:gd name="T15" fmla="*/ 0 60000 65536"/>
                <a:gd name="T16" fmla="*/ 0 60000 65536"/>
                <a:gd name="T17" fmla="*/ 0 60000 65536"/>
                <a:gd name="T18" fmla="*/ 0 w 115"/>
                <a:gd name="T19" fmla="*/ 0 h 6"/>
                <a:gd name="T20" fmla="*/ 115 w 115"/>
                <a:gd name="T21" fmla="*/ 6 h 6"/>
              </a:gdLst>
              <a:ahLst/>
              <a:cxnLst>
                <a:cxn ang="T12">
                  <a:pos x="T0" y="T1"/>
                </a:cxn>
                <a:cxn ang="T13">
                  <a:pos x="T2" y="T3"/>
                </a:cxn>
                <a:cxn ang="T14">
                  <a:pos x="T4" y="T5"/>
                </a:cxn>
                <a:cxn ang="T15">
                  <a:pos x="T6" y="T7"/>
                </a:cxn>
                <a:cxn ang="T16">
                  <a:pos x="T8" y="T9"/>
                </a:cxn>
                <a:cxn ang="T17">
                  <a:pos x="T10" y="T11"/>
                </a:cxn>
              </a:cxnLst>
              <a:rect l="T18" t="T19" r="T20" b="T21"/>
              <a:pathLst>
                <a:path w="115" h="6">
                  <a:moveTo>
                    <a:pt x="115" y="0"/>
                  </a:moveTo>
                  <a:lnTo>
                    <a:pt x="115" y="6"/>
                  </a:lnTo>
                  <a:lnTo>
                    <a:pt x="109" y="6"/>
                  </a:lnTo>
                  <a:lnTo>
                    <a:pt x="6" y="6"/>
                  </a:lnTo>
                  <a:lnTo>
                    <a:pt x="0" y="6"/>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10" name="Rectangle 8"/>
            <p:cNvSpPr>
              <a:spLocks noChangeArrowheads="1"/>
            </p:cNvSpPr>
            <p:nvPr/>
          </p:nvSpPr>
          <p:spPr bwMode="auto">
            <a:xfrm>
              <a:off x="6453188" y="2243137"/>
              <a:ext cx="40556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Offset</a:t>
              </a:r>
              <a:endParaRPr lang="en-CA" altLang="en-US" sz="2400" b="1">
                <a:latin typeface="Corbel" pitchFamily="34" charset="0"/>
              </a:endParaRPr>
            </a:p>
          </p:txBody>
        </p:sp>
        <p:sp>
          <p:nvSpPr>
            <p:cNvPr id="11" name="Rectangle 9"/>
            <p:cNvSpPr>
              <a:spLocks noChangeArrowheads="1"/>
            </p:cNvSpPr>
            <p:nvPr/>
          </p:nvSpPr>
          <p:spPr bwMode="auto">
            <a:xfrm>
              <a:off x="6453188" y="6049962"/>
              <a:ext cx="40556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Offset</a:t>
              </a:r>
              <a:endParaRPr lang="en-CA" altLang="en-US" sz="2400" b="1">
                <a:latin typeface="Corbel" pitchFamily="34" charset="0"/>
              </a:endParaRPr>
            </a:p>
          </p:txBody>
        </p:sp>
        <p:sp>
          <p:nvSpPr>
            <p:cNvPr id="12" name="Freeform 10"/>
            <p:cNvSpPr>
              <a:spLocks/>
            </p:cNvSpPr>
            <p:nvPr/>
          </p:nvSpPr>
          <p:spPr bwMode="auto">
            <a:xfrm>
              <a:off x="4673600" y="2074862"/>
              <a:ext cx="2301875" cy="92075"/>
            </a:xfrm>
            <a:custGeom>
              <a:avLst/>
              <a:gdLst>
                <a:gd name="T0" fmla="*/ 2301875 w 150"/>
                <a:gd name="T1" fmla="*/ 92075 h 6"/>
                <a:gd name="T2" fmla="*/ 2301875 w 150"/>
                <a:gd name="T3" fmla="*/ 0 h 6"/>
                <a:gd name="T4" fmla="*/ 2209800 w 150"/>
                <a:gd name="T5" fmla="*/ 0 h 6"/>
                <a:gd name="T6" fmla="*/ 92075 w 150"/>
                <a:gd name="T7" fmla="*/ 0 h 6"/>
                <a:gd name="T8" fmla="*/ 0 w 150"/>
                <a:gd name="T9" fmla="*/ 0 h 6"/>
                <a:gd name="T10" fmla="*/ 0 w 150"/>
                <a:gd name="T11" fmla="*/ 92075 h 6"/>
                <a:gd name="T12" fmla="*/ 0 60000 65536"/>
                <a:gd name="T13" fmla="*/ 0 60000 65536"/>
                <a:gd name="T14" fmla="*/ 0 60000 65536"/>
                <a:gd name="T15" fmla="*/ 0 60000 65536"/>
                <a:gd name="T16" fmla="*/ 0 60000 65536"/>
                <a:gd name="T17" fmla="*/ 0 60000 65536"/>
                <a:gd name="T18" fmla="*/ 0 w 150"/>
                <a:gd name="T19" fmla="*/ 0 h 6"/>
                <a:gd name="T20" fmla="*/ 150 w 150"/>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0" h="6">
                  <a:moveTo>
                    <a:pt x="150" y="6"/>
                  </a:moveTo>
                  <a:lnTo>
                    <a:pt x="150" y="0"/>
                  </a:lnTo>
                  <a:lnTo>
                    <a:pt x="144" y="0"/>
                  </a:lnTo>
                  <a:lnTo>
                    <a:pt x="6" y="0"/>
                  </a:lnTo>
                  <a:lnTo>
                    <a:pt x="0" y="0"/>
                  </a:lnTo>
                  <a:lnTo>
                    <a:pt x="0" y="6"/>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13" name="Line 11"/>
            <p:cNvSpPr>
              <a:spLocks noChangeShapeType="1"/>
            </p:cNvSpPr>
            <p:nvPr/>
          </p:nvSpPr>
          <p:spPr bwMode="auto">
            <a:xfrm flipV="1">
              <a:off x="6269038" y="2212975"/>
              <a:ext cx="1587" cy="2603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14" name="Rectangle 12"/>
            <p:cNvSpPr>
              <a:spLocks noChangeArrowheads="1"/>
            </p:cNvSpPr>
            <p:nvPr/>
          </p:nvSpPr>
          <p:spPr bwMode="auto">
            <a:xfrm>
              <a:off x="4809648" y="2243137"/>
              <a:ext cx="136255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dirty="0">
                  <a:latin typeface="Nimbus Roman No9 L"/>
                </a:rPr>
                <a:t>Virtual page number</a:t>
              </a:r>
              <a:endParaRPr lang="en-CA" altLang="en-US" sz="2400" b="1" dirty="0">
                <a:latin typeface="Corbel" pitchFamily="34" charset="0"/>
              </a:endParaRPr>
            </a:p>
          </p:txBody>
        </p:sp>
        <p:sp>
          <p:nvSpPr>
            <p:cNvPr id="15" name="Rectangle 13"/>
            <p:cNvSpPr>
              <a:spLocks noChangeArrowheads="1"/>
            </p:cNvSpPr>
            <p:nvPr/>
          </p:nvSpPr>
          <p:spPr bwMode="auto">
            <a:xfrm>
              <a:off x="2201863" y="2212975"/>
              <a:ext cx="1411287" cy="26035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b="1">
                <a:latin typeface="Corbel" pitchFamily="34" charset="0"/>
              </a:endParaRPr>
            </a:p>
          </p:txBody>
        </p:sp>
        <p:sp>
          <p:nvSpPr>
            <p:cNvPr id="16" name="Rectangle 14"/>
            <p:cNvSpPr>
              <a:spLocks noChangeArrowheads="1"/>
            </p:cNvSpPr>
            <p:nvPr/>
          </p:nvSpPr>
          <p:spPr bwMode="auto">
            <a:xfrm>
              <a:off x="2295792" y="2243137"/>
              <a:ext cx="128560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dirty="0">
                  <a:latin typeface="Nimbus Roman No9 L"/>
                </a:rPr>
                <a:t>Page table address</a:t>
              </a:r>
              <a:endParaRPr lang="en-CA" altLang="en-US" sz="2400" b="1" dirty="0">
                <a:latin typeface="Corbel" pitchFamily="34" charset="0"/>
              </a:endParaRPr>
            </a:p>
          </p:txBody>
        </p:sp>
        <p:sp>
          <p:nvSpPr>
            <p:cNvPr id="17" name="Rectangle 15"/>
            <p:cNvSpPr>
              <a:spLocks noChangeArrowheads="1"/>
            </p:cNvSpPr>
            <p:nvPr/>
          </p:nvSpPr>
          <p:spPr bwMode="auto">
            <a:xfrm>
              <a:off x="2262188" y="1936750"/>
              <a:ext cx="16206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Page table base register</a:t>
              </a:r>
              <a:endParaRPr lang="en-CA" altLang="en-US" sz="2400" b="1">
                <a:latin typeface="Corbel" pitchFamily="34" charset="0"/>
              </a:endParaRPr>
            </a:p>
          </p:txBody>
        </p:sp>
        <p:sp>
          <p:nvSpPr>
            <p:cNvPr id="18" name="Line 16"/>
            <p:cNvSpPr>
              <a:spLocks noChangeShapeType="1"/>
            </p:cNvSpPr>
            <p:nvPr/>
          </p:nvSpPr>
          <p:spPr bwMode="auto">
            <a:xfrm flipV="1">
              <a:off x="6269038" y="6003925"/>
              <a:ext cx="1587" cy="2603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19" name="Rectangle 17"/>
            <p:cNvSpPr>
              <a:spLocks noChangeArrowheads="1"/>
            </p:cNvSpPr>
            <p:nvPr/>
          </p:nvSpPr>
          <p:spPr bwMode="auto">
            <a:xfrm>
              <a:off x="3306763" y="5881687"/>
              <a:ext cx="50174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Control</a:t>
              </a:r>
              <a:endParaRPr lang="en-CA" altLang="en-US" sz="2400" b="1">
                <a:latin typeface="Corbel" pitchFamily="34" charset="0"/>
              </a:endParaRPr>
            </a:p>
          </p:txBody>
        </p:sp>
        <p:sp>
          <p:nvSpPr>
            <p:cNvPr id="20" name="Rectangle 18"/>
            <p:cNvSpPr>
              <a:spLocks noChangeArrowheads="1"/>
            </p:cNvSpPr>
            <p:nvPr/>
          </p:nvSpPr>
          <p:spPr bwMode="auto">
            <a:xfrm>
              <a:off x="3414713" y="6003925"/>
              <a:ext cx="25006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bits</a:t>
              </a:r>
              <a:endParaRPr lang="en-CA" altLang="en-US" sz="2400" b="1">
                <a:latin typeface="Corbel" pitchFamily="34" charset="0"/>
              </a:endParaRPr>
            </a:p>
          </p:txBody>
        </p:sp>
        <p:sp>
          <p:nvSpPr>
            <p:cNvPr id="21" name="Line 19"/>
            <p:cNvSpPr>
              <a:spLocks noChangeShapeType="1"/>
            </p:cNvSpPr>
            <p:nvPr/>
          </p:nvSpPr>
          <p:spPr bwMode="auto">
            <a:xfrm flipV="1">
              <a:off x="3783013" y="3532187"/>
              <a:ext cx="1587" cy="2119313"/>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22" name="Line 20"/>
            <p:cNvSpPr>
              <a:spLocks noChangeShapeType="1"/>
            </p:cNvSpPr>
            <p:nvPr/>
          </p:nvSpPr>
          <p:spPr bwMode="auto">
            <a:xfrm flipH="1">
              <a:off x="3260725" y="3532187"/>
              <a:ext cx="1597025"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23" name="Line 21"/>
            <p:cNvSpPr>
              <a:spLocks noChangeShapeType="1"/>
            </p:cNvSpPr>
            <p:nvPr/>
          </p:nvSpPr>
          <p:spPr bwMode="auto">
            <a:xfrm flipH="1">
              <a:off x="3260725" y="3794125"/>
              <a:ext cx="1597025"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24" name="Line 22"/>
            <p:cNvSpPr>
              <a:spLocks noChangeShapeType="1"/>
            </p:cNvSpPr>
            <p:nvPr/>
          </p:nvSpPr>
          <p:spPr bwMode="auto">
            <a:xfrm flipH="1">
              <a:off x="3260725" y="4054475"/>
              <a:ext cx="1597025"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25" name="Line 23"/>
            <p:cNvSpPr>
              <a:spLocks noChangeShapeType="1"/>
            </p:cNvSpPr>
            <p:nvPr/>
          </p:nvSpPr>
          <p:spPr bwMode="auto">
            <a:xfrm flipH="1">
              <a:off x="3260725" y="4591050"/>
              <a:ext cx="1597025"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26" name="Line 24"/>
            <p:cNvSpPr>
              <a:spLocks noChangeShapeType="1"/>
            </p:cNvSpPr>
            <p:nvPr/>
          </p:nvSpPr>
          <p:spPr bwMode="auto">
            <a:xfrm flipH="1">
              <a:off x="3260725" y="4852987"/>
              <a:ext cx="1597025"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27" name="Line 25"/>
            <p:cNvSpPr>
              <a:spLocks noChangeShapeType="1"/>
            </p:cNvSpPr>
            <p:nvPr/>
          </p:nvSpPr>
          <p:spPr bwMode="auto">
            <a:xfrm flipH="1">
              <a:off x="3260725" y="5389562"/>
              <a:ext cx="1597025" cy="158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28" name="Freeform 26"/>
            <p:cNvSpPr>
              <a:spLocks/>
            </p:cNvSpPr>
            <p:nvPr/>
          </p:nvSpPr>
          <p:spPr bwMode="auto">
            <a:xfrm>
              <a:off x="3260725" y="3532187"/>
              <a:ext cx="1597025" cy="2119313"/>
            </a:xfrm>
            <a:custGeom>
              <a:avLst/>
              <a:gdLst>
                <a:gd name="T0" fmla="*/ 1597025 w 104"/>
                <a:gd name="T1" fmla="*/ 2119313 h 138"/>
                <a:gd name="T2" fmla="*/ 0 w 104"/>
                <a:gd name="T3" fmla="*/ 2119313 h 138"/>
                <a:gd name="T4" fmla="*/ 0 w 104"/>
                <a:gd name="T5" fmla="*/ 2119313 h 138"/>
                <a:gd name="T6" fmla="*/ 0 w 104"/>
                <a:gd name="T7" fmla="*/ 0 h 138"/>
                <a:gd name="T8" fmla="*/ 0 60000 65536"/>
                <a:gd name="T9" fmla="*/ 0 60000 65536"/>
                <a:gd name="T10" fmla="*/ 0 60000 65536"/>
                <a:gd name="T11" fmla="*/ 0 60000 65536"/>
                <a:gd name="T12" fmla="*/ 0 w 104"/>
                <a:gd name="T13" fmla="*/ 0 h 138"/>
                <a:gd name="T14" fmla="*/ 104 w 104"/>
                <a:gd name="T15" fmla="*/ 138 h 138"/>
              </a:gdLst>
              <a:ahLst/>
              <a:cxnLst>
                <a:cxn ang="T8">
                  <a:pos x="T0" y="T1"/>
                </a:cxn>
                <a:cxn ang="T9">
                  <a:pos x="T2" y="T3"/>
                </a:cxn>
                <a:cxn ang="T10">
                  <a:pos x="T4" y="T5"/>
                </a:cxn>
                <a:cxn ang="T11">
                  <a:pos x="T6" y="T7"/>
                </a:cxn>
              </a:cxnLst>
              <a:rect l="T12" t="T13" r="T14" b="T15"/>
              <a:pathLst>
                <a:path w="104" h="138">
                  <a:moveTo>
                    <a:pt x="104" y="138"/>
                  </a:moveTo>
                  <a:lnTo>
                    <a:pt x="0" y="138"/>
                  </a:lnTo>
                  <a:lnTo>
                    <a:pt x="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29" name="Line 27"/>
            <p:cNvSpPr>
              <a:spLocks noChangeShapeType="1"/>
            </p:cNvSpPr>
            <p:nvPr/>
          </p:nvSpPr>
          <p:spPr bwMode="auto">
            <a:xfrm flipV="1">
              <a:off x="4857750" y="3532187"/>
              <a:ext cx="1588" cy="2119313"/>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30" name="Rectangle 28"/>
            <p:cNvSpPr>
              <a:spLocks noChangeArrowheads="1"/>
            </p:cNvSpPr>
            <p:nvPr/>
          </p:nvSpPr>
          <p:spPr bwMode="auto">
            <a:xfrm>
              <a:off x="4673600" y="2212975"/>
              <a:ext cx="2301875" cy="26035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b="1">
                <a:latin typeface="Corbel" pitchFamily="34" charset="0"/>
              </a:endParaRPr>
            </a:p>
          </p:txBody>
        </p:sp>
        <p:sp>
          <p:nvSpPr>
            <p:cNvPr id="31" name="Rectangle 29"/>
            <p:cNvSpPr>
              <a:spLocks noChangeArrowheads="1"/>
            </p:cNvSpPr>
            <p:nvPr/>
          </p:nvSpPr>
          <p:spPr bwMode="auto">
            <a:xfrm>
              <a:off x="5210175" y="6003925"/>
              <a:ext cx="1765300" cy="26035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US" altLang="en-US" b="1">
                <a:latin typeface="Corbel" pitchFamily="34" charset="0"/>
              </a:endParaRPr>
            </a:p>
          </p:txBody>
        </p:sp>
        <p:sp>
          <p:nvSpPr>
            <p:cNvPr id="32" name="Freeform 30"/>
            <p:cNvSpPr>
              <a:spLocks/>
            </p:cNvSpPr>
            <p:nvPr/>
          </p:nvSpPr>
          <p:spPr bwMode="auto">
            <a:xfrm>
              <a:off x="3060700" y="4699000"/>
              <a:ext cx="92075" cy="46037"/>
            </a:xfrm>
            <a:custGeom>
              <a:avLst/>
              <a:gdLst>
                <a:gd name="T0" fmla="*/ 0 w 6"/>
                <a:gd name="T1" fmla="*/ 46037 h 3"/>
                <a:gd name="T2" fmla="*/ 92075 w 6"/>
                <a:gd name="T3" fmla="*/ 30691 h 3"/>
                <a:gd name="T4" fmla="*/ 0 w 6"/>
                <a:gd name="T5" fmla="*/ 0 h 3"/>
                <a:gd name="T6" fmla="*/ 0 w 6"/>
                <a:gd name="T7" fmla="*/ 30691 h 3"/>
                <a:gd name="T8" fmla="*/ 0 w 6"/>
                <a:gd name="T9" fmla="*/ 46037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2"/>
                  </a:lnTo>
                  <a:lnTo>
                    <a:pt x="0" y="0"/>
                  </a:lnTo>
                  <a:lnTo>
                    <a:pt x="0" y="2"/>
                  </a:lnTo>
                  <a:lnTo>
                    <a:pt x="0" y="3"/>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33" name="Freeform 31"/>
            <p:cNvSpPr>
              <a:spLocks/>
            </p:cNvSpPr>
            <p:nvPr/>
          </p:nvSpPr>
          <p:spPr bwMode="auto">
            <a:xfrm>
              <a:off x="3060700" y="4699000"/>
              <a:ext cx="92075" cy="46037"/>
            </a:xfrm>
            <a:custGeom>
              <a:avLst/>
              <a:gdLst>
                <a:gd name="T0" fmla="*/ 0 w 58"/>
                <a:gd name="T1" fmla="*/ 46037 h 29"/>
                <a:gd name="T2" fmla="*/ 92075 w 58"/>
                <a:gd name="T3" fmla="*/ 31750 h 29"/>
                <a:gd name="T4" fmla="*/ 0 w 58"/>
                <a:gd name="T5" fmla="*/ 0 h 29"/>
                <a:gd name="T6" fmla="*/ 0 w 58"/>
                <a:gd name="T7" fmla="*/ 31750 h 29"/>
                <a:gd name="T8" fmla="*/ 0 w 58"/>
                <a:gd name="T9" fmla="*/ 46037 h 29"/>
                <a:gd name="T10" fmla="*/ 0 60000 65536"/>
                <a:gd name="T11" fmla="*/ 0 60000 65536"/>
                <a:gd name="T12" fmla="*/ 0 60000 65536"/>
                <a:gd name="T13" fmla="*/ 0 60000 65536"/>
                <a:gd name="T14" fmla="*/ 0 60000 65536"/>
                <a:gd name="T15" fmla="*/ 0 w 58"/>
                <a:gd name="T16" fmla="*/ 0 h 29"/>
                <a:gd name="T17" fmla="*/ 58 w 58"/>
                <a:gd name="T18" fmla="*/ 29 h 29"/>
              </a:gdLst>
              <a:ahLst/>
              <a:cxnLst>
                <a:cxn ang="T10">
                  <a:pos x="T0" y="T1"/>
                </a:cxn>
                <a:cxn ang="T11">
                  <a:pos x="T2" y="T3"/>
                </a:cxn>
                <a:cxn ang="T12">
                  <a:pos x="T4" y="T5"/>
                </a:cxn>
                <a:cxn ang="T13">
                  <a:pos x="T6" y="T7"/>
                </a:cxn>
                <a:cxn ang="T14">
                  <a:pos x="T8" y="T9"/>
                </a:cxn>
              </a:cxnLst>
              <a:rect l="T15" t="T16" r="T17" b="T18"/>
              <a:pathLst>
                <a:path w="58" h="29">
                  <a:moveTo>
                    <a:pt x="0" y="29"/>
                  </a:moveTo>
                  <a:lnTo>
                    <a:pt x="58" y="20"/>
                  </a:lnTo>
                  <a:lnTo>
                    <a:pt x="0" y="0"/>
                  </a:lnTo>
                  <a:lnTo>
                    <a:pt x="0" y="20"/>
                  </a:lnTo>
                  <a:lnTo>
                    <a:pt x="0" y="29"/>
                  </a:lnTo>
                  <a:close/>
                </a:path>
              </a:pathLst>
            </a:custGeom>
            <a:solidFill>
              <a:srgbClr val="000000"/>
            </a:solidFill>
            <a:ln w="0">
              <a:solidFill>
                <a:srgbClr val="000000"/>
              </a:solidFill>
              <a:prstDash val="solid"/>
              <a:round/>
              <a:headEnd/>
              <a:tailEnd/>
            </a:ln>
          </p:spPr>
          <p:txBody>
            <a:bodyPr/>
            <a:lstStyle/>
            <a:p>
              <a:endParaRPr lang="en-IN" b="1"/>
            </a:p>
          </p:txBody>
        </p:sp>
        <p:sp>
          <p:nvSpPr>
            <p:cNvPr id="34" name="Freeform 32"/>
            <p:cNvSpPr>
              <a:spLocks/>
            </p:cNvSpPr>
            <p:nvPr/>
          </p:nvSpPr>
          <p:spPr bwMode="auto">
            <a:xfrm>
              <a:off x="2906713" y="3149600"/>
              <a:ext cx="139700" cy="1581150"/>
            </a:xfrm>
            <a:custGeom>
              <a:avLst/>
              <a:gdLst>
                <a:gd name="T0" fmla="*/ 139700 w 9"/>
                <a:gd name="T1" fmla="*/ 1581150 h 103"/>
                <a:gd name="T2" fmla="*/ 0 w 9"/>
                <a:gd name="T3" fmla="*/ 1581150 h 103"/>
                <a:gd name="T4" fmla="*/ 0 w 9"/>
                <a:gd name="T5" fmla="*/ 0 h 103"/>
                <a:gd name="T6" fmla="*/ 0 60000 65536"/>
                <a:gd name="T7" fmla="*/ 0 60000 65536"/>
                <a:gd name="T8" fmla="*/ 0 60000 65536"/>
                <a:gd name="T9" fmla="*/ 0 w 9"/>
                <a:gd name="T10" fmla="*/ 0 h 103"/>
                <a:gd name="T11" fmla="*/ 9 w 9"/>
                <a:gd name="T12" fmla="*/ 103 h 103"/>
              </a:gdLst>
              <a:ahLst/>
              <a:cxnLst>
                <a:cxn ang="T6">
                  <a:pos x="T0" y="T1"/>
                </a:cxn>
                <a:cxn ang="T7">
                  <a:pos x="T2" y="T3"/>
                </a:cxn>
                <a:cxn ang="T8">
                  <a:pos x="T4" y="T5"/>
                </a:cxn>
              </a:cxnLst>
              <a:rect l="T9" t="T10" r="T11" b="T12"/>
              <a:pathLst>
                <a:path w="9" h="103">
                  <a:moveTo>
                    <a:pt x="9" y="103"/>
                  </a:moveTo>
                  <a:lnTo>
                    <a:pt x="0" y="103"/>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35" name="Freeform 33"/>
            <p:cNvSpPr>
              <a:spLocks/>
            </p:cNvSpPr>
            <p:nvPr/>
          </p:nvSpPr>
          <p:spPr bwMode="auto">
            <a:xfrm>
              <a:off x="2892425" y="2749550"/>
              <a:ext cx="30163" cy="92075"/>
            </a:xfrm>
            <a:custGeom>
              <a:avLst/>
              <a:gdLst>
                <a:gd name="T0" fmla="*/ 0 w 2"/>
                <a:gd name="T1" fmla="*/ 0 h 6"/>
                <a:gd name="T2" fmla="*/ 15082 w 2"/>
                <a:gd name="T3" fmla="*/ 92075 h 6"/>
                <a:gd name="T4" fmla="*/ 30163 w 2"/>
                <a:gd name="T5" fmla="*/ 0 h 6"/>
                <a:gd name="T6" fmla="*/ 15082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36" name="Freeform 34"/>
            <p:cNvSpPr>
              <a:spLocks/>
            </p:cNvSpPr>
            <p:nvPr/>
          </p:nvSpPr>
          <p:spPr bwMode="auto">
            <a:xfrm>
              <a:off x="2892425" y="2749550"/>
              <a:ext cx="30163" cy="92075"/>
            </a:xfrm>
            <a:custGeom>
              <a:avLst/>
              <a:gdLst>
                <a:gd name="T0" fmla="*/ 0 w 19"/>
                <a:gd name="T1" fmla="*/ 0 h 58"/>
                <a:gd name="T2" fmla="*/ 14288 w 19"/>
                <a:gd name="T3" fmla="*/ 92075 h 58"/>
                <a:gd name="T4" fmla="*/ 30163 w 19"/>
                <a:gd name="T5" fmla="*/ 0 h 58"/>
                <a:gd name="T6" fmla="*/ 14288 w 19"/>
                <a:gd name="T7" fmla="*/ 0 h 58"/>
                <a:gd name="T8" fmla="*/ 0 w 19"/>
                <a:gd name="T9" fmla="*/ 0 h 58"/>
                <a:gd name="T10" fmla="*/ 0 60000 65536"/>
                <a:gd name="T11" fmla="*/ 0 60000 65536"/>
                <a:gd name="T12" fmla="*/ 0 60000 65536"/>
                <a:gd name="T13" fmla="*/ 0 60000 65536"/>
                <a:gd name="T14" fmla="*/ 0 60000 65536"/>
                <a:gd name="T15" fmla="*/ 0 w 19"/>
                <a:gd name="T16" fmla="*/ 0 h 58"/>
                <a:gd name="T17" fmla="*/ 19 w 19"/>
                <a:gd name="T18" fmla="*/ 58 h 58"/>
              </a:gdLst>
              <a:ahLst/>
              <a:cxnLst>
                <a:cxn ang="T10">
                  <a:pos x="T0" y="T1"/>
                </a:cxn>
                <a:cxn ang="T11">
                  <a:pos x="T2" y="T3"/>
                </a:cxn>
                <a:cxn ang="T12">
                  <a:pos x="T4" y="T5"/>
                </a:cxn>
                <a:cxn ang="T13">
                  <a:pos x="T6" y="T7"/>
                </a:cxn>
                <a:cxn ang="T14">
                  <a:pos x="T8" y="T9"/>
                </a:cxn>
              </a:cxnLst>
              <a:rect l="T15" t="T16" r="T17" b="T18"/>
              <a:pathLst>
                <a:path w="19" h="58">
                  <a:moveTo>
                    <a:pt x="0" y="0"/>
                  </a:moveTo>
                  <a:lnTo>
                    <a:pt x="9" y="58"/>
                  </a:lnTo>
                  <a:lnTo>
                    <a:pt x="19" y="0"/>
                  </a:lnTo>
                  <a:lnTo>
                    <a:pt x="9" y="0"/>
                  </a:lnTo>
                  <a:lnTo>
                    <a:pt x="0" y="0"/>
                  </a:lnTo>
                  <a:close/>
                </a:path>
              </a:pathLst>
            </a:custGeom>
            <a:solidFill>
              <a:srgbClr val="000000"/>
            </a:solidFill>
            <a:ln w="0">
              <a:solidFill>
                <a:srgbClr val="000000"/>
              </a:solidFill>
              <a:prstDash val="solid"/>
              <a:round/>
              <a:headEnd/>
              <a:tailEnd/>
            </a:ln>
          </p:spPr>
          <p:txBody>
            <a:bodyPr/>
            <a:lstStyle/>
            <a:p>
              <a:endParaRPr lang="en-IN" b="1"/>
            </a:p>
          </p:txBody>
        </p:sp>
        <p:sp>
          <p:nvSpPr>
            <p:cNvPr id="37" name="Line 35"/>
            <p:cNvSpPr>
              <a:spLocks noChangeShapeType="1"/>
            </p:cNvSpPr>
            <p:nvPr/>
          </p:nvSpPr>
          <p:spPr bwMode="auto">
            <a:xfrm flipV="1">
              <a:off x="2906713" y="2473325"/>
              <a:ext cx="1587" cy="2619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38" name="Freeform 36"/>
            <p:cNvSpPr>
              <a:spLocks/>
            </p:cNvSpPr>
            <p:nvPr/>
          </p:nvSpPr>
          <p:spPr bwMode="auto">
            <a:xfrm>
              <a:off x="3076575" y="2979737"/>
              <a:ext cx="92075" cy="46038"/>
            </a:xfrm>
            <a:custGeom>
              <a:avLst/>
              <a:gdLst>
                <a:gd name="T0" fmla="*/ 92075 w 6"/>
                <a:gd name="T1" fmla="*/ 0 h 3"/>
                <a:gd name="T2" fmla="*/ 0 w 6"/>
                <a:gd name="T3" fmla="*/ 15346 h 3"/>
                <a:gd name="T4" fmla="*/ 92075 w 6"/>
                <a:gd name="T5" fmla="*/ 46038 h 3"/>
                <a:gd name="T6" fmla="*/ 92075 w 6"/>
                <a:gd name="T7" fmla="*/ 15346 h 3"/>
                <a:gd name="T8" fmla="*/ 92075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1"/>
                  </a:lnTo>
                  <a:lnTo>
                    <a:pt x="6" y="3"/>
                  </a:lnTo>
                  <a:lnTo>
                    <a:pt x="6" y="1"/>
                  </a:lnTo>
                  <a:lnTo>
                    <a:pt x="6"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39" name="Freeform 37"/>
            <p:cNvSpPr>
              <a:spLocks/>
            </p:cNvSpPr>
            <p:nvPr/>
          </p:nvSpPr>
          <p:spPr bwMode="auto">
            <a:xfrm>
              <a:off x="3076575" y="2979737"/>
              <a:ext cx="92075" cy="46038"/>
            </a:xfrm>
            <a:custGeom>
              <a:avLst/>
              <a:gdLst>
                <a:gd name="T0" fmla="*/ 92075 w 58"/>
                <a:gd name="T1" fmla="*/ 0 h 29"/>
                <a:gd name="T2" fmla="*/ 0 w 58"/>
                <a:gd name="T3" fmla="*/ 15875 h 29"/>
                <a:gd name="T4" fmla="*/ 92075 w 58"/>
                <a:gd name="T5" fmla="*/ 46038 h 29"/>
                <a:gd name="T6" fmla="*/ 92075 w 58"/>
                <a:gd name="T7" fmla="*/ 15875 h 29"/>
                <a:gd name="T8" fmla="*/ 92075 w 58"/>
                <a:gd name="T9" fmla="*/ 0 h 29"/>
                <a:gd name="T10" fmla="*/ 0 60000 65536"/>
                <a:gd name="T11" fmla="*/ 0 60000 65536"/>
                <a:gd name="T12" fmla="*/ 0 60000 65536"/>
                <a:gd name="T13" fmla="*/ 0 60000 65536"/>
                <a:gd name="T14" fmla="*/ 0 60000 65536"/>
                <a:gd name="T15" fmla="*/ 0 w 58"/>
                <a:gd name="T16" fmla="*/ 0 h 29"/>
                <a:gd name="T17" fmla="*/ 58 w 58"/>
                <a:gd name="T18" fmla="*/ 29 h 29"/>
              </a:gdLst>
              <a:ahLst/>
              <a:cxnLst>
                <a:cxn ang="T10">
                  <a:pos x="T0" y="T1"/>
                </a:cxn>
                <a:cxn ang="T11">
                  <a:pos x="T2" y="T3"/>
                </a:cxn>
                <a:cxn ang="T12">
                  <a:pos x="T4" y="T5"/>
                </a:cxn>
                <a:cxn ang="T13">
                  <a:pos x="T6" y="T7"/>
                </a:cxn>
                <a:cxn ang="T14">
                  <a:pos x="T8" y="T9"/>
                </a:cxn>
              </a:cxnLst>
              <a:rect l="T15" t="T16" r="T17" b="T18"/>
              <a:pathLst>
                <a:path w="58" h="29">
                  <a:moveTo>
                    <a:pt x="58" y="0"/>
                  </a:moveTo>
                  <a:lnTo>
                    <a:pt x="0" y="10"/>
                  </a:lnTo>
                  <a:lnTo>
                    <a:pt x="58" y="29"/>
                  </a:lnTo>
                  <a:lnTo>
                    <a:pt x="58" y="10"/>
                  </a:lnTo>
                  <a:lnTo>
                    <a:pt x="58" y="0"/>
                  </a:lnTo>
                  <a:close/>
                </a:path>
              </a:pathLst>
            </a:custGeom>
            <a:solidFill>
              <a:srgbClr val="000000"/>
            </a:solidFill>
            <a:ln w="0">
              <a:solidFill>
                <a:srgbClr val="000000"/>
              </a:solidFill>
              <a:prstDash val="solid"/>
              <a:round/>
              <a:headEnd/>
              <a:tailEnd/>
            </a:ln>
          </p:spPr>
          <p:txBody>
            <a:bodyPr/>
            <a:lstStyle/>
            <a:p>
              <a:endParaRPr lang="en-IN" b="1"/>
            </a:p>
          </p:txBody>
        </p:sp>
        <p:sp>
          <p:nvSpPr>
            <p:cNvPr id="40" name="Freeform 38"/>
            <p:cNvSpPr>
              <a:spLocks/>
            </p:cNvSpPr>
            <p:nvPr/>
          </p:nvSpPr>
          <p:spPr bwMode="auto">
            <a:xfrm>
              <a:off x="3168650" y="2473325"/>
              <a:ext cx="2301875" cy="522287"/>
            </a:xfrm>
            <a:custGeom>
              <a:avLst/>
              <a:gdLst>
                <a:gd name="T0" fmla="*/ 0 w 150"/>
                <a:gd name="T1" fmla="*/ 522287 h 34"/>
                <a:gd name="T2" fmla="*/ 2301875 w 150"/>
                <a:gd name="T3" fmla="*/ 522287 h 34"/>
                <a:gd name="T4" fmla="*/ 2301875 w 150"/>
                <a:gd name="T5" fmla="*/ 0 h 34"/>
                <a:gd name="T6" fmla="*/ 0 60000 65536"/>
                <a:gd name="T7" fmla="*/ 0 60000 65536"/>
                <a:gd name="T8" fmla="*/ 0 60000 65536"/>
                <a:gd name="T9" fmla="*/ 0 w 150"/>
                <a:gd name="T10" fmla="*/ 0 h 34"/>
                <a:gd name="T11" fmla="*/ 150 w 150"/>
                <a:gd name="T12" fmla="*/ 34 h 34"/>
              </a:gdLst>
              <a:ahLst/>
              <a:cxnLst>
                <a:cxn ang="T6">
                  <a:pos x="T0" y="T1"/>
                </a:cxn>
                <a:cxn ang="T7">
                  <a:pos x="T2" y="T3"/>
                </a:cxn>
                <a:cxn ang="T8">
                  <a:pos x="T4" y="T5"/>
                </a:cxn>
              </a:cxnLst>
              <a:rect l="T9" t="T10" r="T11" b="T12"/>
              <a:pathLst>
                <a:path w="150" h="34">
                  <a:moveTo>
                    <a:pt x="0" y="34"/>
                  </a:moveTo>
                  <a:lnTo>
                    <a:pt x="150" y="34"/>
                  </a:lnTo>
                  <a:lnTo>
                    <a:pt x="15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41" name="Freeform 39"/>
            <p:cNvSpPr>
              <a:spLocks/>
            </p:cNvSpPr>
            <p:nvPr/>
          </p:nvSpPr>
          <p:spPr bwMode="auto">
            <a:xfrm>
              <a:off x="5716588" y="5895975"/>
              <a:ext cx="30162" cy="92075"/>
            </a:xfrm>
            <a:custGeom>
              <a:avLst/>
              <a:gdLst>
                <a:gd name="T0" fmla="*/ 0 w 2"/>
                <a:gd name="T1" fmla="*/ 0 h 6"/>
                <a:gd name="T2" fmla="*/ 15081 w 2"/>
                <a:gd name="T3" fmla="*/ 92075 h 6"/>
                <a:gd name="T4" fmla="*/ 30162 w 2"/>
                <a:gd name="T5" fmla="*/ 0 h 6"/>
                <a:gd name="T6" fmla="*/ 15081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42" name="Freeform 40"/>
            <p:cNvSpPr>
              <a:spLocks/>
            </p:cNvSpPr>
            <p:nvPr/>
          </p:nvSpPr>
          <p:spPr bwMode="auto">
            <a:xfrm>
              <a:off x="5716588" y="5895975"/>
              <a:ext cx="30162" cy="92075"/>
            </a:xfrm>
            <a:custGeom>
              <a:avLst/>
              <a:gdLst>
                <a:gd name="T0" fmla="*/ 0 w 19"/>
                <a:gd name="T1" fmla="*/ 0 h 58"/>
                <a:gd name="T2" fmla="*/ 15875 w 19"/>
                <a:gd name="T3" fmla="*/ 92075 h 58"/>
                <a:gd name="T4" fmla="*/ 30162 w 19"/>
                <a:gd name="T5" fmla="*/ 0 h 58"/>
                <a:gd name="T6" fmla="*/ 15875 w 19"/>
                <a:gd name="T7" fmla="*/ 0 h 58"/>
                <a:gd name="T8" fmla="*/ 0 w 19"/>
                <a:gd name="T9" fmla="*/ 0 h 58"/>
                <a:gd name="T10" fmla="*/ 0 60000 65536"/>
                <a:gd name="T11" fmla="*/ 0 60000 65536"/>
                <a:gd name="T12" fmla="*/ 0 60000 65536"/>
                <a:gd name="T13" fmla="*/ 0 60000 65536"/>
                <a:gd name="T14" fmla="*/ 0 60000 65536"/>
                <a:gd name="T15" fmla="*/ 0 w 19"/>
                <a:gd name="T16" fmla="*/ 0 h 58"/>
                <a:gd name="T17" fmla="*/ 19 w 19"/>
                <a:gd name="T18" fmla="*/ 58 h 58"/>
              </a:gdLst>
              <a:ahLst/>
              <a:cxnLst>
                <a:cxn ang="T10">
                  <a:pos x="T0" y="T1"/>
                </a:cxn>
                <a:cxn ang="T11">
                  <a:pos x="T2" y="T3"/>
                </a:cxn>
                <a:cxn ang="T12">
                  <a:pos x="T4" y="T5"/>
                </a:cxn>
                <a:cxn ang="T13">
                  <a:pos x="T6" y="T7"/>
                </a:cxn>
                <a:cxn ang="T14">
                  <a:pos x="T8" y="T9"/>
                </a:cxn>
              </a:cxnLst>
              <a:rect l="T15" t="T16" r="T17" b="T18"/>
              <a:pathLst>
                <a:path w="19" h="58">
                  <a:moveTo>
                    <a:pt x="0" y="0"/>
                  </a:moveTo>
                  <a:lnTo>
                    <a:pt x="10" y="58"/>
                  </a:lnTo>
                  <a:lnTo>
                    <a:pt x="19" y="0"/>
                  </a:lnTo>
                  <a:lnTo>
                    <a:pt x="10" y="0"/>
                  </a:lnTo>
                  <a:lnTo>
                    <a:pt x="0" y="0"/>
                  </a:lnTo>
                  <a:close/>
                </a:path>
              </a:pathLst>
            </a:custGeom>
            <a:solidFill>
              <a:srgbClr val="000000"/>
            </a:solidFill>
            <a:ln w="0">
              <a:solidFill>
                <a:srgbClr val="000000"/>
              </a:solidFill>
              <a:prstDash val="solid"/>
              <a:round/>
              <a:headEnd/>
              <a:tailEnd/>
            </a:ln>
          </p:spPr>
          <p:txBody>
            <a:bodyPr/>
            <a:lstStyle/>
            <a:p>
              <a:endParaRPr lang="en-IN" b="1"/>
            </a:p>
          </p:txBody>
        </p:sp>
        <p:sp>
          <p:nvSpPr>
            <p:cNvPr id="43" name="Freeform 41"/>
            <p:cNvSpPr>
              <a:spLocks/>
            </p:cNvSpPr>
            <p:nvPr/>
          </p:nvSpPr>
          <p:spPr bwMode="auto">
            <a:xfrm>
              <a:off x="4319588" y="4730750"/>
              <a:ext cx="1412875" cy="1150937"/>
            </a:xfrm>
            <a:custGeom>
              <a:avLst/>
              <a:gdLst>
                <a:gd name="T0" fmla="*/ 1412875 w 92"/>
                <a:gd name="T1" fmla="*/ 1150937 h 75"/>
                <a:gd name="T2" fmla="*/ 1412875 w 92"/>
                <a:gd name="T3" fmla="*/ 0 h 75"/>
                <a:gd name="T4" fmla="*/ 0 w 92"/>
                <a:gd name="T5" fmla="*/ 0 h 75"/>
                <a:gd name="T6" fmla="*/ 0 60000 65536"/>
                <a:gd name="T7" fmla="*/ 0 60000 65536"/>
                <a:gd name="T8" fmla="*/ 0 60000 65536"/>
                <a:gd name="T9" fmla="*/ 0 w 92"/>
                <a:gd name="T10" fmla="*/ 0 h 75"/>
                <a:gd name="T11" fmla="*/ 92 w 92"/>
                <a:gd name="T12" fmla="*/ 75 h 75"/>
              </a:gdLst>
              <a:ahLst/>
              <a:cxnLst>
                <a:cxn ang="T6">
                  <a:pos x="T0" y="T1"/>
                </a:cxn>
                <a:cxn ang="T7">
                  <a:pos x="T2" y="T3"/>
                </a:cxn>
                <a:cxn ang="T8">
                  <a:pos x="T4" y="T5"/>
                </a:cxn>
              </a:cxnLst>
              <a:rect l="T9" t="T10" r="T11" b="T12"/>
              <a:pathLst>
                <a:path w="92" h="75">
                  <a:moveTo>
                    <a:pt x="92" y="75"/>
                  </a:moveTo>
                  <a:lnTo>
                    <a:pt x="92"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44" name="Freeform 42"/>
            <p:cNvSpPr>
              <a:spLocks/>
            </p:cNvSpPr>
            <p:nvPr/>
          </p:nvSpPr>
          <p:spPr bwMode="auto">
            <a:xfrm>
              <a:off x="6591300" y="5895975"/>
              <a:ext cx="46038" cy="92075"/>
            </a:xfrm>
            <a:custGeom>
              <a:avLst/>
              <a:gdLst>
                <a:gd name="T0" fmla="*/ 0 w 3"/>
                <a:gd name="T1" fmla="*/ 0 h 6"/>
                <a:gd name="T2" fmla="*/ 30692 w 3"/>
                <a:gd name="T3" fmla="*/ 92075 h 6"/>
                <a:gd name="T4" fmla="*/ 46038 w 3"/>
                <a:gd name="T5" fmla="*/ 0 h 6"/>
                <a:gd name="T6" fmla="*/ 30692 w 3"/>
                <a:gd name="T7" fmla="*/ 0 h 6"/>
                <a:gd name="T8" fmla="*/ 0 w 3"/>
                <a:gd name="T9" fmla="*/ 0 h 6"/>
                <a:gd name="T10" fmla="*/ 0 60000 65536"/>
                <a:gd name="T11" fmla="*/ 0 60000 65536"/>
                <a:gd name="T12" fmla="*/ 0 60000 65536"/>
                <a:gd name="T13" fmla="*/ 0 60000 65536"/>
                <a:gd name="T14" fmla="*/ 0 60000 65536"/>
                <a:gd name="T15" fmla="*/ 0 w 3"/>
                <a:gd name="T16" fmla="*/ 0 h 6"/>
                <a:gd name="T17" fmla="*/ 3 w 3"/>
                <a:gd name="T18" fmla="*/ 6 h 6"/>
              </a:gdLst>
              <a:ahLst/>
              <a:cxnLst>
                <a:cxn ang="T10">
                  <a:pos x="T0" y="T1"/>
                </a:cxn>
                <a:cxn ang="T11">
                  <a:pos x="T2" y="T3"/>
                </a:cxn>
                <a:cxn ang="T12">
                  <a:pos x="T4" y="T5"/>
                </a:cxn>
                <a:cxn ang="T13">
                  <a:pos x="T6" y="T7"/>
                </a:cxn>
                <a:cxn ang="T14">
                  <a:pos x="T8" y="T9"/>
                </a:cxn>
              </a:cxnLst>
              <a:rect l="T15" t="T16" r="T17" b="T18"/>
              <a:pathLst>
                <a:path w="3" h="6">
                  <a:moveTo>
                    <a:pt x="0" y="0"/>
                  </a:moveTo>
                  <a:lnTo>
                    <a:pt x="2" y="6"/>
                  </a:lnTo>
                  <a:lnTo>
                    <a:pt x="3" y="0"/>
                  </a:lnTo>
                  <a:lnTo>
                    <a:pt x="2"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45" name="Freeform 43"/>
            <p:cNvSpPr>
              <a:spLocks/>
            </p:cNvSpPr>
            <p:nvPr/>
          </p:nvSpPr>
          <p:spPr bwMode="auto">
            <a:xfrm>
              <a:off x="6591300" y="5895975"/>
              <a:ext cx="46038" cy="92075"/>
            </a:xfrm>
            <a:custGeom>
              <a:avLst/>
              <a:gdLst>
                <a:gd name="T0" fmla="*/ 0 w 29"/>
                <a:gd name="T1" fmla="*/ 0 h 58"/>
                <a:gd name="T2" fmla="*/ 31750 w 29"/>
                <a:gd name="T3" fmla="*/ 92075 h 58"/>
                <a:gd name="T4" fmla="*/ 46038 w 29"/>
                <a:gd name="T5" fmla="*/ 0 h 58"/>
                <a:gd name="T6" fmla="*/ 31750 w 29"/>
                <a:gd name="T7" fmla="*/ 0 h 58"/>
                <a:gd name="T8" fmla="*/ 0 w 29"/>
                <a:gd name="T9" fmla="*/ 0 h 58"/>
                <a:gd name="T10" fmla="*/ 0 60000 65536"/>
                <a:gd name="T11" fmla="*/ 0 60000 65536"/>
                <a:gd name="T12" fmla="*/ 0 60000 65536"/>
                <a:gd name="T13" fmla="*/ 0 60000 65536"/>
                <a:gd name="T14" fmla="*/ 0 60000 65536"/>
                <a:gd name="T15" fmla="*/ 0 w 29"/>
                <a:gd name="T16" fmla="*/ 0 h 58"/>
                <a:gd name="T17" fmla="*/ 29 w 29"/>
                <a:gd name="T18" fmla="*/ 58 h 58"/>
              </a:gdLst>
              <a:ahLst/>
              <a:cxnLst>
                <a:cxn ang="T10">
                  <a:pos x="T0" y="T1"/>
                </a:cxn>
                <a:cxn ang="T11">
                  <a:pos x="T2" y="T3"/>
                </a:cxn>
                <a:cxn ang="T12">
                  <a:pos x="T4" y="T5"/>
                </a:cxn>
                <a:cxn ang="T13">
                  <a:pos x="T6" y="T7"/>
                </a:cxn>
                <a:cxn ang="T14">
                  <a:pos x="T8" y="T9"/>
                </a:cxn>
              </a:cxnLst>
              <a:rect l="T15" t="T16" r="T17" b="T18"/>
              <a:pathLst>
                <a:path w="29" h="58">
                  <a:moveTo>
                    <a:pt x="0" y="0"/>
                  </a:moveTo>
                  <a:lnTo>
                    <a:pt x="20" y="58"/>
                  </a:lnTo>
                  <a:lnTo>
                    <a:pt x="29" y="0"/>
                  </a:lnTo>
                  <a:lnTo>
                    <a:pt x="20" y="0"/>
                  </a:lnTo>
                  <a:lnTo>
                    <a:pt x="0" y="0"/>
                  </a:lnTo>
                  <a:close/>
                </a:path>
              </a:pathLst>
            </a:custGeom>
            <a:solidFill>
              <a:srgbClr val="000000"/>
            </a:solidFill>
            <a:ln w="0">
              <a:solidFill>
                <a:srgbClr val="000000"/>
              </a:solidFill>
              <a:prstDash val="solid"/>
              <a:round/>
              <a:headEnd/>
              <a:tailEnd/>
            </a:ln>
          </p:spPr>
          <p:txBody>
            <a:bodyPr/>
            <a:lstStyle/>
            <a:p>
              <a:endParaRPr lang="en-IN" b="1"/>
            </a:p>
          </p:txBody>
        </p:sp>
        <p:sp>
          <p:nvSpPr>
            <p:cNvPr id="46" name="Line 44"/>
            <p:cNvSpPr>
              <a:spLocks noChangeShapeType="1"/>
            </p:cNvSpPr>
            <p:nvPr/>
          </p:nvSpPr>
          <p:spPr bwMode="auto">
            <a:xfrm flipV="1">
              <a:off x="6623050" y="2473325"/>
              <a:ext cx="1588" cy="3408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47" name="Freeform 45"/>
            <p:cNvSpPr>
              <a:spLocks/>
            </p:cNvSpPr>
            <p:nvPr/>
          </p:nvSpPr>
          <p:spPr bwMode="auto">
            <a:xfrm>
              <a:off x="2462213" y="2643187"/>
              <a:ext cx="444500" cy="1027113"/>
            </a:xfrm>
            <a:custGeom>
              <a:avLst/>
              <a:gdLst>
                <a:gd name="T0" fmla="*/ 398517 w 29"/>
                <a:gd name="T1" fmla="*/ 1027113 h 67"/>
                <a:gd name="T2" fmla="*/ 0 w 29"/>
                <a:gd name="T3" fmla="*/ 1027113 h 67"/>
                <a:gd name="T4" fmla="*/ 0 w 29"/>
                <a:gd name="T5" fmla="*/ 0 h 67"/>
                <a:gd name="T6" fmla="*/ 444500 w 29"/>
                <a:gd name="T7" fmla="*/ 0 h 67"/>
                <a:gd name="T8" fmla="*/ 0 60000 65536"/>
                <a:gd name="T9" fmla="*/ 0 60000 65536"/>
                <a:gd name="T10" fmla="*/ 0 60000 65536"/>
                <a:gd name="T11" fmla="*/ 0 60000 65536"/>
                <a:gd name="T12" fmla="*/ 0 w 29"/>
                <a:gd name="T13" fmla="*/ 0 h 67"/>
                <a:gd name="T14" fmla="*/ 29 w 29"/>
                <a:gd name="T15" fmla="*/ 67 h 67"/>
              </a:gdLst>
              <a:ahLst/>
              <a:cxnLst>
                <a:cxn ang="T8">
                  <a:pos x="T0" y="T1"/>
                </a:cxn>
                <a:cxn ang="T9">
                  <a:pos x="T2" y="T3"/>
                </a:cxn>
                <a:cxn ang="T10">
                  <a:pos x="T4" y="T5"/>
                </a:cxn>
                <a:cxn ang="T11">
                  <a:pos x="T6" y="T7"/>
                </a:cxn>
              </a:cxnLst>
              <a:rect l="T12" t="T13" r="T14" b="T15"/>
              <a:pathLst>
                <a:path w="29" h="67">
                  <a:moveTo>
                    <a:pt x="26" y="67"/>
                  </a:moveTo>
                  <a:lnTo>
                    <a:pt x="0" y="67"/>
                  </a:lnTo>
                  <a:lnTo>
                    <a:pt x="0" y="0"/>
                  </a:lnTo>
                  <a:lnTo>
                    <a:pt x="29"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48" name="Freeform 46"/>
            <p:cNvSpPr>
              <a:spLocks/>
            </p:cNvSpPr>
            <p:nvPr/>
          </p:nvSpPr>
          <p:spPr bwMode="auto">
            <a:xfrm>
              <a:off x="3060700" y="3640137"/>
              <a:ext cx="92075" cy="46038"/>
            </a:xfrm>
            <a:custGeom>
              <a:avLst/>
              <a:gdLst>
                <a:gd name="T0" fmla="*/ 0 w 6"/>
                <a:gd name="T1" fmla="*/ 46038 h 3"/>
                <a:gd name="T2" fmla="*/ 92075 w 6"/>
                <a:gd name="T3" fmla="*/ 30692 h 3"/>
                <a:gd name="T4" fmla="*/ 0 w 6"/>
                <a:gd name="T5" fmla="*/ 0 h 3"/>
                <a:gd name="T6" fmla="*/ 0 w 6"/>
                <a:gd name="T7" fmla="*/ 30692 h 3"/>
                <a:gd name="T8" fmla="*/ 0 w 6"/>
                <a:gd name="T9" fmla="*/ 46038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2"/>
                  </a:lnTo>
                  <a:lnTo>
                    <a:pt x="0" y="0"/>
                  </a:lnTo>
                  <a:lnTo>
                    <a:pt x="0" y="2"/>
                  </a:lnTo>
                  <a:lnTo>
                    <a:pt x="0" y="3"/>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49" name="Freeform 47"/>
            <p:cNvSpPr>
              <a:spLocks/>
            </p:cNvSpPr>
            <p:nvPr/>
          </p:nvSpPr>
          <p:spPr bwMode="auto">
            <a:xfrm>
              <a:off x="3060700" y="3640137"/>
              <a:ext cx="92075" cy="46038"/>
            </a:xfrm>
            <a:custGeom>
              <a:avLst/>
              <a:gdLst>
                <a:gd name="T0" fmla="*/ 0 w 58"/>
                <a:gd name="T1" fmla="*/ 46038 h 29"/>
                <a:gd name="T2" fmla="*/ 92075 w 58"/>
                <a:gd name="T3" fmla="*/ 30163 h 29"/>
                <a:gd name="T4" fmla="*/ 0 w 58"/>
                <a:gd name="T5" fmla="*/ 0 h 29"/>
                <a:gd name="T6" fmla="*/ 0 w 58"/>
                <a:gd name="T7" fmla="*/ 30163 h 29"/>
                <a:gd name="T8" fmla="*/ 0 w 58"/>
                <a:gd name="T9" fmla="*/ 46038 h 29"/>
                <a:gd name="T10" fmla="*/ 0 60000 65536"/>
                <a:gd name="T11" fmla="*/ 0 60000 65536"/>
                <a:gd name="T12" fmla="*/ 0 60000 65536"/>
                <a:gd name="T13" fmla="*/ 0 60000 65536"/>
                <a:gd name="T14" fmla="*/ 0 60000 65536"/>
                <a:gd name="T15" fmla="*/ 0 w 58"/>
                <a:gd name="T16" fmla="*/ 0 h 29"/>
                <a:gd name="T17" fmla="*/ 58 w 58"/>
                <a:gd name="T18" fmla="*/ 29 h 29"/>
              </a:gdLst>
              <a:ahLst/>
              <a:cxnLst>
                <a:cxn ang="T10">
                  <a:pos x="T0" y="T1"/>
                </a:cxn>
                <a:cxn ang="T11">
                  <a:pos x="T2" y="T3"/>
                </a:cxn>
                <a:cxn ang="T12">
                  <a:pos x="T4" y="T5"/>
                </a:cxn>
                <a:cxn ang="T13">
                  <a:pos x="T6" y="T7"/>
                </a:cxn>
                <a:cxn ang="T14">
                  <a:pos x="T8" y="T9"/>
                </a:cxn>
              </a:cxnLst>
              <a:rect l="T15" t="T16" r="T17" b="T18"/>
              <a:pathLst>
                <a:path w="58" h="29">
                  <a:moveTo>
                    <a:pt x="0" y="29"/>
                  </a:moveTo>
                  <a:lnTo>
                    <a:pt x="58" y="19"/>
                  </a:lnTo>
                  <a:lnTo>
                    <a:pt x="0" y="0"/>
                  </a:lnTo>
                  <a:lnTo>
                    <a:pt x="0" y="19"/>
                  </a:lnTo>
                  <a:lnTo>
                    <a:pt x="0" y="29"/>
                  </a:lnTo>
                  <a:close/>
                </a:path>
              </a:pathLst>
            </a:custGeom>
            <a:solidFill>
              <a:srgbClr val="000000"/>
            </a:solidFill>
            <a:ln w="0">
              <a:solidFill>
                <a:srgbClr val="000000"/>
              </a:solidFill>
              <a:prstDash val="solid"/>
              <a:round/>
              <a:headEnd/>
              <a:tailEnd/>
            </a:ln>
          </p:spPr>
          <p:txBody>
            <a:bodyPr/>
            <a:lstStyle/>
            <a:p>
              <a:endParaRPr lang="en-IN" b="1"/>
            </a:p>
          </p:txBody>
        </p:sp>
        <p:sp>
          <p:nvSpPr>
            <p:cNvPr id="50" name="Line 48"/>
            <p:cNvSpPr>
              <a:spLocks noChangeShapeType="1"/>
            </p:cNvSpPr>
            <p:nvPr/>
          </p:nvSpPr>
          <p:spPr bwMode="auto">
            <a:xfrm flipH="1">
              <a:off x="2952750" y="3670300"/>
              <a:ext cx="93663" cy="158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51" name="Freeform 49"/>
            <p:cNvSpPr>
              <a:spLocks/>
            </p:cNvSpPr>
            <p:nvPr/>
          </p:nvSpPr>
          <p:spPr bwMode="auto">
            <a:xfrm>
              <a:off x="5808663" y="1951037"/>
              <a:ext cx="30162" cy="92075"/>
            </a:xfrm>
            <a:custGeom>
              <a:avLst/>
              <a:gdLst>
                <a:gd name="T0" fmla="*/ 0 w 2"/>
                <a:gd name="T1" fmla="*/ 0 h 6"/>
                <a:gd name="T2" fmla="*/ 15081 w 2"/>
                <a:gd name="T3" fmla="*/ 92075 h 6"/>
                <a:gd name="T4" fmla="*/ 30162 w 2"/>
                <a:gd name="T5" fmla="*/ 0 h 6"/>
                <a:gd name="T6" fmla="*/ 15081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52" name="Freeform 50"/>
            <p:cNvSpPr>
              <a:spLocks/>
            </p:cNvSpPr>
            <p:nvPr/>
          </p:nvSpPr>
          <p:spPr bwMode="auto">
            <a:xfrm>
              <a:off x="5808663" y="1951037"/>
              <a:ext cx="30162" cy="92075"/>
            </a:xfrm>
            <a:custGeom>
              <a:avLst/>
              <a:gdLst>
                <a:gd name="T0" fmla="*/ 0 w 19"/>
                <a:gd name="T1" fmla="*/ 0 h 58"/>
                <a:gd name="T2" fmla="*/ 15875 w 19"/>
                <a:gd name="T3" fmla="*/ 92075 h 58"/>
                <a:gd name="T4" fmla="*/ 30162 w 19"/>
                <a:gd name="T5" fmla="*/ 0 h 58"/>
                <a:gd name="T6" fmla="*/ 15875 w 19"/>
                <a:gd name="T7" fmla="*/ 0 h 58"/>
                <a:gd name="T8" fmla="*/ 0 w 19"/>
                <a:gd name="T9" fmla="*/ 0 h 58"/>
                <a:gd name="T10" fmla="*/ 0 60000 65536"/>
                <a:gd name="T11" fmla="*/ 0 60000 65536"/>
                <a:gd name="T12" fmla="*/ 0 60000 65536"/>
                <a:gd name="T13" fmla="*/ 0 60000 65536"/>
                <a:gd name="T14" fmla="*/ 0 60000 65536"/>
                <a:gd name="T15" fmla="*/ 0 w 19"/>
                <a:gd name="T16" fmla="*/ 0 h 58"/>
                <a:gd name="T17" fmla="*/ 19 w 19"/>
                <a:gd name="T18" fmla="*/ 58 h 58"/>
              </a:gdLst>
              <a:ahLst/>
              <a:cxnLst>
                <a:cxn ang="T10">
                  <a:pos x="T0" y="T1"/>
                </a:cxn>
                <a:cxn ang="T11">
                  <a:pos x="T2" y="T3"/>
                </a:cxn>
                <a:cxn ang="T12">
                  <a:pos x="T4" y="T5"/>
                </a:cxn>
                <a:cxn ang="T13">
                  <a:pos x="T6" y="T7"/>
                </a:cxn>
                <a:cxn ang="T14">
                  <a:pos x="T8" y="T9"/>
                </a:cxn>
              </a:cxnLst>
              <a:rect l="T15" t="T16" r="T17" b="T18"/>
              <a:pathLst>
                <a:path w="19" h="58">
                  <a:moveTo>
                    <a:pt x="0" y="0"/>
                  </a:moveTo>
                  <a:lnTo>
                    <a:pt x="10" y="58"/>
                  </a:lnTo>
                  <a:lnTo>
                    <a:pt x="19" y="0"/>
                  </a:lnTo>
                  <a:lnTo>
                    <a:pt x="10" y="0"/>
                  </a:lnTo>
                  <a:lnTo>
                    <a:pt x="0" y="0"/>
                  </a:lnTo>
                  <a:close/>
                </a:path>
              </a:pathLst>
            </a:custGeom>
            <a:solidFill>
              <a:srgbClr val="000000"/>
            </a:solidFill>
            <a:ln w="0">
              <a:solidFill>
                <a:srgbClr val="000000"/>
              </a:solidFill>
              <a:prstDash val="solid"/>
              <a:round/>
              <a:headEnd/>
              <a:tailEnd/>
            </a:ln>
          </p:spPr>
          <p:txBody>
            <a:bodyPr/>
            <a:lstStyle/>
            <a:p>
              <a:endParaRPr lang="en-IN" b="1"/>
            </a:p>
          </p:txBody>
        </p:sp>
        <p:sp>
          <p:nvSpPr>
            <p:cNvPr id="53" name="Line 51"/>
            <p:cNvSpPr>
              <a:spLocks noChangeShapeType="1"/>
            </p:cNvSpPr>
            <p:nvPr/>
          </p:nvSpPr>
          <p:spPr bwMode="auto">
            <a:xfrm flipV="1">
              <a:off x="5824538" y="1806575"/>
              <a:ext cx="1587" cy="1365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54" name="Freeform 52"/>
            <p:cNvSpPr>
              <a:spLocks/>
            </p:cNvSpPr>
            <p:nvPr/>
          </p:nvSpPr>
          <p:spPr bwMode="auto">
            <a:xfrm>
              <a:off x="6069013" y="6537325"/>
              <a:ext cx="46037" cy="92075"/>
            </a:xfrm>
            <a:custGeom>
              <a:avLst/>
              <a:gdLst>
                <a:gd name="T0" fmla="*/ 0 w 3"/>
                <a:gd name="T1" fmla="*/ 0 h 6"/>
                <a:gd name="T2" fmla="*/ 15346 w 3"/>
                <a:gd name="T3" fmla="*/ 92075 h 6"/>
                <a:gd name="T4" fmla="*/ 46037 w 3"/>
                <a:gd name="T5" fmla="*/ 0 h 6"/>
                <a:gd name="T6" fmla="*/ 15346 w 3"/>
                <a:gd name="T7" fmla="*/ 0 h 6"/>
                <a:gd name="T8" fmla="*/ 0 w 3"/>
                <a:gd name="T9" fmla="*/ 0 h 6"/>
                <a:gd name="T10" fmla="*/ 0 60000 65536"/>
                <a:gd name="T11" fmla="*/ 0 60000 65536"/>
                <a:gd name="T12" fmla="*/ 0 60000 65536"/>
                <a:gd name="T13" fmla="*/ 0 60000 65536"/>
                <a:gd name="T14" fmla="*/ 0 60000 65536"/>
                <a:gd name="T15" fmla="*/ 0 w 3"/>
                <a:gd name="T16" fmla="*/ 0 h 6"/>
                <a:gd name="T17" fmla="*/ 3 w 3"/>
                <a:gd name="T18" fmla="*/ 6 h 6"/>
              </a:gdLst>
              <a:ahLst/>
              <a:cxnLst>
                <a:cxn ang="T10">
                  <a:pos x="T0" y="T1"/>
                </a:cxn>
                <a:cxn ang="T11">
                  <a:pos x="T2" y="T3"/>
                </a:cxn>
                <a:cxn ang="T12">
                  <a:pos x="T4" y="T5"/>
                </a:cxn>
                <a:cxn ang="T13">
                  <a:pos x="T6" y="T7"/>
                </a:cxn>
                <a:cxn ang="T14">
                  <a:pos x="T8" y="T9"/>
                </a:cxn>
              </a:cxnLst>
              <a:rect l="T15" t="T16" r="T17" b="T18"/>
              <a:pathLst>
                <a:path w="3" h="6">
                  <a:moveTo>
                    <a:pt x="0" y="0"/>
                  </a:moveTo>
                  <a:lnTo>
                    <a:pt x="1" y="6"/>
                  </a:lnTo>
                  <a:lnTo>
                    <a:pt x="3" y="0"/>
                  </a:lnTo>
                  <a:lnTo>
                    <a:pt x="1" y="0"/>
                  </a:lnTo>
                  <a:lnTo>
                    <a:pt x="0"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55" name="Freeform 53"/>
            <p:cNvSpPr>
              <a:spLocks/>
            </p:cNvSpPr>
            <p:nvPr/>
          </p:nvSpPr>
          <p:spPr bwMode="auto">
            <a:xfrm>
              <a:off x="6069013" y="6515100"/>
              <a:ext cx="46037" cy="92075"/>
            </a:xfrm>
            <a:custGeom>
              <a:avLst/>
              <a:gdLst>
                <a:gd name="T0" fmla="*/ 0 w 29"/>
                <a:gd name="T1" fmla="*/ 0 h 58"/>
                <a:gd name="T2" fmla="*/ 15875 w 29"/>
                <a:gd name="T3" fmla="*/ 92075 h 58"/>
                <a:gd name="T4" fmla="*/ 46037 w 29"/>
                <a:gd name="T5" fmla="*/ 0 h 58"/>
                <a:gd name="T6" fmla="*/ 15875 w 29"/>
                <a:gd name="T7" fmla="*/ 0 h 58"/>
                <a:gd name="T8" fmla="*/ 0 w 29"/>
                <a:gd name="T9" fmla="*/ 0 h 58"/>
                <a:gd name="T10" fmla="*/ 0 60000 65536"/>
                <a:gd name="T11" fmla="*/ 0 60000 65536"/>
                <a:gd name="T12" fmla="*/ 0 60000 65536"/>
                <a:gd name="T13" fmla="*/ 0 60000 65536"/>
                <a:gd name="T14" fmla="*/ 0 60000 65536"/>
                <a:gd name="T15" fmla="*/ 0 w 29"/>
                <a:gd name="T16" fmla="*/ 0 h 58"/>
                <a:gd name="T17" fmla="*/ 29 w 29"/>
                <a:gd name="T18" fmla="*/ 58 h 58"/>
              </a:gdLst>
              <a:ahLst/>
              <a:cxnLst>
                <a:cxn ang="T10">
                  <a:pos x="T0" y="T1"/>
                </a:cxn>
                <a:cxn ang="T11">
                  <a:pos x="T2" y="T3"/>
                </a:cxn>
                <a:cxn ang="T12">
                  <a:pos x="T4" y="T5"/>
                </a:cxn>
                <a:cxn ang="T13">
                  <a:pos x="T6" y="T7"/>
                </a:cxn>
                <a:cxn ang="T14">
                  <a:pos x="T8" y="T9"/>
                </a:cxn>
              </a:cxnLst>
              <a:rect l="T15" t="T16" r="T17" b="T18"/>
              <a:pathLst>
                <a:path w="29" h="58">
                  <a:moveTo>
                    <a:pt x="0" y="0"/>
                  </a:moveTo>
                  <a:lnTo>
                    <a:pt x="10" y="58"/>
                  </a:lnTo>
                  <a:lnTo>
                    <a:pt x="29" y="0"/>
                  </a:lnTo>
                  <a:lnTo>
                    <a:pt x="10" y="0"/>
                  </a:lnTo>
                  <a:lnTo>
                    <a:pt x="0" y="0"/>
                  </a:lnTo>
                  <a:close/>
                </a:path>
              </a:pathLst>
            </a:custGeom>
            <a:solidFill>
              <a:srgbClr val="000000"/>
            </a:solidFill>
            <a:ln w="0">
              <a:solidFill>
                <a:srgbClr val="000000"/>
              </a:solidFill>
              <a:prstDash val="solid"/>
              <a:round/>
              <a:headEnd/>
              <a:tailEnd/>
            </a:ln>
          </p:spPr>
          <p:txBody>
            <a:bodyPr/>
            <a:lstStyle/>
            <a:p>
              <a:endParaRPr lang="en-IN" b="1"/>
            </a:p>
          </p:txBody>
        </p:sp>
        <p:sp>
          <p:nvSpPr>
            <p:cNvPr id="56" name="Line 54"/>
            <p:cNvSpPr>
              <a:spLocks noChangeShapeType="1"/>
            </p:cNvSpPr>
            <p:nvPr/>
          </p:nvSpPr>
          <p:spPr bwMode="auto">
            <a:xfrm flipV="1">
              <a:off x="6084888" y="6402387"/>
              <a:ext cx="1587" cy="1365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b="1"/>
            </a:p>
          </p:txBody>
        </p:sp>
        <p:sp>
          <p:nvSpPr>
            <p:cNvPr id="57" name="Rectangle 55"/>
            <p:cNvSpPr>
              <a:spLocks noChangeArrowheads="1"/>
            </p:cNvSpPr>
            <p:nvPr/>
          </p:nvSpPr>
          <p:spPr bwMode="auto">
            <a:xfrm>
              <a:off x="5029200" y="6613525"/>
              <a:ext cx="231634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dirty="0">
                  <a:latin typeface="Nimbus Roman No9 L"/>
                </a:rPr>
                <a:t>Physical address in main memory`</a:t>
              </a:r>
              <a:endParaRPr lang="en-CA" altLang="en-US" sz="2400" b="1" dirty="0">
                <a:latin typeface="Corbel" pitchFamily="34" charset="0"/>
              </a:endParaRPr>
            </a:p>
          </p:txBody>
        </p:sp>
        <p:sp>
          <p:nvSpPr>
            <p:cNvPr id="58" name="Rectangle 56"/>
            <p:cNvSpPr>
              <a:spLocks noChangeArrowheads="1"/>
            </p:cNvSpPr>
            <p:nvPr/>
          </p:nvSpPr>
          <p:spPr bwMode="auto">
            <a:xfrm>
              <a:off x="3629025" y="3317875"/>
              <a:ext cx="91210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PAGE TABLE</a:t>
              </a:r>
              <a:endParaRPr lang="en-CA" altLang="en-US" sz="2400" b="1">
                <a:latin typeface="Corbel" pitchFamily="34" charset="0"/>
              </a:endParaRPr>
            </a:p>
          </p:txBody>
        </p:sp>
        <p:sp>
          <p:nvSpPr>
            <p:cNvPr id="59" name="Rectangle 57"/>
            <p:cNvSpPr>
              <a:spLocks noChangeArrowheads="1"/>
            </p:cNvSpPr>
            <p:nvPr/>
          </p:nvSpPr>
          <p:spPr bwMode="auto">
            <a:xfrm>
              <a:off x="5410200" y="6049962"/>
              <a:ext cx="75982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100" b="1">
                  <a:latin typeface="Nimbus Roman No9 L"/>
                </a:rPr>
                <a:t>Page frame</a:t>
              </a:r>
              <a:endParaRPr lang="en-CA" altLang="en-US" sz="2400" b="1">
                <a:latin typeface="Corbel" pitchFamily="34" charset="0"/>
              </a:endParaRPr>
            </a:p>
          </p:txBody>
        </p:sp>
        <p:sp>
          <p:nvSpPr>
            <p:cNvPr id="60" name="Freeform 58"/>
            <p:cNvSpPr>
              <a:spLocks/>
            </p:cNvSpPr>
            <p:nvPr/>
          </p:nvSpPr>
          <p:spPr bwMode="auto">
            <a:xfrm>
              <a:off x="3521075" y="5757862"/>
              <a:ext cx="246063" cy="77788"/>
            </a:xfrm>
            <a:custGeom>
              <a:avLst/>
              <a:gdLst>
                <a:gd name="T0" fmla="*/ 246063 w 16"/>
                <a:gd name="T1" fmla="*/ 0 h 5"/>
                <a:gd name="T2" fmla="*/ 230684 w 16"/>
                <a:gd name="T3" fmla="*/ 15558 h 5"/>
                <a:gd name="T4" fmla="*/ 230684 w 16"/>
                <a:gd name="T5" fmla="*/ 31115 h 5"/>
                <a:gd name="T6" fmla="*/ 215305 w 16"/>
                <a:gd name="T7" fmla="*/ 31115 h 5"/>
                <a:gd name="T8" fmla="*/ 215305 w 16"/>
                <a:gd name="T9" fmla="*/ 31115 h 5"/>
                <a:gd name="T10" fmla="*/ 199926 w 16"/>
                <a:gd name="T11" fmla="*/ 31115 h 5"/>
                <a:gd name="T12" fmla="*/ 169168 w 16"/>
                <a:gd name="T13" fmla="*/ 31115 h 5"/>
                <a:gd name="T14" fmla="*/ 123032 w 16"/>
                <a:gd name="T15" fmla="*/ 31115 h 5"/>
                <a:gd name="T16" fmla="*/ 76895 w 16"/>
                <a:gd name="T17" fmla="*/ 31115 h 5"/>
                <a:gd name="T18" fmla="*/ 46137 w 16"/>
                <a:gd name="T19" fmla="*/ 31115 h 5"/>
                <a:gd name="T20" fmla="*/ 30758 w 16"/>
                <a:gd name="T21" fmla="*/ 31115 h 5"/>
                <a:gd name="T22" fmla="*/ 30758 w 16"/>
                <a:gd name="T23" fmla="*/ 31115 h 5"/>
                <a:gd name="T24" fmla="*/ 15379 w 16"/>
                <a:gd name="T25" fmla="*/ 46673 h 5"/>
                <a:gd name="T26" fmla="*/ 15379 w 16"/>
                <a:gd name="T27" fmla="*/ 62230 h 5"/>
                <a:gd name="T28" fmla="*/ 0 w 16"/>
                <a:gd name="T29" fmla="*/ 77788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5"/>
                <a:gd name="T47" fmla="*/ 16 w 16"/>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5">
                  <a:moveTo>
                    <a:pt x="16" y="0"/>
                  </a:moveTo>
                  <a:lnTo>
                    <a:pt x="15" y="1"/>
                  </a:lnTo>
                  <a:lnTo>
                    <a:pt x="15" y="2"/>
                  </a:lnTo>
                  <a:lnTo>
                    <a:pt x="14" y="2"/>
                  </a:lnTo>
                  <a:lnTo>
                    <a:pt x="13" y="2"/>
                  </a:lnTo>
                  <a:lnTo>
                    <a:pt x="11" y="2"/>
                  </a:lnTo>
                  <a:lnTo>
                    <a:pt x="8" y="2"/>
                  </a:lnTo>
                  <a:lnTo>
                    <a:pt x="5" y="2"/>
                  </a:lnTo>
                  <a:lnTo>
                    <a:pt x="3" y="2"/>
                  </a:lnTo>
                  <a:lnTo>
                    <a:pt x="2" y="2"/>
                  </a:lnTo>
                  <a:lnTo>
                    <a:pt x="1" y="3"/>
                  </a:lnTo>
                  <a:lnTo>
                    <a:pt x="1" y="4"/>
                  </a:lnTo>
                  <a:lnTo>
                    <a:pt x="0" y="5"/>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61" name="Freeform 59"/>
            <p:cNvSpPr>
              <a:spLocks/>
            </p:cNvSpPr>
            <p:nvPr/>
          </p:nvSpPr>
          <p:spPr bwMode="auto">
            <a:xfrm>
              <a:off x="3260725" y="5757862"/>
              <a:ext cx="260350" cy="77788"/>
            </a:xfrm>
            <a:custGeom>
              <a:avLst/>
              <a:gdLst>
                <a:gd name="T0" fmla="*/ 0 w 17"/>
                <a:gd name="T1" fmla="*/ 0 h 5"/>
                <a:gd name="T2" fmla="*/ 15315 w 17"/>
                <a:gd name="T3" fmla="*/ 15558 h 5"/>
                <a:gd name="T4" fmla="*/ 30629 w 17"/>
                <a:gd name="T5" fmla="*/ 31115 h 5"/>
                <a:gd name="T6" fmla="*/ 30629 w 17"/>
                <a:gd name="T7" fmla="*/ 31115 h 5"/>
                <a:gd name="T8" fmla="*/ 45944 w 17"/>
                <a:gd name="T9" fmla="*/ 31115 h 5"/>
                <a:gd name="T10" fmla="*/ 45944 w 17"/>
                <a:gd name="T11" fmla="*/ 31115 h 5"/>
                <a:gd name="T12" fmla="*/ 91888 w 17"/>
                <a:gd name="T13" fmla="*/ 31115 h 5"/>
                <a:gd name="T14" fmla="*/ 137832 w 17"/>
                <a:gd name="T15" fmla="*/ 31115 h 5"/>
                <a:gd name="T16" fmla="*/ 168462 w 17"/>
                <a:gd name="T17" fmla="*/ 31115 h 5"/>
                <a:gd name="T18" fmla="*/ 214406 w 17"/>
                <a:gd name="T19" fmla="*/ 31115 h 5"/>
                <a:gd name="T20" fmla="*/ 214406 w 17"/>
                <a:gd name="T21" fmla="*/ 31115 h 5"/>
                <a:gd name="T22" fmla="*/ 229721 w 17"/>
                <a:gd name="T23" fmla="*/ 31115 h 5"/>
                <a:gd name="T24" fmla="*/ 229721 w 17"/>
                <a:gd name="T25" fmla="*/ 46673 h 5"/>
                <a:gd name="T26" fmla="*/ 245035 w 17"/>
                <a:gd name="T27" fmla="*/ 62230 h 5"/>
                <a:gd name="T28" fmla="*/ 260350 w 17"/>
                <a:gd name="T29" fmla="*/ 77788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5"/>
                <a:gd name="T47" fmla="*/ 17 w 17"/>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5">
                  <a:moveTo>
                    <a:pt x="0" y="0"/>
                  </a:moveTo>
                  <a:lnTo>
                    <a:pt x="1" y="1"/>
                  </a:lnTo>
                  <a:lnTo>
                    <a:pt x="2" y="2"/>
                  </a:lnTo>
                  <a:lnTo>
                    <a:pt x="3" y="2"/>
                  </a:lnTo>
                  <a:lnTo>
                    <a:pt x="6" y="2"/>
                  </a:lnTo>
                  <a:lnTo>
                    <a:pt x="9" y="2"/>
                  </a:lnTo>
                  <a:lnTo>
                    <a:pt x="11" y="2"/>
                  </a:lnTo>
                  <a:lnTo>
                    <a:pt x="14" y="2"/>
                  </a:lnTo>
                  <a:lnTo>
                    <a:pt x="15" y="2"/>
                  </a:lnTo>
                  <a:lnTo>
                    <a:pt x="15" y="3"/>
                  </a:lnTo>
                  <a:lnTo>
                    <a:pt x="16" y="4"/>
                  </a:lnTo>
                  <a:lnTo>
                    <a:pt x="17" y="5"/>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62" name="Freeform 60"/>
            <p:cNvSpPr>
              <a:spLocks/>
            </p:cNvSpPr>
            <p:nvPr/>
          </p:nvSpPr>
          <p:spPr bwMode="auto">
            <a:xfrm>
              <a:off x="4319588" y="5773737"/>
              <a:ext cx="522287" cy="76200"/>
            </a:xfrm>
            <a:custGeom>
              <a:avLst/>
              <a:gdLst>
                <a:gd name="T0" fmla="*/ 522287 w 34"/>
                <a:gd name="T1" fmla="*/ 0 h 5"/>
                <a:gd name="T2" fmla="*/ 506926 w 34"/>
                <a:gd name="T3" fmla="*/ 15240 h 5"/>
                <a:gd name="T4" fmla="*/ 491564 w 34"/>
                <a:gd name="T5" fmla="*/ 15240 h 5"/>
                <a:gd name="T6" fmla="*/ 476203 w 34"/>
                <a:gd name="T7" fmla="*/ 15240 h 5"/>
                <a:gd name="T8" fmla="*/ 476203 w 34"/>
                <a:gd name="T9" fmla="*/ 15240 h 5"/>
                <a:gd name="T10" fmla="*/ 337950 w 34"/>
                <a:gd name="T11" fmla="*/ 15240 h 5"/>
                <a:gd name="T12" fmla="*/ 261144 w 34"/>
                <a:gd name="T13" fmla="*/ 15240 h 5"/>
                <a:gd name="T14" fmla="*/ 199698 w 34"/>
                <a:gd name="T15" fmla="*/ 15240 h 5"/>
                <a:gd name="T16" fmla="*/ 46084 w 34"/>
                <a:gd name="T17" fmla="*/ 15240 h 5"/>
                <a:gd name="T18" fmla="*/ 46084 w 34"/>
                <a:gd name="T19" fmla="*/ 15240 h 5"/>
                <a:gd name="T20" fmla="*/ 46084 w 34"/>
                <a:gd name="T21" fmla="*/ 15240 h 5"/>
                <a:gd name="T22" fmla="*/ 30723 w 34"/>
                <a:gd name="T23" fmla="*/ 30480 h 5"/>
                <a:gd name="T24" fmla="*/ 30723 w 34"/>
                <a:gd name="T25" fmla="*/ 45720 h 5"/>
                <a:gd name="T26" fmla="*/ 0 w 34"/>
                <a:gd name="T27" fmla="*/ 76200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
                <a:gd name="T43" fmla="*/ 0 h 5"/>
                <a:gd name="T44" fmla="*/ 34 w 34"/>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 h="5">
                  <a:moveTo>
                    <a:pt x="34" y="0"/>
                  </a:moveTo>
                  <a:lnTo>
                    <a:pt x="33" y="1"/>
                  </a:lnTo>
                  <a:lnTo>
                    <a:pt x="32" y="1"/>
                  </a:lnTo>
                  <a:lnTo>
                    <a:pt x="31" y="1"/>
                  </a:lnTo>
                  <a:lnTo>
                    <a:pt x="22" y="1"/>
                  </a:lnTo>
                  <a:lnTo>
                    <a:pt x="17" y="1"/>
                  </a:lnTo>
                  <a:lnTo>
                    <a:pt x="13" y="1"/>
                  </a:lnTo>
                  <a:lnTo>
                    <a:pt x="3" y="1"/>
                  </a:lnTo>
                  <a:lnTo>
                    <a:pt x="2" y="2"/>
                  </a:lnTo>
                  <a:lnTo>
                    <a:pt x="2" y="3"/>
                  </a:lnTo>
                  <a:lnTo>
                    <a:pt x="0" y="5"/>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63" name="Freeform 61"/>
            <p:cNvSpPr>
              <a:spLocks/>
            </p:cNvSpPr>
            <p:nvPr/>
          </p:nvSpPr>
          <p:spPr bwMode="auto">
            <a:xfrm>
              <a:off x="3813175" y="5773737"/>
              <a:ext cx="506413" cy="76200"/>
            </a:xfrm>
            <a:custGeom>
              <a:avLst/>
              <a:gdLst>
                <a:gd name="T0" fmla="*/ 0 w 33"/>
                <a:gd name="T1" fmla="*/ 0 h 5"/>
                <a:gd name="T2" fmla="*/ 15346 w 33"/>
                <a:gd name="T3" fmla="*/ 15240 h 5"/>
                <a:gd name="T4" fmla="*/ 15346 w 33"/>
                <a:gd name="T5" fmla="*/ 15240 h 5"/>
                <a:gd name="T6" fmla="*/ 30692 w 33"/>
                <a:gd name="T7" fmla="*/ 15240 h 5"/>
                <a:gd name="T8" fmla="*/ 30692 w 33"/>
                <a:gd name="T9" fmla="*/ 15240 h 5"/>
                <a:gd name="T10" fmla="*/ 46038 w 33"/>
                <a:gd name="T11" fmla="*/ 15240 h 5"/>
                <a:gd name="T12" fmla="*/ 184150 w 33"/>
                <a:gd name="T13" fmla="*/ 15240 h 5"/>
                <a:gd name="T14" fmla="*/ 260879 w 33"/>
                <a:gd name="T15" fmla="*/ 15240 h 5"/>
                <a:gd name="T16" fmla="*/ 322263 w 33"/>
                <a:gd name="T17" fmla="*/ 15240 h 5"/>
                <a:gd name="T18" fmla="*/ 475721 w 33"/>
                <a:gd name="T19" fmla="*/ 15240 h 5"/>
                <a:gd name="T20" fmla="*/ 475721 w 33"/>
                <a:gd name="T21" fmla="*/ 15240 h 5"/>
                <a:gd name="T22" fmla="*/ 475721 w 33"/>
                <a:gd name="T23" fmla="*/ 15240 h 5"/>
                <a:gd name="T24" fmla="*/ 491067 w 33"/>
                <a:gd name="T25" fmla="*/ 30480 h 5"/>
                <a:gd name="T26" fmla="*/ 491067 w 33"/>
                <a:gd name="T27" fmla="*/ 45720 h 5"/>
                <a:gd name="T28" fmla="*/ 506413 w 33"/>
                <a:gd name="T29" fmla="*/ 7620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5"/>
                <a:gd name="T47" fmla="*/ 33 w 33"/>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5">
                  <a:moveTo>
                    <a:pt x="0" y="0"/>
                  </a:moveTo>
                  <a:lnTo>
                    <a:pt x="1" y="1"/>
                  </a:lnTo>
                  <a:lnTo>
                    <a:pt x="2" y="1"/>
                  </a:lnTo>
                  <a:lnTo>
                    <a:pt x="3" y="1"/>
                  </a:lnTo>
                  <a:lnTo>
                    <a:pt x="12" y="1"/>
                  </a:lnTo>
                  <a:lnTo>
                    <a:pt x="17" y="1"/>
                  </a:lnTo>
                  <a:lnTo>
                    <a:pt x="21" y="1"/>
                  </a:lnTo>
                  <a:lnTo>
                    <a:pt x="31" y="1"/>
                  </a:lnTo>
                  <a:lnTo>
                    <a:pt x="32" y="2"/>
                  </a:lnTo>
                  <a:lnTo>
                    <a:pt x="32" y="3"/>
                  </a:lnTo>
                  <a:lnTo>
                    <a:pt x="33" y="5"/>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64" name="Freeform 62"/>
            <p:cNvSpPr>
              <a:spLocks/>
            </p:cNvSpPr>
            <p:nvPr/>
          </p:nvSpPr>
          <p:spPr bwMode="auto">
            <a:xfrm>
              <a:off x="4303713" y="4222750"/>
              <a:ext cx="31750" cy="31750"/>
            </a:xfrm>
            <a:custGeom>
              <a:avLst/>
              <a:gdLst>
                <a:gd name="T0" fmla="*/ 15875 w 20"/>
                <a:gd name="T1" fmla="*/ 15875 h 20"/>
                <a:gd name="T2" fmla="*/ 31750 w 20"/>
                <a:gd name="T3" fmla="*/ 15875 h 20"/>
                <a:gd name="T4" fmla="*/ 31750 w 20"/>
                <a:gd name="T5" fmla="*/ 0 h 20"/>
                <a:gd name="T6" fmla="*/ 15875 w 20"/>
                <a:gd name="T7" fmla="*/ 0 h 20"/>
                <a:gd name="T8" fmla="*/ 0 w 20"/>
                <a:gd name="T9" fmla="*/ 0 h 20"/>
                <a:gd name="T10" fmla="*/ 0 w 20"/>
                <a:gd name="T11" fmla="*/ 15875 h 20"/>
                <a:gd name="T12" fmla="*/ 0 w 20"/>
                <a:gd name="T13" fmla="*/ 31750 h 20"/>
                <a:gd name="T14" fmla="*/ 15875 w 20"/>
                <a:gd name="T15" fmla="*/ 31750 h 20"/>
                <a:gd name="T16" fmla="*/ 31750 w 20"/>
                <a:gd name="T17" fmla="*/ 31750 h 20"/>
                <a:gd name="T18" fmla="*/ 31750 w 20"/>
                <a:gd name="T19" fmla="*/ 15875 h 20"/>
                <a:gd name="T20" fmla="*/ 15875 w 20"/>
                <a:gd name="T21" fmla="*/ 15875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20" y="10"/>
                  </a:lnTo>
                  <a:lnTo>
                    <a:pt x="20" y="0"/>
                  </a:lnTo>
                  <a:lnTo>
                    <a:pt x="10" y="0"/>
                  </a:lnTo>
                  <a:lnTo>
                    <a:pt x="0" y="0"/>
                  </a:lnTo>
                  <a:lnTo>
                    <a:pt x="0" y="10"/>
                  </a:lnTo>
                  <a:lnTo>
                    <a:pt x="0" y="20"/>
                  </a:lnTo>
                  <a:lnTo>
                    <a:pt x="10" y="20"/>
                  </a:lnTo>
                  <a:lnTo>
                    <a:pt x="20" y="20"/>
                  </a:lnTo>
                  <a:lnTo>
                    <a:pt x="20" y="10"/>
                  </a:lnTo>
                  <a:lnTo>
                    <a:pt x="10" y="10"/>
                  </a:lnTo>
                  <a:close/>
                </a:path>
              </a:pathLst>
            </a:custGeom>
            <a:solidFill>
              <a:srgbClr val="000000"/>
            </a:solidFill>
            <a:ln w="0">
              <a:solidFill>
                <a:srgbClr val="000000"/>
              </a:solidFill>
              <a:prstDash val="solid"/>
              <a:round/>
              <a:headEnd/>
              <a:tailEnd/>
            </a:ln>
          </p:spPr>
          <p:txBody>
            <a:bodyPr/>
            <a:lstStyle/>
            <a:p>
              <a:endParaRPr lang="en-IN" b="1"/>
            </a:p>
          </p:txBody>
        </p:sp>
        <p:sp>
          <p:nvSpPr>
            <p:cNvPr id="65" name="Freeform 63"/>
            <p:cNvSpPr>
              <a:spLocks/>
            </p:cNvSpPr>
            <p:nvPr/>
          </p:nvSpPr>
          <p:spPr bwMode="auto">
            <a:xfrm>
              <a:off x="4319588" y="4222750"/>
              <a:ext cx="15875" cy="15875"/>
            </a:xfrm>
            <a:custGeom>
              <a:avLst/>
              <a:gdLst>
                <a:gd name="T0" fmla="*/ 15875 w 1"/>
                <a:gd name="T1" fmla="*/ 0 h 1"/>
                <a:gd name="T2" fmla="*/ 0 w 1"/>
                <a:gd name="T3" fmla="*/ 0 h 1"/>
                <a:gd name="T4" fmla="*/ 0 w 1"/>
                <a:gd name="T5" fmla="*/ 0 h 1"/>
                <a:gd name="T6" fmla="*/ 0 w 1"/>
                <a:gd name="T7" fmla="*/ 15875 h 1"/>
                <a:gd name="T8" fmla="*/ 15875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1" y="0"/>
                  </a:moveTo>
                  <a:lnTo>
                    <a:pt x="0" y="0"/>
                  </a:lnTo>
                  <a:lnTo>
                    <a:pt x="0" y="1"/>
                  </a:lnTo>
                  <a:lnTo>
                    <a:pt x="1"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66" name="Freeform 64"/>
            <p:cNvSpPr>
              <a:spLocks/>
            </p:cNvSpPr>
            <p:nvPr/>
          </p:nvSpPr>
          <p:spPr bwMode="auto">
            <a:xfrm>
              <a:off x="4303713" y="4314825"/>
              <a:ext cx="31750" cy="31750"/>
            </a:xfrm>
            <a:custGeom>
              <a:avLst/>
              <a:gdLst>
                <a:gd name="T0" fmla="*/ 15875 w 20"/>
                <a:gd name="T1" fmla="*/ 15875 h 20"/>
                <a:gd name="T2" fmla="*/ 31750 w 20"/>
                <a:gd name="T3" fmla="*/ 15875 h 20"/>
                <a:gd name="T4" fmla="*/ 31750 w 20"/>
                <a:gd name="T5" fmla="*/ 0 h 20"/>
                <a:gd name="T6" fmla="*/ 15875 w 20"/>
                <a:gd name="T7" fmla="*/ 0 h 20"/>
                <a:gd name="T8" fmla="*/ 0 w 20"/>
                <a:gd name="T9" fmla="*/ 0 h 20"/>
                <a:gd name="T10" fmla="*/ 0 w 20"/>
                <a:gd name="T11" fmla="*/ 15875 h 20"/>
                <a:gd name="T12" fmla="*/ 0 w 20"/>
                <a:gd name="T13" fmla="*/ 31750 h 20"/>
                <a:gd name="T14" fmla="*/ 15875 w 20"/>
                <a:gd name="T15" fmla="*/ 31750 h 20"/>
                <a:gd name="T16" fmla="*/ 31750 w 20"/>
                <a:gd name="T17" fmla="*/ 31750 h 20"/>
                <a:gd name="T18" fmla="*/ 31750 w 20"/>
                <a:gd name="T19" fmla="*/ 15875 h 20"/>
                <a:gd name="T20" fmla="*/ 15875 w 20"/>
                <a:gd name="T21" fmla="*/ 15875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20" y="10"/>
                  </a:lnTo>
                  <a:lnTo>
                    <a:pt x="20" y="0"/>
                  </a:lnTo>
                  <a:lnTo>
                    <a:pt x="10" y="0"/>
                  </a:lnTo>
                  <a:lnTo>
                    <a:pt x="0" y="0"/>
                  </a:lnTo>
                  <a:lnTo>
                    <a:pt x="0" y="10"/>
                  </a:lnTo>
                  <a:lnTo>
                    <a:pt x="0" y="20"/>
                  </a:lnTo>
                  <a:lnTo>
                    <a:pt x="10" y="20"/>
                  </a:lnTo>
                  <a:lnTo>
                    <a:pt x="20" y="20"/>
                  </a:lnTo>
                  <a:lnTo>
                    <a:pt x="20" y="10"/>
                  </a:lnTo>
                  <a:lnTo>
                    <a:pt x="10" y="10"/>
                  </a:lnTo>
                  <a:close/>
                </a:path>
              </a:pathLst>
            </a:custGeom>
            <a:solidFill>
              <a:srgbClr val="000000"/>
            </a:solidFill>
            <a:ln w="0">
              <a:solidFill>
                <a:srgbClr val="000000"/>
              </a:solidFill>
              <a:prstDash val="solid"/>
              <a:round/>
              <a:headEnd/>
              <a:tailEnd/>
            </a:ln>
          </p:spPr>
          <p:txBody>
            <a:bodyPr/>
            <a:lstStyle/>
            <a:p>
              <a:endParaRPr lang="en-IN" b="1"/>
            </a:p>
          </p:txBody>
        </p:sp>
        <p:sp>
          <p:nvSpPr>
            <p:cNvPr id="67" name="Freeform 65"/>
            <p:cNvSpPr>
              <a:spLocks/>
            </p:cNvSpPr>
            <p:nvPr/>
          </p:nvSpPr>
          <p:spPr bwMode="auto">
            <a:xfrm>
              <a:off x="4319588" y="4314825"/>
              <a:ext cx="15875" cy="15875"/>
            </a:xfrm>
            <a:custGeom>
              <a:avLst/>
              <a:gdLst>
                <a:gd name="T0" fmla="*/ 15875 w 1"/>
                <a:gd name="T1" fmla="*/ 0 h 1"/>
                <a:gd name="T2" fmla="*/ 0 w 1"/>
                <a:gd name="T3" fmla="*/ 0 h 1"/>
                <a:gd name="T4" fmla="*/ 0 w 1"/>
                <a:gd name="T5" fmla="*/ 0 h 1"/>
                <a:gd name="T6" fmla="*/ 0 w 1"/>
                <a:gd name="T7" fmla="*/ 15875 h 1"/>
                <a:gd name="T8" fmla="*/ 15875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1" y="0"/>
                  </a:moveTo>
                  <a:lnTo>
                    <a:pt x="0" y="0"/>
                  </a:lnTo>
                  <a:lnTo>
                    <a:pt x="0" y="1"/>
                  </a:lnTo>
                  <a:lnTo>
                    <a:pt x="1"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68" name="Freeform 66"/>
            <p:cNvSpPr>
              <a:spLocks/>
            </p:cNvSpPr>
            <p:nvPr/>
          </p:nvSpPr>
          <p:spPr bwMode="auto">
            <a:xfrm>
              <a:off x="4303713" y="4406900"/>
              <a:ext cx="31750" cy="31750"/>
            </a:xfrm>
            <a:custGeom>
              <a:avLst/>
              <a:gdLst>
                <a:gd name="T0" fmla="*/ 15875 w 20"/>
                <a:gd name="T1" fmla="*/ 15875 h 20"/>
                <a:gd name="T2" fmla="*/ 31750 w 20"/>
                <a:gd name="T3" fmla="*/ 15875 h 20"/>
                <a:gd name="T4" fmla="*/ 31750 w 20"/>
                <a:gd name="T5" fmla="*/ 0 h 20"/>
                <a:gd name="T6" fmla="*/ 15875 w 20"/>
                <a:gd name="T7" fmla="*/ 0 h 20"/>
                <a:gd name="T8" fmla="*/ 0 w 20"/>
                <a:gd name="T9" fmla="*/ 0 h 20"/>
                <a:gd name="T10" fmla="*/ 0 w 20"/>
                <a:gd name="T11" fmla="*/ 15875 h 20"/>
                <a:gd name="T12" fmla="*/ 0 w 20"/>
                <a:gd name="T13" fmla="*/ 31750 h 20"/>
                <a:gd name="T14" fmla="*/ 15875 w 20"/>
                <a:gd name="T15" fmla="*/ 31750 h 20"/>
                <a:gd name="T16" fmla="*/ 31750 w 20"/>
                <a:gd name="T17" fmla="*/ 31750 h 20"/>
                <a:gd name="T18" fmla="*/ 31750 w 20"/>
                <a:gd name="T19" fmla="*/ 15875 h 20"/>
                <a:gd name="T20" fmla="*/ 15875 w 20"/>
                <a:gd name="T21" fmla="*/ 15875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20" y="10"/>
                  </a:lnTo>
                  <a:lnTo>
                    <a:pt x="20" y="0"/>
                  </a:lnTo>
                  <a:lnTo>
                    <a:pt x="10" y="0"/>
                  </a:lnTo>
                  <a:lnTo>
                    <a:pt x="0" y="0"/>
                  </a:lnTo>
                  <a:lnTo>
                    <a:pt x="0" y="10"/>
                  </a:lnTo>
                  <a:lnTo>
                    <a:pt x="0" y="20"/>
                  </a:lnTo>
                  <a:lnTo>
                    <a:pt x="10" y="20"/>
                  </a:lnTo>
                  <a:lnTo>
                    <a:pt x="20" y="20"/>
                  </a:lnTo>
                  <a:lnTo>
                    <a:pt x="20" y="10"/>
                  </a:lnTo>
                  <a:lnTo>
                    <a:pt x="10" y="10"/>
                  </a:lnTo>
                  <a:close/>
                </a:path>
              </a:pathLst>
            </a:custGeom>
            <a:solidFill>
              <a:srgbClr val="000000"/>
            </a:solidFill>
            <a:ln w="0">
              <a:solidFill>
                <a:srgbClr val="000000"/>
              </a:solidFill>
              <a:prstDash val="solid"/>
              <a:round/>
              <a:headEnd/>
              <a:tailEnd/>
            </a:ln>
          </p:spPr>
          <p:txBody>
            <a:bodyPr/>
            <a:lstStyle/>
            <a:p>
              <a:endParaRPr lang="en-IN" b="1"/>
            </a:p>
          </p:txBody>
        </p:sp>
        <p:sp>
          <p:nvSpPr>
            <p:cNvPr id="69" name="Freeform 67"/>
            <p:cNvSpPr>
              <a:spLocks/>
            </p:cNvSpPr>
            <p:nvPr/>
          </p:nvSpPr>
          <p:spPr bwMode="auto">
            <a:xfrm>
              <a:off x="4319588" y="4406900"/>
              <a:ext cx="15875" cy="15875"/>
            </a:xfrm>
            <a:custGeom>
              <a:avLst/>
              <a:gdLst>
                <a:gd name="T0" fmla="*/ 15875 w 1"/>
                <a:gd name="T1" fmla="*/ 0 h 1"/>
                <a:gd name="T2" fmla="*/ 0 w 1"/>
                <a:gd name="T3" fmla="*/ 0 h 1"/>
                <a:gd name="T4" fmla="*/ 0 w 1"/>
                <a:gd name="T5" fmla="*/ 0 h 1"/>
                <a:gd name="T6" fmla="*/ 0 w 1"/>
                <a:gd name="T7" fmla="*/ 15875 h 1"/>
                <a:gd name="T8" fmla="*/ 15875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1" y="0"/>
                  </a:moveTo>
                  <a:lnTo>
                    <a:pt x="0" y="0"/>
                  </a:lnTo>
                  <a:lnTo>
                    <a:pt x="0" y="1"/>
                  </a:lnTo>
                  <a:lnTo>
                    <a:pt x="1"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70" name="Freeform 68"/>
            <p:cNvSpPr>
              <a:spLocks/>
            </p:cNvSpPr>
            <p:nvPr/>
          </p:nvSpPr>
          <p:spPr bwMode="auto">
            <a:xfrm>
              <a:off x="4303713" y="5021262"/>
              <a:ext cx="31750" cy="31750"/>
            </a:xfrm>
            <a:custGeom>
              <a:avLst/>
              <a:gdLst>
                <a:gd name="T0" fmla="*/ 15875 w 20"/>
                <a:gd name="T1" fmla="*/ 15875 h 20"/>
                <a:gd name="T2" fmla="*/ 31750 w 20"/>
                <a:gd name="T3" fmla="*/ 15875 h 20"/>
                <a:gd name="T4" fmla="*/ 31750 w 20"/>
                <a:gd name="T5" fmla="*/ 0 h 20"/>
                <a:gd name="T6" fmla="*/ 15875 w 20"/>
                <a:gd name="T7" fmla="*/ 0 h 20"/>
                <a:gd name="T8" fmla="*/ 0 w 20"/>
                <a:gd name="T9" fmla="*/ 0 h 20"/>
                <a:gd name="T10" fmla="*/ 0 w 20"/>
                <a:gd name="T11" fmla="*/ 15875 h 20"/>
                <a:gd name="T12" fmla="*/ 0 w 20"/>
                <a:gd name="T13" fmla="*/ 31750 h 20"/>
                <a:gd name="T14" fmla="*/ 15875 w 20"/>
                <a:gd name="T15" fmla="*/ 31750 h 20"/>
                <a:gd name="T16" fmla="*/ 31750 w 20"/>
                <a:gd name="T17" fmla="*/ 31750 h 20"/>
                <a:gd name="T18" fmla="*/ 31750 w 20"/>
                <a:gd name="T19" fmla="*/ 15875 h 20"/>
                <a:gd name="T20" fmla="*/ 15875 w 20"/>
                <a:gd name="T21" fmla="*/ 15875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0"/>
                <a:gd name="T35" fmla="*/ 20 w 20"/>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0">
                  <a:moveTo>
                    <a:pt x="10" y="10"/>
                  </a:moveTo>
                  <a:lnTo>
                    <a:pt x="20" y="10"/>
                  </a:lnTo>
                  <a:lnTo>
                    <a:pt x="20" y="0"/>
                  </a:lnTo>
                  <a:lnTo>
                    <a:pt x="10" y="0"/>
                  </a:lnTo>
                  <a:lnTo>
                    <a:pt x="0" y="0"/>
                  </a:lnTo>
                  <a:lnTo>
                    <a:pt x="0" y="10"/>
                  </a:lnTo>
                  <a:lnTo>
                    <a:pt x="0" y="20"/>
                  </a:lnTo>
                  <a:lnTo>
                    <a:pt x="10" y="20"/>
                  </a:lnTo>
                  <a:lnTo>
                    <a:pt x="20" y="20"/>
                  </a:lnTo>
                  <a:lnTo>
                    <a:pt x="20" y="10"/>
                  </a:lnTo>
                  <a:lnTo>
                    <a:pt x="10" y="10"/>
                  </a:lnTo>
                  <a:close/>
                </a:path>
              </a:pathLst>
            </a:custGeom>
            <a:solidFill>
              <a:srgbClr val="000000"/>
            </a:solidFill>
            <a:ln w="0">
              <a:solidFill>
                <a:srgbClr val="000000"/>
              </a:solidFill>
              <a:prstDash val="solid"/>
              <a:round/>
              <a:headEnd/>
              <a:tailEnd/>
            </a:ln>
          </p:spPr>
          <p:txBody>
            <a:bodyPr/>
            <a:lstStyle/>
            <a:p>
              <a:endParaRPr lang="en-IN" b="1"/>
            </a:p>
          </p:txBody>
        </p:sp>
        <p:sp>
          <p:nvSpPr>
            <p:cNvPr id="71" name="Freeform 69"/>
            <p:cNvSpPr>
              <a:spLocks/>
            </p:cNvSpPr>
            <p:nvPr/>
          </p:nvSpPr>
          <p:spPr bwMode="auto">
            <a:xfrm>
              <a:off x="4303713" y="5021262"/>
              <a:ext cx="15875" cy="15875"/>
            </a:xfrm>
            <a:custGeom>
              <a:avLst/>
              <a:gdLst>
                <a:gd name="T0" fmla="*/ 15875 w 1"/>
                <a:gd name="T1" fmla="*/ 0 h 1"/>
                <a:gd name="T2" fmla="*/ 0 w 1"/>
                <a:gd name="T3" fmla="*/ 0 h 1"/>
                <a:gd name="T4" fmla="*/ 0 w 1"/>
                <a:gd name="T5" fmla="*/ 0 h 1"/>
                <a:gd name="T6" fmla="*/ 0 w 1"/>
                <a:gd name="T7" fmla="*/ 15875 h 1"/>
                <a:gd name="T8" fmla="*/ 15875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1" y="0"/>
                  </a:moveTo>
                  <a:lnTo>
                    <a:pt x="0" y="0"/>
                  </a:lnTo>
                  <a:lnTo>
                    <a:pt x="0" y="1"/>
                  </a:lnTo>
                  <a:lnTo>
                    <a:pt x="1"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72" name="Freeform 70"/>
            <p:cNvSpPr>
              <a:spLocks/>
            </p:cNvSpPr>
            <p:nvPr/>
          </p:nvSpPr>
          <p:spPr bwMode="auto">
            <a:xfrm>
              <a:off x="4303713" y="5099050"/>
              <a:ext cx="31750" cy="30162"/>
            </a:xfrm>
            <a:custGeom>
              <a:avLst/>
              <a:gdLst>
                <a:gd name="T0" fmla="*/ 15875 w 20"/>
                <a:gd name="T1" fmla="*/ 14287 h 19"/>
                <a:gd name="T2" fmla="*/ 31750 w 20"/>
                <a:gd name="T3" fmla="*/ 14287 h 19"/>
                <a:gd name="T4" fmla="*/ 31750 w 20"/>
                <a:gd name="T5" fmla="*/ 0 h 19"/>
                <a:gd name="T6" fmla="*/ 15875 w 20"/>
                <a:gd name="T7" fmla="*/ 0 h 19"/>
                <a:gd name="T8" fmla="*/ 0 w 20"/>
                <a:gd name="T9" fmla="*/ 0 h 19"/>
                <a:gd name="T10" fmla="*/ 0 w 20"/>
                <a:gd name="T11" fmla="*/ 14287 h 19"/>
                <a:gd name="T12" fmla="*/ 0 w 20"/>
                <a:gd name="T13" fmla="*/ 30162 h 19"/>
                <a:gd name="T14" fmla="*/ 15875 w 20"/>
                <a:gd name="T15" fmla="*/ 30162 h 19"/>
                <a:gd name="T16" fmla="*/ 31750 w 20"/>
                <a:gd name="T17" fmla="*/ 30162 h 19"/>
                <a:gd name="T18" fmla="*/ 31750 w 20"/>
                <a:gd name="T19" fmla="*/ 14287 h 19"/>
                <a:gd name="T20" fmla="*/ 15875 w 20"/>
                <a:gd name="T21" fmla="*/ 14287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19"/>
                <a:gd name="T35" fmla="*/ 20 w 20"/>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19">
                  <a:moveTo>
                    <a:pt x="10" y="9"/>
                  </a:moveTo>
                  <a:lnTo>
                    <a:pt x="20" y="9"/>
                  </a:lnTo>
                  <a:lnTo>
                    <a:pt x="20" y="0"/>
                  </a:lnTo>
                  <a:lnTo>
                    <a:pt x="10" y="0"/>
                  </a:lnTo>
                  <a:lnTo>
                    <a:pt x="0" y="0"/>
                  </a:lnTo>
                  <a:lnTo>
                    <a:pt x="0" y="9"/>
                  </a:lnTo>
                  <a:lnTo>
                    <a:pt x="0" y="19"/>
                  </a:lnTo>
                  <a:lnTo>
                    <a:pt x="10" y="19"/>
                  </a:lnTo>
                  <a:lnTo>
                    <a:pt x="20" y="19"/>
                  </a:lnTo>
                  <a:lnTo>
                    <a:pt x="20" y="9"/>
                  </a:lnTo>
                  <a:lnTo>
                    <a:pt x="10" y="9"/>
                  </a:lnTo>
                  <a:close/>
                </a:path>
              </a:pathLst>
            </a:custGeom>
            <a:solidFill>
              <a:srgbClr val="000000"/>
            </a:solidFill>
            <a:ln w="0">
              <a:solidFill>
                <a:srgbClr val="000000"/>
              </a:solidFill>
              <a:prstDash val="solid"/>
              <a:round/>
              <a:headEnd/>
              <a:tailEnd/>
            </a:ln>
          </p:spPr>
          <p:txBody>
            <a:bodyPr/>
            <a:lstStyle/>
            <a:p>
              <a:endParaRPr lang="en-IN" b="1"/>
            </a:p>
          </p:txBody>
        </p:sp>
        <p:sp>
          <p:nvSpPr>
            <p:cNvPr id="73" name="Freeform 71"/>
            <p:cNvSpPr>
              <a:spLocks/>
            </p:cNvSpPr>
            <p:nvPr/>
          </p:nvSpPr>
          <p:spPr bwMode="auto">
            <a:xfrm>
              <a:off x="4303713" y="5113337"/>
              <a:ext cx="15875" cy="15875"/>
            </a:xfrm>
            <a:custGeom>
              <a:avLst/>
              <a:gdLst>
                <a:gd name="T0" fmla="*/ 15875 w 1"/>
                <a:gd name="T1" fmla="*/ 0 h 1"/>
                <a:gd name="T2" fmla="*/ 0 w 1"/>
                <a:gd name="T3" fmla="*/ 0 h 1"/>
                <a:gd name="T4" fmla="*/ 0 w 1"/>
                <a:gd name="T5" fmla="*/ 0 h 1"/>
                <a:gd name="T6" fmla="*/ 0 w 1"/>
                <a:gd name="T7" fmla="*/ 15875 h 1"/>
                <a:gd name="T8" fmla="*/ 15875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1" y="0"/>
                  </a:moveTo>
                  <a:lnTo>
                    <a:pt x="0" y="0"/>
                  </a:lnTo>
                  <a:lnTo>
                    <a:pt x="0" y="1"/>
                  </a:lnTo>
                  <a:lnTo>
                    <a:pt x="1"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74" name="Freeform 72"/>
            <p:cNvSpPr>
              <a:spLocks/>
            </p:cNvSpPr>
            <p:nvPr/>
          </p:nvSpPr>
          <p:spPr bwMode="auto">
            <a:xfrm>
              <a:off x="4303713" y="5191125"/>
              <a:ext cx="31750" cy="30162"/>
            </a:xfrm>
            <a:custGeom>
              <a:avLst/>
              <a:gdLst>
                <a:gd name="T0" fmla="*/ 15875 w 20"/>
                <a:gd name="T1" fmla="*/ 14287 h 19"/>
                <a:gd name="T2" fmla="*/ 31750 w 20"/>
                <a:gd name="T3" fmla="*/ 14287 h 19"/>
                <a:gd name="T4" fmla="*/ 31750 w 20"/>
                <a:gd name="T5" fmla="*/ 0 h 19"/>
                <a:gd name="T6" fmla="*/ 15875 w 20"/>
                <a:gd name="T7" fmla="*/ 0 h 19"/>
                <a:gd name="T8" fmla="*/ 0 w 20"/>
                <a:gd name="T9" fmla="*/ 0 h 19"/>
                <a:gd name="T10" fmla="*/ 0 w 20"/>
                <a:gd name="T11" fmla="*/ 14287 h 19"/>
                <a:gd name="T12" fmla="*/ 0 w 20"/>
                <a:gd name="T13" fmla="*/ 30162 h 19"/>
                <a:gd name="T14" fmla="*/ 15875 w 20"/>
                <a:gd name="T15" fmla="*/ 30162 h 19"/>
                <a:gd name="T16" fmla="*/ 31750 w 20"/>
                <a:gd name="T17" fmla="*/ 30162 h 19"/>
                <a:gd name="T18" fmla="*/ 31750 w 20"/>
                <a:gd name="T19" fmla="*/ 14287 h 19"/>
                <a:gd name="T20" fmla="*/ 15875 w 20"/>
                <a:gd name="T21" fmla="*/ 14287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19"/>
                <a:gd name="T35" fmla="*/ 20 w 20"/>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19">
                  <a:moveTo>
                    <a:pt x="10" y="9"/>
                  </a:moveTo>
                  <a:lnTo>
                    <a:pt x="20" y="9"/>
                  </a:lnTo>
                  <a:lnTo>
                    <a:pt x="20" y="0"/>
                  </a:lnTo>
                  <a:lnTo>
                    <a:pt x="10" y="0"/>
                  </a:lnTo>
                  <a:lnTo>
                    <a:pt x="0" y="0"/>
                  </a:lnTo>
                  <a:lnTo>
                    <a:pt x="0" y="9"/>
                  </a:lnTo>
                  <a:lnTo>
                    <a:pt x="0" y="19"/>
                  </a:lnTo>
                  <a:lnTo>
                    <a:pt x="10" y="19"/>
                  </a:lnTo>
                  <a:lnTo>
                    <a:pt x="20" y="19"/>
                  </a:lnTo>
                  <a:lnTo>
                    <a:pt x="20" y="9"/>
                  </a:lnTo>
                  <a:lnTo>
                    <a:pt x="10" y="9"/>
                  </a:lnTo>
                  <a:close/>
                </a:path>
              </a:pathLst>
            </a:custGeom>
            <a:solidFill>
              <a:srgbClr val="000000"/>
            </a:solidFill>
            <a:ln w="0">
              <a:solidFill>
                <a:srgbClr val="000000"/>
              </a:solidFill>
              <a:prstDash val="solid"/>
              <a:round/>
              <a:headEnd/>
              <a:tailEnd/>
            </a:ln>
          </p:spPr>
          <p:txBody>
            <a:bodyPr/>
            <a:lstStyle/>
            <a:p>
              <a:endParaRPr lang="en-IN" b="1"/>
            </a:p>
          </p:txBody>
        </p:sp>
        <p:sp>
          <p:nvSpPr>
            <p:cNvPr id="75" name="Freeform 73"/>
            <p:cNvSpPr>
              <a:spLocks/>
            </p:cNvSpPr>
            <p:nvPr/>
          </p:nvSpPr>
          <p:spPr bwMode="auto">
            <a:xfrm>
              <a:off x="4303713" y="5205412"/>
              <a:ext cx="15875" cy="15875"/>
            </a:xfrm>
            <a:custGeom>
              <a:avLst/>
              <a:gdLst>
                <a:gd name="T0" fmla="*/ 15875 w 1"/>
                <a:gd name="T1" fmla="*/ 0 h 1"/>
                <a:gd name="T2" fmla="*/ 0 w 1"/>
                <a:gd name="T3" fmla="*/ 0 h 1"/>
                <a:gd name="T4" fmla="*/ 0 w 1"/>
                <a:gd name="T5" fmla="*/ 0 h 1"/>
                <a:gd name="T6" fmla="*/ 0 w 1"/>
                <a:gd name="T7" fmla="*/ 15875 h 1"/>
                <a:gd name="T8" fmla="*/ 15875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1" y="0"/>
                  </a:moveTo>
                  <a:lnTo>
                    <a:pt x="0" y="0"/>
                  </a:lnTo>
                  <a:lnTo>
                    <a:pt x="0" y="1"/>
                  </a:lnTo>
                  <a:lnTo>
                    <a:pt x="1" y="0"/>
                  </a:lnTo>
                </a:path>
              </a:pathLst>
            </a:custGeom>
            <a:noFill/>
            <a:ln w="158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76" name="Freeform 74"/>
            <p:cNvSpPr>
              <a:spLocks/>
            </p:cNvSpPr>
            <p:nvPr/>
          </p:nvSpPr>
          <p:spPr bwMode="auto">
            <a:xfrm>
              <a:off x="2754313" y="2857500"/>
              <a:ext cx="292100" cy="292100"/>
            </a:xfrm>
            <a:custGeom>
              <a:avLst/>
              <a:gdLst>
                <a:gd name="T0" fmla="*/ 153737 w 19"/>
                <a:gd name="T1" fmla="*/ 0 h 19"/>
                <a:gd name="T2" fmla="*/ 92242 w 19"/>
                <a:gd name="T3" fmla="*/ 15374 h 19"/>
                <a:gd name="T4" fmla="*/ 46121 w 19"/>
                <a:gd name="T5" fmla="*/ 46121 h 19"/>
                <a:gd name="T6" fmla="*/ 15374 w 19"/>
                <a:gd name="T7" fmla="*/ 92242 h 19"/>
                <a:gd name="T8" fmla="*/ 0 w 19"/>
                <a:gd name="T9" fmla="*/ 153737 h 19"/>
                <a:gd name="T10" fmla="*/ 15374 w 19"/>
                <a:gd name="T11" fmla="*/ 199858 h 19"/>
                <a:gd name="T12" fmla="*/ 46121 w 19"/>
                <a:gd name="T13" fmla="*/ 245979 h 19"/>
                <a:gd name="T14" fmla="*/ 92242 w 19"/>
                <a:gd name="T15" fmla="*/ 276726 h 19"/>
                <a:gd name="T16" fmla="*/ 153737 w 19"/>
                <a:gd name="T17" fmla="*/ 292100 h 19"/>
                <a:gd name="T18" fmla="*/ 199858 w 19"/>
                <a:gd name="T19" fmla="*/ 276726 h 19"/>
                <a:gd name="T20" fmla="*/ 245979 w 19"/>
                <a:gd name="T21" fmla="*/ 245979 h 19"/>
                <a:gd name="T22" fmla="*/ 276726 w 19"/>
                <a:gd name="T23" fmla="*/ 199858 h 19"/>
                <a:gd name="T24" fmla="*/ 292100 w 19"/>
                <a:gd name="T25" fmla="*/ 153737 h 19"/>
                <a:gd name="T26" fmla="*/ 276726 w 19"/>
                <a:gd name="T27" fmla="*/ 92242 h 19"/>
                <a:gd name="T28" fmla="*/ 245979 w 19"/>
                <a:gd name="T29" fmla="*/ 46121 h 19"/>
                <a:gd name="T30" fmla="*/ 199858 w 19"/>
                <a:gd name="T31" fmla="*/ 15374 h 19"/>
                <a:gd name="T32" fmla="*/ 153737 w 19"/>
                <a:gd name="T33" fmla="*/ 0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19"/>
                <a:gd name="T53" fmla="*/ 19 w 19"/>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19">
                  <a:moveTo>
                    <a:pt x="10" y="0"/>
                  </a:moveTo>
                  <a:lnTo>
                    <a:pt x="6" y="1"/>
                  </a:lnTo>
                  <a:lnTo>
                    <a:pt x="3" y="3"/>
                  </a:lnTo>
                  <a:lnTo>
                    <a:pt x="1" y="6"/>
                  </a:lnTo>
                  <a:lnTo>
                    <a:pt x="0" y="10"/>
                  </a:lnTo>
                  <a:lnTo>
                    <a:pt x="1" y="13"/>
                  </a:lnTo>
                  <a:lnTo>
                    <a:pt x="3" y="16"/>
                  </a:lnTo>
                  <a:lnTo>
                    <a:pt x="6" y="18"/>
                  </a:lnTo>
                  <a:lnTo>
                    <a:pt x="10" y="19"/>
                  </a:lnTo>
                  <a:lnTo>
                    <a:pt x="13" y="18"/>
                  </a:lnTo>
                  <a:lnTo>
                    <a:pt x="16" y="16"/>
                  </a:lnTo>
                  <a:lnTo>
                    <a:pt x="18" y="13"/>
                  </a:lnTo>
                  <a:lnTo>
                    <a:pt x="19" y="10"/>
                  </a:lnTo>
                  <a:lnTo>
                    <a:pt x="18" y="6"/>
                  </a:lnTo>
                  <a:lnTo>
                    <a:pt x="16" y="3"/>
                  </a:lnTo>
                  <a:lnTo>
                    <a:pt x="13" y="1"/>
                  </a:lnTo>
                  <a:lnTo>
                    <a:pt x="10"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b="1"/>
            </a:p>
          </p:txBody>
        </p:sp>
        <p:sp>
          <p:nvSpPr>
            <p:cNvPr id="77" name="Rectangle 75"/>
            <p:cNvSpPr>
              <a:spLocks noChangeArrowheads="1"/>
            </p:cNvSpPr>
            <p:nvPr/>
          </p:nvSpPr>
          <p:spPr bwMode="auto">
            <a:xfrm>
              <a:off x="2846388" y="2857500"/>
              <a:ext cx="12663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CA" altLang="en-US" sz="1700" b="1">
                  <a:latin typeface="Nimbus Roman No9 L"/>
                </a:rPr>
                <a:t>+</a:t>
              </a:r>
              <a:endParaRPr lang="en-CA" altLang="en-US" sz="2400" b="1">
                <a:latin typeface="Corbel" pitchFamily="34" charset="0"/>
              </a:endParaRPr>
            </a:p>
          </p:txBody>
        </p:sp>
        <p:sp>
          <p:nvSpPr>
            <p:cNvPr id="78" name="Text Box 78"/>
            <p:cNvSpPr txBox="1">
              <a:spLocks noChangeArrowheads="1"/>
            </p:cNvSpPr>
            <p:nvPr/>
          </p:nvSpPr>
          <p:spPr bwMode="auto">
            <a:xfrm>
              <a:off x="7070725" y="2398712"/>
              <a:ext cx="18630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600" b="1" i="1">
                  <a:latin typeface="Corbel" pitchFamily="34" charset="0"/>
                </a:rPr>
                <a:t>Virtual address is</a:t>
              </a:r>
            </a:p>
            <a:p>
              <a:pPr eaLnBrk="1" hangingPunct="1"/>
              <a:r>
                <a:rPr lang="en-US" altLang="en-US" sz="1600" b="1" i="1">
                  <a:latin typeface="Corbel" pitchFamily="34" charset="0"/>
                </a:rPr>
                <a:t>interpreted as page</a:t>
              </a:r>
            </a:p>
            <a:p>
              <a:pPr eaLnBrk="1" hangingPunct="1"/>
              <a:r>
                <a:rPr lang="en-US" altLang="en-US" sz="1600" b="1" i="1">
                  <a:latin typeface="Corbel" pitchFamily="34" charset="0"/>
                </a:rPr>
                <a:t>number and offset.</a:t>
              </a:r>
            </a:p>
          </p:txBody>
        </p:sp>
        <p:sp>
          <p:nvSpPr>
            <p:cNvPr id="79" name="Freeform 79"/>
            <p:cNvSpPr>
              <a:spLocks/>
            </p:cNvSpPr>
            <p:nvPr/>
          </p:nvSpPr>
          <p:spPr bwMode="auto">
            <a:xfrm>
              <a:off x="6169025" y="2501900"/>
              <a:ext cx="952500" cy="338137"/>
            </a:xfrm>
            <a:custGeom>
              <a:avLst/>
              <a:gdLst>
                <a:gd name="T0" fmla="*/ 952500 w 600"/>
                <a:gd name="T1" fmla="*/ 338137 h 213"/>
                <a:gd name="T2" fmla="*/ 161925 w 600"/>
                <a:gd name="T3" fmla="*/ 163512 h 213"/>
                <a:gd name="T4" fmla="*/ 0 w 600"/>
                <a:gd name="T5" fmla="*/ 0 h 213"/>
                <a:gd name="T6" fmla="*/ 0 60000 65536"/>
                <a:gd name="T7" fmla="*/ 0 60000 65536"/>
                <a:gd name="T8" fmla="*/ 0 60000 65536"/>
                <a:gd name="T9" fmla="*/ 0 w 600"/>
                <a:gd name="T10" fmla="*/ 0 h 213"/>
                <a:gd name="T11" fmla="*/ 600 w 600"/>
                <a:gd name="T12" fmla="*/ 213 h 213"/>
              </a:gdLst>
              <a:ahLst/>
              <a:cxnLst>
                <a:cxn ang="T6">
                  <a:pos x="T0" y="T1"/>
                </a:cxn>
                <a:cxn ang="T7">
                  <a:pos x="T2" y="T3"/>
                </a:cxn>
                <a:cxn ang="T8">
                  <a:pos x="T4" y="T5"/>
                </a:cxn>
              </a:cxnLst>
              <a:rect l="T9" t="T10" r="T11" b="T12"/>
              <a:pathLst>
                <a:path w="600" h="213">
                  <a:moveTo>
                    <a:pt x="600" y="213"/>
                  </a:moveTo>
                  <a:cubicBezTo>
                    <a:pt x="401" y="176"/>
                    <a:pt x="202" y="139"/>
                    <a:pt x="102" y="103"/>
                  </a:cubicBezTo>
                  <a:cubicBezTo>
                    <a:pt x="2" y="67"/>
                    <a:pt x="1" y="33"/>
                    <a:pt x="0" y="0"/>
                  </a:cubicBezTo>
                </a:path>
              </a:pathLst>
            </a:custGeom>
            <a:noFill/>
            <a:ln w="12700" cap="flat" cmpd="sng">
              <a:solidFill>
                <a:schemeClr val="tx1"/>
              </a:solidFill>
              <a:prstDash val="solid"/>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en-IN" b="1"/>
            </a:p>
          </p:txBody>
        </p:sp>
        <p:sp>
          <p:nvSpPr>
            <p:cNvPr id="80" name="Text Box 80"/>
            <p:cNvSpPr txBox="1">
              <a:spLocks noChangeArrowheads="1"/>
            </p:cNvSpPr>
            <p:nvPr/>
          </p:nvSpPr>
          <p:spPr bwMode="auto">
            <a:xfrm>
              <a:off x="454025" y="5092700"/>
              <a:ext cx="298190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600" b="1" i="1">
                  <a:latin typeface="Corbel" pitchFamily="34" charset="0"/>
                </a:rPr>
                <a:t>Page table holds information</a:t>
              </a:r>
            </a:p>
            <a:p>
              <a:pPr eaLnBrk="1" hangingPunct="1"/>
              <a:r>
                <a:rPr lang="en-US" altLang="en-US" sz="1600" b="1" i="1">
                  <a:latin typeface="Corbel" pitchFamily="34" charset="0"/>
                </a:rPr>
                <a:t>about each page. This includes</a:t>
              </a:r>
            </a:p>
            <a:p>
              <a:pPr eaLnBrk="1" hangingPunct="1"/>
              <a:r>
                <a:rPr lang="en-US" altLang="en-US" sz="1600" b="1" i="1">
                  <a:latin typeface="Corbel" pitchFamily="34" charset="0"/>
                </a:rPr>
                <a:t>the starting address of the page </a:t>
              </a:r>
            </a:p>
            <a:p>
              <a:pPr eaLnBrk="1" hangingPunct="1"/>
              <a:r>
                <a:rPr lang="en-US" altLang="en-US" sz="1600" b="1" i="1">
                  <a:latin typeface="Corbel" pitchFamily="34" charset="0"/>
                </a:rPr>
                <a:t>in the main memory.</a:t>
              </a:r>
            </a:p>
          </p:txBody>
        </p:sp>
        <p:sp>
          <p:nvSpPr>
            <p:cNvPr id="81" name="Text Box 81"/>
            <p:cNvSpPr txBox="1">
              <a:spLocks noChangeArrowheads="1"/>
            </p:cNvSpPr>
            <p:nvPr/>
          </p:nvSpPr>
          <p:spPr bwMode="auto">
            <a:xfrm>
              <a:off x="790575" y="1709737"/>
              <a:ext cx="148630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600" b="1" i="1" dirty="0">
                  <a:latin typeface="Corbel" pitchFamily="34" charset="0"/>
                </a:rPr>
                <a:t>PTBR holds</a:t>
              </a:r>
            </a:p>
            <a:p>
              <a:pPr eaLnBrk="1" hangingPunct="1"/>
              <a:r>
                <a:rPr lang="en-US" altLang="en-US" sz="1600" b="1" i="1" dirty="0">
                  <a:latin typeface="Corbel" pitchFamily="34" charset="0"/>
                </a:rPr>
                <a:t>the address of </a:t>
              </a:r>
            </a:p>
            <a:p>
              <a:pPr eaLnBrk="1" hangingPunct="1"/>
              <a:r>
                <a:rPr lang="en-US" altLang="en-US" sz="1600" b="1" i="1" dirty="0">
                  <a:latin typeface="Corbel" pitchFamily="34" charset="0"/>
                </a:rPr>
                <a:t>the page table.</a:t>
              </a:r>
            </a:p>
          </p:txBody>
        </p:sp>
        <p:sp>
          <p:nvSpPr>
            <p:cNvPr id="82" name="Freeform 82"/>
            <p:cNvSpPr>
              <a:spLocks/>
            </p:cNvSpPr>
            <p:nvPr/>
          </p:nvSpPr>
          <p:spPr bwMode="auto">
            <a:xfrm>
              <a:off x="2173288" y="4759325"/>
              <a:ext cx="1068387" cy="414337"/>
            </a:xfrm>
            <a:custGeom>
              <a:avLst/>
              <a:gdLst>
                <a:gd name="T0" fmla="*/ 0 w 673"/>
                <a:gd name="T1" fmla="*/ 414337 h 261"/>
                <a:gd name="T2" fmla="*/ 766762 w 673"/>
                <a:gd name="T3" fmla="*/ 55562 h 261"/>
                <a:gd name="T4" fmla="*/ 1068387 w 673"/>
                <a:gd name="T5" fmla="*/ 77787 h 261"/>
                <a:gd name="T6" fmla="*/ 0 60000 65536"/>
                <a:gd name="T7" fmla="*/ 0 60000 65536"/>
                <a:gd name="T8" fmla="*/ 0 60000 65536"/>
                <a:gd name="T9" fmla="*/ 0 w 673"/>
                <a:gd name="T10" fmla="*/ 0 h 261"/>
                <a:gd name="T11" fmla="*/ 673 w 673"/>
                <a:gd name="T12" fmla="*/ 261 h 261"/>
              </a:gdLst>
              <a:ahLst/>
              <a:cxnLst>
                <a:cxn ang="T6">
                  <a:pos x="T0" y="T1"/>
                </a:cxn>
                <a:cxn ang="T7">
                  <a:pos x="T2" y="T3"/>
                </a:cxn>
                <a:cxn ang="T8">
                  <a:pos x="T4" y="T5"/>
                </a:cxn>
              </a:cxnLst>
              <a:rect l="T9" t="T10" r="T11" b="T12"/>
              <a:pathLst>
                <a:path w="673" h="261">
                  <a:moveTo>
                    <a:pt x="0" y="261"/>
                  </a:moveTo>
                  <a:cubicBezTo>
                    <a:pt x="185" y="165"/>
                    <a:pt x="371" y="70"/>
                    <a:pt x="483" y="35"/>
                  </a:cubicBezTo>
                  <a:cubicBezTo>
                    <a:pt x="595" y="0"/>
                    <a:pt x="634" y="24"/>
                    <a:pt x="673" y="49"/>
                  </a:cubicBezTo>
                </a:path>
              </a:pathLst>
            </a:custGeom>
            <a:noFill/>
            <a:ln w="12700" cap="flat" cmpd="sng">
              <a:solidFill>
                <a:schemeClr val="tx1"/>
              </a:solidFill>
              <a:prstDash val="solid"/>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en-IN" b="1"/>
            </a:p>
          </p:txBody>
        </p:sp>
        <p:sp>
          <p:nvSpPr>
            <p:cNvPr id="83" name="Freeform 83"/>
            <p:cNvSpPr>
              <a:spLocks/>
            </p:cNvSpPr>
            <p:nvPr/>
          </p:nvSpPr>
          <p:spPr bwMode="auto">
            <a:xfrm>
              <a:off x="1928813" y="1874837"/>
              <a:ext cx="347662" cy="314325"/>
            </a:xfrm>
            <a:custGeom>
              <a:avLst/>
              <a:gdLst>
                <a:gd name="T0" fmla="*/ 0 w 219"/>
                <a:gd name="T1" fmla="*/ 0 h 198"/>
                <a:gd name="T2" fmla="*/ 196850 w 219"/>
                <a:gd name="T3" fmla="*/ 80963 h 198"/>
                <a:gd name="T4" fmla="*/ 347662 w 219"/>
                <a:gd name="T5" fmla="*/ 314325 h 198"/>
                <a:gd name="T6" fmla="*/ 0 60000 65536"/>
                <a:gd name="T7" fmla="*/ 0 60000 65536"/>
                <a:gd name="T8" fmla="*/ 0 60000 65536"/>
                <a:gd name="T9" fmla="*/ 0 w 219"/>
                <a:gd name="T10" fmla="*/ 0 h 198"/>
                <a:gd name="T11" fmla="*/ 219 w 219"/>
                <a:gd name="T12" fmla="*/ 198 h 198"/>
              </a:gdLst>
              <a:ahLst/>
              <a:cxnLst>
                <a:cxn ang="T6">
                  <a:pos x="T0" y="T1"/>
                </a:cxn>
                <a:cxn ang="T7">
                  <a:pos x="T2" y="T3"/>
                </a:cxn>
                <a:cxn ang="T8">
                  <a:pos x="T4" y="T5"/>
                </a:cxn>
              </a:cxnLst>
              <a:rect l="T9" t="T10" r="T11" b="T12"/>
              <a:pathLst>
                <a:path w="219" h="198">
                  <a:moveTo>
                    <a:pt x="0" y="0"/>
                  </a:moveTo>
                  <a:cubicBezTo>
                    <a:pt x="43" y="9"/>
                    <a:pt x="87" y="18"/>
                    <a:pt x="124" y="51"/>
                  </a:cubicBezTo>
                  <a:cubicBezTo>
                    <a:pt x="161" y="84"/>
                    <a:pt x="190" y="141"/>
                    <a:pt x="219" y="198"/>
                  </a:cubicBezTo>
                </a:path>
              </a:pathLst>
            </a:custGeom>
            <a:noFill/>
            <a:ln w="12700" cap="flat" cmpd="sng">
              <a:solidFill>
                <a:schemeClr val="tx1"/>
              </a:solidFill>
              <a:prstDash val="solid"/>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en-IN" b="1"/>
            </a:p>
          </p:txBody>
        </p:sp>
        <p:sp>
          <p:nvSpPr>
            <p:cNvPr id="84" name="Text Box 84"/>
            <p:cNvSpPr txBox="1">
              <a:spLocks noChangeArrowheads="1"/>
            </p:cNvSpPr>
            <p:nvPr/>
          </p:nvSpPr>
          <p:spPr bwMode="auto">
            <a:xfrm>
              <a:off x="692150" y="3338512"/>
              <a:ext cx="203292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600" b="1" i="1">
                  <a:latin typeface="Corbel" pitchFamily="34" charset="0"/>
                </a:rPr>
                <a:t>PTBR + virtual</a:t>
              </a:r>
            </a:p>
            <a:p>
              <a:pPr eaLnBrk="1" hangingPunct="1"/>
              <a:r>
                <a:rPr lang="en-US" altLang="en-US" sz="1600" b="1" i="1">
                  <a:latin typeface="Corbel" pitchFamily="34" charset="0"/>
                </a:rPr>
                <a:t>page number provide</a:t>
              </a:r>
            </a:p>
            <a:p>
              <a:pPr eaLnBrk="1" hangingPunct="1"/>
              <a:r>
                <a:rPr lang="en-US" altLang="en-US" sz="1600" b="1" i="1">
                  <a:latin typeface="Corbel" pitchFamily="34" charset="0"/>
                </a:rPr>
                <a:t>the entry of the page </a:t>
              </a:r>
            </a:p>
            <a:p>
              <a:pPr eaLnBrk="1" hangingPunct="1"/>
              <a:r>
                <a:rPr lang="en-US" altLang="en-US" sz="1600" b="1" i="1">
                  <a:latin typeface="Corbel" pitchFamily="34" charset="0"/>
                </a:rPr>
                <a:t>in the page table.</a:t>
              </a:r>
            </a:p>
          </p:txBody>
        </p:sp>
        <p:sp>
          <p:nvSpPr>
            <p:cNvPr id="85" name="Freeform 85"/>
            <p:cNvSpPr>
              <a:spLocks/>
            </p:cNvSpPr>
            <p:nvPr/>
          </p:nvSpPr>
          <p:spPr bwMode="auto">
            <a:xfrm>
              <a:off x="1673225" y="2898775"/>
              <a:ext cx="1092200" cy="452437"/>
            </a:xfrm>
            <a:custGeom>
              <a:avLst/>
              <a:gdLst>
                <a:gd name="T0" fmla="*/ 0 w 688"/>
                <a:gd name="T1" fmla="*/ 452437 h 285"/>
                <a:gd name="T2" fmla="*/ 568325 w 688"/>
                <a:gd name="T3" fmla="*/ 68262 h 285"/>
                <a:gd name="T4" fmla="*/ 1092200 w 688"/>
                <a:gd name="T5" fmla="*/ 44450 h 285"/>
                <a:gd name="T6" fmla="*/ 0 60000 65536"/>
                <a:gd name="T7" fmla="*/ 0 60000 65536"/>
                <a:gd name="T8" fmla="*/ 0 60000 65536"/>
                <a:gd name="T9" fmla="*/ 0 w 688"/>
                <a:gd name="T10" fmla="*/ 0 h 285"/>
                <a:gd name="T11" fmla="*/ 688 w 688"/>
                <a:gd name="T12" fmla="*/ 285 h 285"/>
              </a:gdLst>
              <a:ahLst/>
              <a:cxnLst>
                <a:cxn ang="T6">
                  <a:pos x="T0" y="T1"/>
                </a:cxn>
                <a:cxn ang="T7">
                  <a:pos x="T2" y="T3"/>
                </a:cxn>
                <a:cxn ang="T8">
                  <a:pos x="T4" y="T5"/>
                </a:cxn>
              </a:cxnLst>
              <a:rect l="T9" t="T10" r="T11" b="T12"/>
              <a:pathLst>
                <a:path w="688" h="285">
                  <a:moveTo>
                    <a:pt x="0" y="285"/>
                  </a:moveTo>
                  <a:cubicBezTo>
                    <a:pt x="121" y="185"/>
                    <a:pt x="243" y="86"/>
                    <a:pt x="358" y="43"/>
                  </a:cubicBezTo>
                  <a:cubicBezTo>
                    <a:pt x="473" y="0"/>
                    <a:pt x="580" y="14"/>
                    <a:pt x="688" y="28"/>
                  </a:cubicBezTo>
                </a:path>
              </a:pathLst>
            </a:custGeom>
            <a:noFill/>
            <a:ln w="12700" cap="flat" cmpd="sng">
              <a:solidFill>
                <a:schemeClr val="tx1"/>
              </a:solidFill>
              <a:prstDash val="solid"/>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en-IN" b="1"/>
            </a:p>
          </p:txBody>
        </p:sp>
        <p:sp>
          <p:nvSpPr>
            <p:cNvPr id="86" name="Text Box 86"/>
            <p:cNvSpPr txBox="1">
              <a:spLocks noChangeArrowheads="1"/>
            </p:cNvSpPr>
            <p:nvPr/>
          </p:nvSpPr>
          <p:spPr bwMode="auto">
            <a:xfrm>
              <a:off x="5170488" y="3921125"/>
              <a:ext cx="32143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600" b="1" i="1">
                  <a:latin typeface="Corbel" pitchFamily="34" charset="0"/>
                </a:rPr>
                <a:t>This entry has the starting location</a:t>
              </a:r>
            </a:p>
            <a:p>
              <a:pPr eaLnBrk="1" hangingPunct="1"/>
              <a:r>
                <a:rPr lang="en-US" altLang="en-US" sz="1600" b="1" i="1">
                  <a:latin typeface="Corbel" pitchFamily="34" charset="0"/>
                </a:rPr>
                <a:t>of the page.</a:t>
              </a:r>
            </a:p>
          </p:txBody>
        </p:sp>
      </p:grpSp>
    </p:spTree>
    <p:extLst>
      <p:ext uri="{BB962C8B-B14F-4D97-AF65-F5344CB8AC3E}">
        <p14:creationId xmlns:p14="http://schemas.microsoft.com/office/powerpoint/2010/main" val="160757136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Memory-11</a:t>
            </a:r>
            <a:br>
              <a:rPr lang="en-IN" b="1" dirty="0"/>
            </a:br>
            <a:r>
              <a:rPr lang="en-IN" b="1" dirty="0"/>
              <a:t>Address Translation</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112</a:t>
            </a:fld>
            <a:endParaRPr lang="en-US"/>
          </a:p>
        </p:txBody>
      </p:sp>
      <p:sp>
        <p:nvSpPr>
          <p:cNvPr id="4" name="Content Placeholder 3"/>
          <p:cNvSpPr>
            <a:spLocks noGrp="1"/>
          </p:cNvSpPr>
          <p:nvPr>
            <p:ph sz="quarter" idx="1"/>
          </p:nvPr>
        </p:nvSpPr>
        <p:spPr/>
        <p:txBody>
          <a:bodyPr>
            <a:normAutofit fontScale="85000" lnSpcReduction="20000"/>
          </a:bodyPr>
          <a:lstStyle/>
          <a:p>
            <a:pPr marL="438912" algn="just">
              <a:spcBef>
                <a:spcPts val="0"/>
              </a:spcBef>
              <a:buFont typeface="Wingdings 2"/>
              <a:buChar char=""/>
              <a:defRPr/>
            </a:pPr>
            <a:r>
              <a:rPr lang="en-US" dirty="0"/>
              <a:t>Page table entry for a page also includes some control bits which describe the status of the page while it is in the main memory.</a:t>
            </a:r>
          </a:p>
          <a:p>
            <a:pPr marL="438912" algn="just">
              <a:spcBef>
                <a:spcPts val="0"/>
              </a:spcBef>
              <a:buFont typeface="Wingdings 2"/>
              <a:buChar char=""/>
              <a:defRPr/>
            </a:pPr>
            <a:r>
              <a:rPr lang="en-US" dirty="0"/>
              <a:t>One bit indicates the validity of the page. </a:t>
            </a:r>
          </a:p>
          <a:p>
            <a:pPr marL="731520" lvl="1" algn="just">
              <a:buFont typeface="Wingdings"/>
              <a:buChar char=""/>
              <a:defRPr/>
            </a:pPr>
            <a:r>
              <a:rPr lang="en-US" sz="1800" dirty="0"/>
              <a:t>Indicates whether the page is actually loaded into the main memory. </a:t>
            </a:r>
          </a:p>
          <a:p>
            <a:pPr marL="731520" lvl="1" algn="just">
              <a:buFont typeface="Wingdings"/>
              <a:buChar char=""/>
              <a:defRPr/>
            </a:pPr>
            <a:r>
              <a:rPr lang="en-US" sz="1800" dirty="0"/>
              <a:t>Allows the operating system to invalidate the page without actually removing it. </a:t>
            </a:r>
          </a:p>
          <a:p>
            <a:pPr marL="438912" algn="just">
              <a:spcBef>
                <a:spcPts val="0"/>
              </a:spcBef>
              <a:buFont typeface="Wingdings 2"/>
              <a:buChar char=""/>
              <a:defRPr/>
            </a:pPr>
            <a:r>
              <a:rPr lang="en-US" dirty="0"/>
              <a:t>One bit indicates whether the page has been modified during its residency in the main memory</a:t>
            </a:r>
            <a:r>
              <a:rPr lang="en-US" sz="1800" dirty="0"/>
              <a:t>.</a:t>
            </a:r>
          </a:p>
          <a:p>
            <a:pPr marL="731520" lvl="1" algn="just">
              <a:buFont typeface="Wingdings"/>
              <a:buChar char=""/>
              <a:defRPr/>
            </a:pPr>
            <a:r>
              <a:rPr lang="en-US" sz="1800" dirty="0"/>
              <a:t>This bit determines whether the page should be written back to the disk when it is removed from the main memory. </a:t>
            </a:r>
          </a:p>
          <a:p>
            <a:pPr marL="731520" lvl="1" algn="just">
              <a:buFont typeface="Wingdings"/>
              <a:buChar char=""/>
              <a:defRPr/>
            </a:pPr>
            <a:r>
              <a:rPr lang="en-US" sz="1800" dirty="0"/>
              <a:t>Similar to the dirty or modified bit in case of cache memory.</a:t>
            </a:r>
          </a:p>
          <a:p>
            <a:r>
              <a:rPr lang="en-US" altLang="en-US" dirty="0"/>
              <a:t>Other control bits for various other types of restrictions that may be imposed. </a:t>
            </a:r>
          </a:p>
          <a:p>
            <a:pPr lvl="1"/>
            <a:r>
              <a:rPr lang="en-US" altLang="en-US" sz="1800" dirty="0"/>
              <a:t>For example, a program may only have read permission for a page, but not write or modify permissions.</a:t>
            </a:r>
            <a:endParaRPr lang="en-IN" dirty="0"/>
          </a:p>
        </p:txBody>
      </p:sp>
    </p:spTree>
    <p:extLst>
      <p:ext uri="{BB962C8B-B14F-4D97-AF65-F5344CB8AC3E}">
        <p14:creationId xmlns:p14="http://schemas.microsoft.com/office/powerpoint/2010/main" val="28038929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Memory-12</a:t>
            </a:r>
            <a:br>
              <a:rPr lang="en-IN" b="1" dirty="0"/>
            </a:br>
            <a:r>
              <a:rPr lang="en-IN" b="1" dirty="0"/>
              <a:t>Address Translation</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113</a:t>
            </a:fld>
            <a:endParaRPr lang="en-US"/>
          </a:p>
        </p:txBody>
      </p:sp>
      <p:sp>
        <p:nvSpPr>
          <p:cNvPr id="4" name="Content Placeholder 3"/>
          <p:cNvSpPr>
            <a:spLocks noGrp="1"/>
          </p:cNvSpPr>
          <p:nvPr>
            <p:ph sz="quarter" idx="1"/>
          </p:nvPr>
        </p:nvSpPr>
        <p:spPr/>
        <p:txBody>
          <a:bodyPr>
            <a:normAutofit fontScale="92500" lnSpcReduction="20000"/>
          </a:bodyPr>
          <a:lstStyle/>
          <a:p>
            <a:pPr marL="438912" algn="just">
              <a:spcBef>
                <a:spcPts val="0"/>
              </a:spcBef>
              <a:buFont typeface="Wingdings 2"/>
              <a:buChar char=""/>
              <a:defRPr/>
            </a:pPr>
            <a:r>
              <a:rPr lang="en-US" dirty="0"/>
              <a:t>Where should the page table be located?</a:t>
            </a:r>
          </a:p>
          <a:p>
            <a:pPr marL="438912" algn="just">
              <a:spcBef>
                <a:spcPts val="0"/>
              </a:spcBef>
              <a:buFont typeface="Wingdings 2"/>
              <a:buChar char=""/>
              <a:defRPr/>
            </a:pPr>
            <a:r>
              <a:rPr lang="en-US" dirty="0"/>
              <a:t>Recall that the page table is used by the MMU for every read and write access to the memory. </a:t>
            </a:r>
          </a:p>
          <a:p>
            <a:pPr marL="731520" lvl="1" algn="just">
              <a:buFont typeface="Wingdings"/>
              <a:buChar char=""/>
              <a:defRPr/>
            </a:pPr>
            <a:r>
              <a:rPr lang="en-US" sz="1800" dirty="0"/>
              <a:t>Ideal location for the page table is within the MMU. </a:t>
            </a:r>
          </a:p>
          <a:p>
            <a:pPr marL="438912" algn="just">
              <a:spcBef>
                <a:spcPts val="0"/>
              </a:spcBef>
              <a:buFont typeface="Wingdings 2"/>
              <a:buChar char=""/>
              <a:defRPr/>
            </a:pPr>
            <a:r>
              <a:rPr lang="en-US" dirty="0"/>
              <a:t>Page table is quite large.</a:t>
            </a:r>
          </a:p>
          <a:p>
            <a:pPr marL="438912" algn="just">
              <a:spcBef>
                <a:spcPts val="0"/>
              </a:spcBef>
              <a:buFont typeface="Wingdings 2"/>
              <a:buChar char=""/>
              <a:defRPr/>
            </a:pPr>
            <a:r>
              <a:rPr lang="en-US" dirty="0"/>
              <a:t>MMU is implemented as part of the processor chip.</a:t>
            </a:r>
          </a:p>
          <a:p>
            <a:pPr marL="438912" algn="just">
              <a:spcBef>
                <a:spcPts val="0"/>
              </a:spcBef>
              <a:buFont typeface="Wingdings 2"/>
              <a:buChar char=""/>
              <a:defRPr/>
            </a:pPr>
            <a:r>
              <a:rPr lang="en-US" dirty="0"/>
              <a:t>Impossible to include a complete page table on the chip. </a:t>
            </a:r>
          </a:p>
          <a:p>
            <a:pPr marL="438912" algn="just">
              <a:spcBef>
                <a:spcPts val="0"/>
              </a:spcBef>
              <a:buFont typeface="Wingdings 2"/>
              <a:buChar char=""/>
              <a:defRPr/>
            </a:pPr>
            <a:r>
              <a:rPr lang="en-US" dirty="0"/>
              <a:t>Page table is kept in the main memory.</a:t>
            </a:r>
          </a:p>
          <a:p>
            <a:pPr marL="438912" algn="just">
              <a:spcBef>
                <a:spcPts val="0"/>
              </a:spcBef>
              <a:buFont typeface="Wingdings 2"/>
              <a:buChar char=""/>
              <a:defRPr/>
            </a:pPr>
            <a:r>
              <a:rPr lang="en-US" dirty="0"/>
              <a:t>A copy of a small portion of the page table can be accommodated within the MMU. </a:t>
            </a:r>
          </a:p>
          <a:p>
            <a:pPr marL="731520" lvl="1" algn="just">
              <a:buFont typeface="Wingdings"/>
              <a:buChar char=""/>
              <a:defRPr/>
            </a:pPr>
            <a:r>
              <a:rPr lang="en-US" sz="1800" dirty="0"/>
              <a:t>Portion consists of page table entries that correspond to the most recently accessed pages.</a:t>
            </a:r>
            <a:endParaRPr lang="en-IN" dirty="0"/>
          </a:p>
        </p:txBody>
      </p:sp>
    </p:spTree>
    <p:extLst>
      <p:ext uri="{BB962C8B-B14F-4D97-AF65-F5344CB8AC3E}">
        <p14:creationId xmlns:p14="http://schemas.microsoft.com/office/powerpoint/2010/main" val="37102032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Memory-13</a:t>
            </a:r>
            <a:br>
              <a:rPr lang="en-IN" b="1" dirty="0"/>
            </a:br>
            <a:r>
              <a:rPr lang="en-IN" b="1" dirty="0"/>
              <a:t>Translation Lookaside Buffer</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114</a:t>
            </a:fld>
            <a:endParaRPr lang="en-US"/>
          </a:p>
        </p:txBody>
      </p:sp>
      <p:sp>
        <p:nvSpPr>
          <p:cNvPr id="4" name="Content Placeholder 3"/>
          <p:cNvSpPr>
            <a:spLocks noGrp="1"/>
          </p:cNvSpPr>
          <p:nvPr>
            <p:ph sz="quarter" idx="1"/>
          </p:nvPr>
        </p:nvSpPr>
        <p:spPr/>
        <p:txBody>
          <a:bodyPr>
            <a:normAutofit fontScale="92500" lnSpcReduction="10000"/>
          </a:bodyPr>
          <a:lstStyle/>
          <a:p>
            <a:pPr marL="438912" algn="just">
              <a:spcBef>
                <a:spcPts val="0"/>
              </a:spcBef>
              <a:buFont typeface="Wingdings 2"/>
              <a:buChar char=""/>
              <a:defRPr/>
            </a:pPr>
            <a:r>
              <a:rPr lang="en-US" dirty="0"/>
              <a:t>A small cache called as Translation Lookaside Buffer (TLB) is included in the MMU.</a:t>
            </a:r>
          </a:p>
          <a:p>
            <a:pPr marL="731520" lvl="1" algn="just">
              <a:buFont typeface="Wingdings"/>
              <a:buChar char=""/>
              <a:defRPr/>
            </a:pPr>
            <a:r>
              <a:rPr lang="en-US" sz="1800" dirty="0"/>
              <a:t>TLB holds page table entries of the most recently accessed pages. </a:t>
            </a:r>
          </a:p>
          <a:p>
            <a:pPr marL="438912" algn="just">
              <a:spcBef>
                <a:spcPts val="0"/>
              </a:spcBef>
              <a:buFont typeface="Wingdings 2"/>
              <a:buChar char=""/>
              <a:defRPr/>
            </a:pPr>
            <a:r>
              <a:rPr lang="en-US" dirty="0"/>
              <a:t>Recall that cache memory holds most recently accessed blocks from the main memory. </a:t>
            </a:r>
          </a:p>
          <a:p>
            <a:pPr marL="731520" lvl="1" algn="just">
              <a:buFont typeface="Wingdings"/>
              <a:buChar char=""/>
              <a:defRPr/>
            </a:pPr>
            <a:r>
              <a:rPr lang="en-US" sz="1800" dirty="0"/>
              <a:t>Operation of the TLB and page table in the main memory is similar to the operation of the cache and main memory.</a:t>
            </a:r>
            <a:r>
              <a:rPr lang="en-US" dirty="0"/>
              <a:t> </a:t>
            </a:r>
          </a:p>
          <a:p>
            <a:pPr marL="438912" algn="just">
              <a:spcBef>
                <a:spcPts val="0"/>
              </a:spcBef>
              <a:buFont typeface="Wingdings 2"/>
              <a:buChar char=""/>
              <a:defRPr/>
            </a:pPr>
            <a:r>
              <a:rPr lang="en-US" dirty="0"/>
              <a:t>Page table entry for a page includes:</a:t>
            </a:r>
          </a:p>
          <a:p>
            <a:pPr marL="731520" lvl="1" algn="just">
              <a:buFont typeface="Wingdings"/>
              <a:buChar char=""/>
              <a:defRPr/>
            </a:pPr>
            <a:r>
              <a:rPr lang="en-US" sz="1800" dirty="0"/>
              <a:t>Address of the page frame where the page resides in the main memory.</a:t>
            </a:r>
          </a:p>
          <a:p>
            <a:pPr marL="731520" lvl="1" algn="just">
              <a:buFont typeface="Wingdings"/>
              <a:buChar char=""/>
              <a:defRPr/>
            </a:pPr>
            <a:r>
              <a:rPr lang="en-US" sz="1800" dirty="0"/>
              <a:t>Some control bits.</a:t>
            </a:r>
            <a:r>
              <a:rPr lang="en-US" dirty="0"/>
              <a:t> </a:t>
            </a:r>
          </a:p>
          <a:p>
            <a:pPr marL="438912" algn="just">
              <a:spcBef>
                <a:spcPts val="0"/>
              </a:spcBef>
              <a:buFont typeface="Wingdings 2"/>
              <a:buChar char=""/>
              <a:defRPr/>
            </a:pPr>
            <a:r>
              <a:rPr lang="en-US" dirty="0"/>
              <a:t>In addition to the above for each page, TLB must hold the virtual page number for each page.</a:t>
            </a:r>
            <a:endParaRPr lang="en-IN" dirty="0"/>
          </a:p>
        </p:txBody>
      </p:sp>
    </p:spTree>
    <p:extLst>
      <p:ext uri="{BB962C8B-B14F-4D97-AF65-F5344CB8AC3E}">
        <p14:creationId xmlns:p14="http://schemas.microsoft.com/office/powerpoint/2010/main" val="41968730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Memory-14</a:t>
            </a:r>
            <a:br>
              <a:rPr lang="en-IN" b="1" dirty="0"/>
            </a:br>
            <a:r>
              <a:rPr lang="en-IN" b="1" dirty="0"/>
              <a:t>Translation Lookaside Buffer</a:t>
            </a:r>
            <a:endParaRPr lang="en-IN" dirty="0"/>
          </a:p>
        </p:txBody>
      </p:sp>
      <p:sp>
        <p:nvSpPr>
          <p:cNvPr id="5" name="Content Placeholder 4"/>
          <p:cNvSpPr>
            <a:spLocks noGrp="1"/>
          </p:cNvSpPr>
          <p:nvPr>
            <p:ph sz="quarter" idx="1"/>
          </p:nvPr>
        </p:nvSpPr>
        <p:spPr/>
        <p:txBody>
          <a:bodyPr>
            <a:normAutofit fontScale="70000" lnSpcReduction="20000"/>
          </a:bodyPr>
          <a:lstStyle/>
          <a:p>
            <a:endParaRPr lang="en-IN"/>
          </a:p>
        </p:txBody>
      </p:sp>
      <p:sp>
        <p:nvSpPr>
          <p:cNvPr id="6" name="Content Placeholder 5"/>
          <p:cNvSpPr>
            <a:spLocks noGrp="1"/>
          </p:cNvSpPr>
          <p:nvPr>
            <p:ph sz="quarter" idx="2"/>
          </p:nvPr>
        </p:nvSpPr>
        <p:spPr/>
        <p:txBody>
          <a:bodyPr>
            <a:normAutofit fontScale="70000" lnSpcReduction="20000"/>
          </a:bodyPr>
          <a:lstStyle/>
          <a:p>
            <a:pPr algn="just"/>
            <a:r>
              <a:rPr lang="en-US" altLang="en-US" i="1" u="sng" dirty="0">
                <a:latin typeface="Corbel" pitchFamily="34" charset="0"/>
              </a:rPr>
              <a:t>Associative-mapped TLB</a:t>
            </a:r>
          </a:p>
          <a:p>
            <a:pPr algn="just"/>
            <a:r>
              <a:rPr lang="en-US" altLang="en-US" i="1" dirty="0">
                <a:latin typeface="Corbel" pitchFamily="34" charset="0"/>
              </a:rPr>
              <a:t>High-order bits of the virtual address generated by the processor select the virtual page.</a:t>
            </a:r>
          </a:p>
          <a:p>
            <a:pPr algn="just"/>
            <a:r>
              <a:rPr lang="en-US" altLang="en-US" i="1" dirty="0">
                <a:latin typeface="Corbel" pitchFamily="34" charset="0"/>
              </a:rPr>
              <a:t>These bits are compared to the virtual page numbers in the TLB.</a:t>
            </a:r>
          </a:p>
          <a:p>
            <a:pPr algn="just"/>
            <a:r>
              <a:rPr lang="en-US" altLang="en-US" i="1" dirty="0">
                <a:latin typeface="Corbel" pitchFamily="34" charset="0"/>
              </a:rPr>
              <a:t>If there is a match, a hit occurs and the corresponding address of the age frame is read. </a:t>
            </a:r>
          </a:p>
          <a:p>
            <a:pPr algn="just"/>
            <a:r>
              <a:rPr lang="en-US" altLang="en-US" i="1" dirty="0">
                <a:latin typeface="Corbel" pitchFamily="34" charset="0"/>
              </a:rPr>
              <a:t>If there is no match, a miss occurs  and the page table within the main memory must be consulted.</a:t>
            </a:r>
          </a:p>
          <a:p>
            <a:pPr algn="just"/>
            <a:r>
              <a:rPr lang="en-US" altLang="en-US" i="1" dirty="0">
                <a:latin typeface="Corbel" pitchFamily="34" charset="0"/>
              </a:rPr>
              <a:t>Set-associative mapped TLBs are found in commercial processors.</a:t>
            </a:r>
            <a:endParaRPr lang="en-IN" dirty="0"/>
          </a:p>
        </p:txBody>
      </p:sp>
      <p:sp>
        <p:nvSpPr>
          <p:cNvPr id="3" name="Slide Number Placeholder 2"/>
          <p:cNvSpPr>
            <a:spLocks noGrp="1"/>
          </p:cNvSpPr>
          <p:nvPr>
            <p:ph type="sldNum" sz="quarter" idx="16"/>
          </p:nvPr>
        </p:nvSpPr>
        <p:spPr/>
        <p:txBody>
          <a:bodyPr>
            <a:normAutofit fontScale="85000" lnSpcReduction="20000"/>
          </a:bodyPr>
          <a:lstStyle/>
          <a:p>
            <a:fld id="{B6F15528-21DE-4FAA-801E-634DDDAF4B2B}" type="slidenum">
              <a:rPr lang="en-US" smtClean="0"/>
              <a:pPr/>
              <a:t>115</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0"/>
            <a:ext cx="4724400" cy="518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2978539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Memory-15</a:t>
            </a:r>
            <a:br>
              <a:rPr lang="en-IN" b="1" dirty="0"/>
            </a:br>
            <a:r>
              <a:rPr lang="en-IN" b="1" dirty="0"/>
              <a:t>Translation Lookaside Buffer</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116</a:t>
            </a:fld>
            <a:endParaRPr lang="en-US"/>
          </a:p>
        </p:txBody>
      </p:sp>
      <p:sp>
        <p:nvSpPr>
          <p:cNvPr id="4" name="Content Placeholder 3"/>
          <p:cNvSpPr>
            <a:spLocks noGrp="1"/>
          </p:cNvSpPr>
          <p:nvPr>
            <p:ph sz="quarter" idx="1"/>
          </p:nvPr>
        </p:nvSpPr>
        <p:spPr/>
        <p:txBody>
          <a:bodyPr>
            <a:normAutofit lnSpcReduction="10000"/>
          </a:bodyPr>
          <a:lstStyle/>
          <a:p>
            <a:pPr marL="438912" algn="just">
              <a:spcBef>
                <a:spcPts val="0"/>
              </a:spcBef>
              <a:buFont typeface="Wingdings 2"/>
              <a:buChar char=""/>
              <a:defRPr/>
            </a:pPr>
            <a:r>
              <a:rPr lang="en-US" dirty="0"/>
              <a:t>How to keep the entries of the TLB coherent with the contents of the page table in the main memory?</a:t>
            </a:r>
          </a:p>
          <a:p>
            <a:pPr marL="438912" algn="just">
              <a:spcBef>
                <a:spcPts val="0"/>
              </a:spcBef>
              <a:buFont typeface="Wingdings 2"/>
              <a:buChar char=""/>
              <a:defRPr/>
            </a:pPr>
            <a:r>
              <a:rPr lang="en-US" dirty="0"/>
              <a:t>Operating system may change the contents of the page table in the main memory. </a:t>
            </a:r>
          </a:p>
          <a:p>
            <a:pPr marL="731520" lvl="1" algn="just">
              <a:buFont typeface="Wingdings"/>
              <a:buChar char=""/>
              <a:defRPr/>
            </a:pPr>
            <a:r>
              <a:rPr lang="en-US" sz="1800" dirty="0"/>
              <a:t>Simultaneously it must also invalidate the corresponding entries in the TLB.</a:t>
            </a:r>
            <a:r>
              <a:rPr lang="en-US" dirty="0"/>
              <a:t> </a:t>
            </a:r>
          </a:p>
          <a:p>
            <a:pPr marL="438912" algn="just">
              <a:spcBef>
                <a:spcPts val="0"/>
              </a:spcBef>
              <a:buFont typeface="Wingdings 2"/>
              <a:buChar char=""/>
              <a:defRPr/>
            </a:pPr>
            <a:r>
              <a:rPr lang="en-US" dirty="0"/>
              <a:t>A control bit is provided in the TLB to invalidate an entry. </a:t>
            </a:r>
          </a:p>
          <a:p>
            <a:pPr marL="438912" algn="just">
              <a:spcBef>
                <a:spcPts val="0"/>
              </a:spcBef>
              <a:buFont typeface="Wingdings 2"/>
              <a:buChar char=""/>
              <a:defRPr/>
            </a:pPr>
            <a:r>
              <a:rPr lang="en-US" dirty="0"/>
              <a:t>If an entry is invalidated, then the TLB gets the information for that entry from the page table.</a:t>
            </a:r>
          </a:p>
          <a:p>
            <a:pPr marL="731520" lvl="1" algn="just">
              <a:buFont typeface="Wingdings"/>
              <a:buChar char=""/>
              <a:defRPr/>
            </a:pPr>
            <a:r>
              <a:rPr lang="en-US" sz="1800" dirty="0"/>
              <a:t>Follows the same process that it would follow if the entry is not found in the TLB or if a “miss” occurs.</a:t>
            </a:r>
            <a:endParaRPr lang="en-IN" dirty="0"/>
          </a:p>
        </p:txBody>
      </p:sp>
    </p:spTree>
    <p:extLst>
      <p:ext uri="{BB962C8B-B14F-4D97-AF65-F5344CB8AC3E}">
        <p14:creationId xmlns:p14="http://schemas.microsoft.com/office/powerpoint/2010/main" val="38178268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Memory-16</a:t>
            </a:r>
            <a:br>
              <a:rPr lang="en-IN" b="1" dirty="0"/>
            </a:br>
            <a:r>
              <a:rPr lang="en-IN" b="1" dirty="0"/>
              <a:t>Page Faults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117</a:t>
            </a:fld>
            <a:endParaRPr lang="en-US"/>
          </a:p>
        </p:txBody>
      </p:sp>
      <p:sp>
        <p:nvSpPr>
          <p:cNvPr id="4" name="Content Placeholder 3"/>
          <p:cNvSpPr>
            <a:spLocks noGrp="1"/>
          </p:cNvSpPr>
          <p:nvPr>
            <p:ph sz="quarter" idx="1"/>
          </p:nvPr>
        </p:nvSpPr>
        <p:spPr/>
        <p:txBody>
          <a:bodyPr>
            <a:normAutofit lnSpcReduction="10000"/>
          </a:bodyPr>
          <a:lstStyle/>
          <a:p>
            <a:pPr marL="438912" algn="just">
              <a:lnSpc>
                <a:spcPct val="90000"/>
              </a:lnSpc>
              <a:spcBef>
                <a:spcPts val="0"/>
              </a:spcBef>
              <a:buFont typeface="Wingdings 2"/>
              <a:buChar char=""/>
              <a:defRPr/>
            </a:pPr>
            <a:r>
              <a:rPr lang="en-US" dirty="0"/>
              <a:t>What happens if a program generates an access to a page that is not in the main memory?</a:t>
            </a:r>
          </a:p>
          <a:p>
            <a:pPr marL="438912" algn="just">
              <a:lnSpc>
                <a:spcPct val="90000"/>
              </a:lnSpc>
              <a:spcBef>
                <a:spcPts val="0"/>
              </a:spcBef>
              <a:buFont typeface="Wingdings 2"/>
              <a:buChar char=""/>
              <a:defRPr/>
            </a:pPr>
            <a:r>
              <a:rPr lang="en-US" dirty="0"/>
              <a:t>In this case, a page fault is said to occur.</a:t>
            </a:r>
          </a:p>
          <a:p>
            <a:pPr marL="731520" lvl="1" algn="just">
              <a:lnSpc>
                <a:spcPct val="90000"/>
              </a:lnSpc>
              <a:buFont typeface="Wingdings"/>
              <a:buChar char=""/>
              <a:defRPr/>
            </a:pPr>
            <a:r>
              <a:rPr lang="en-US" sz="1800" dirty="0"/>
              <a:t>Whole page must be brought into the main memory from the disk, before the execution can proceed.</a:t>
            </a:r>
          </a:p>
          <a:p>
            <a:pPr marL="438912" algn="just">
              <a:lnSpc>
                <a:spcPct val="90000"/>
              </a:lnSpc>
              <a:spcBef>
                <a:spcPts val="0"/>
              </a:spcBef>
              <a:buFont typeface="Wingdings 2"/>
              <a:buChar char=""/>
              <a:defRPr/>
            </a:pPr>
            <a:r>
              <a:rPr lang="en-US" dirty="0"/>
              <a:t>Upon detecting a page fault by the MMU, following actions occur:</a:t>
            </a:r>
            <a:endParaRPr lang="en-US" sz="1800" dirty="0"/>
          </a:p>
          <a:p>
            <a:pPr marL="731520" lvl="1" algn="just">
              <a:lnSpc>
                <a:spcPct val="90000"/>
              </a:lnSpc>
              <a:buFont typeface="Wingdings"/>
              <a:buChar char=""/>
              <a:defRPr/>
            </a:pPr>
            <a:r>
              <a:rPr lang="en-US" sz="1800" dirty="0"/>
              <a:t>MMU asks the operating system to intervene by raising an exception. </a:t>
            </a:r>
          </a:p>
          <a:p>
            <a:pPr marL="731520" lvl="1" algn="just">
              <a:lnSpc>
                <a:spcPct val="90000"/>
              </a:lnSpc>
              <a:buFont typeface="Wingdings"/>
              <a:buChar char=""/>
              <a:defRPr/>
            </a:pPr>
            <a:r>
              <a:rPr lang="en-US" sz="1800" dirty="0"/>
              <a:t>Processing of the active task which caused the page fault is interrupted. </a:t>
            </a:r>
          </a:p>
          <a:p>
            <a:pPr marL="731520" lvl="1" algn="just">
              <a:lnSpc>
                <a:spcPct val="90000"/>
              </a:lnSpc>
              <a:buFont typeface="Wingdings"/>
              <a:buChar char=""/>
              <a:defRPr/>
            </a:pPr>
            <a:r>
              <a:rPr lang="en-US" sz="1800" dirty="0"/>
              <a:t>Control is transferred to the operating system. </a:t>
            </a:r>
          </a:p>
          <a:p>
            <a:pPr marL="731520" lvl="1" algn="just">
              <a:lnSpc>
                <a:spcPct val="90000"/>
              </a:lnSpc>
              <a:buFont typeface="Wingdings"/>
              <a:buChar char=""/>
              <a:defRPr/>
            </a:pPr>
            <a:r>
              <a:rPr lang="en-US" sz="1800" dirty="0"/>
              <a:t>Operating system copies the requested page from secondary storage to the main memory. </a:t>
            </a:r>
          </a:p>
          <a:p>
            <a:pPr marL="731520" lvl="1" algn="just">
              <a:lnSpc>
                <a:spcPct val="90000"/>
              </a:lnSpc>
              <a:buFont typeface="Wingdings"/>
              <a:buChar char=""/>
              <a:defRPr/>
            </a:pPr>
            <a:r>
              <a:rPr lang="en-US" sz="1800" dirty="0"/>
              <a:t>Once the page is copied, control is returned to the task which was interrupted.</a:t>
            </a:r>
            <a:endParaRPr lang="en-IN" dirty="0"/>
          </a:p>
        </p:txBody>
      </p:sp>
    </p:spTree>
    <p:extLst>
      <p:ext uri="{BB962C8B-B14F-4D97-AF65-F5344CB8AC3E}">
        <p14:creationId xmlns:p14="http://schemas.microsoft.com/office/powerpoint/2010/main" val="16408048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Memory-17</a:t>
            </a:r>
            <a:br>
              <a:rPr lang="en-IN" b="1" dirty="0"/>
            </a:br>
            <a:r>
              <a:rPr lang="en-IN" b="1" dirty="0"/>
              <a:t>Page Faults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118</a:t>
            </a:fld>
            <a:endParaRPr lang="en-US"/>
          </a:p>
        </p:txBody>
      </p:sp>
      <p:sp>
        <p:nvSpPr>
          <p:cNvPr id="4" name="Content Placeholder 3"/>
          <p:cNvSpPr>
            <a:spLocks noGrp="1"/>
          </p:cNvSpPr>
          <p:nvPr>
            <p:ph sz="quarter" idx="1"/>
          </p:nvPr>
        </p:nvSpPr>
        <p:spPr/>
        <p:txBody>
          <a:bodyPr/>
          <a:lstStyle/>
          <a:p>
            <a:pPr algn="just"/>
            <a:r>
              <a:rPr lang="en-US" altLang="en-US" dirty="0"/>
              <a:t>Servicing of a page fault requires transferring the requested page from secondary storage to the main memory.</a:t>
            </a:r>
          </a:p>
          <a:p>
            <a:pPr algn="just"/>
            <a:r>
              <a:rPr lang="en-US" altLang="en-US" dirty="0"/>
              <a:t>This transfer may incur a long delay. </a:t>
            </a:r>
          </a:p>
          <a:p>
            <a:pPr algn="just"/>
            <a:r>
              <a:rPr lang="en-US" altLang="en-US" dirty="0"/>
              <a:t>While the page is being transferred the operating system may:</a:t>
            </a:r>
          </a:p>
          <a:p>
            <a:pPr lvl="1" algn="just"/>
            <a:r>
              <a:rPr lang="en-US" altLang="en-US" sz="1800" dirty="0"/>
              <a:t>Suspend the execution of the task that caused the page fault. </a:t>
            </a:r>
          </a:p>
          <a:p>
            <a:pPr lvl="1" algn="just"/>
            <a:r>
              <a:rPr lang="en-US" altLang="en-US" sz="1800" dirty="0"/>
              <a:t>Begin execution of another task whose pages are in the main memory.</a:t>
            </a:r>
          </a:p>
          <a:p>
            <a:pPr algn="just"/>
            <a:r>
              <a:rPr lang="en-US" altLang="en-US" dirty="0"/>
              <a:t>Enables efficient use of the processor.</a:t>
            </a:r>
            <a:endParaRPr lang="en-IN" dirty="0"/>
          </a:p>
        </p:txBody>
      </p:sp>
    </p:spTree>
    <p:extLst>
      <p:ext uri="{BB962C8B-B14F-4D97-AF65-F5344CB8AC3E}">
        <p14:creationId xmlns:p14="http://schemas.microsoft.com/office/powerpoint/2010/main" val="40062071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Memory-18</a:t>
            </a:r>
            <a:br>
              <a:rPr lang="en-IN" b="1" dirty="0"/>
            </a:br>
            <a:r>
              <a:rPr lang="en-IN" b="1" dirty="0"/>
              <a:t>Page Faults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119</a:t>
            </a:fld>
            <a:endParaRPr lang="en-US"/>
          </a:p>
        </p:txBody>
      </p:sp>
      <p:sp>
        <p:nvSpPr>
          <p:cNvPr id="4" name="Content Placeholder 3"/>
          <p:cNvSpPr>
            <a:spLocks noGrp="1"/>
          </p:cNvSpPr>
          <p:nvPr>
            <p:ph sz="quarter" idx="1"/>
          </p:nvPr>
        </p:nvSpPr>
        <p:spPr/>
        <p:txBody>
          <a:bodyPr/>
          <a:lstStyle/>
          <a:p>
            <a:pPr algn="just"/>
            <a:r>
              <a:rPr lang="en-US" altLang="en-US" dirty="0"/>
              <a:t>How to ensure that the interrupted task can continue correctly when it resumes execution?</a:t>
            </a:r>
          </a:p>
          <a:p>
            <a:pPr algn="just"/>
            <a:r>
              <a:rPr lang="en-US" altLang="en-US" dirty="0"/>
              <a:t>There are two possibilities:</a:t>
            </a:r>
          </a:p>
          <a:p>
            <a:pPr lvl="1" algn="just"/>
            <a:r>
              <a:rPr lang="en-US" altLang="en-US" sz="1800" dirty="0"/>
              <a:t>Execution of the interrupted task must continue from the point where it was interrupted. </a:t>
            </a:r>
          </a:p>
          <a:p>
            <a:pPr lvl="1" algn="just"/>
            <a:r>
              <a:rPr lang="en-US" altLang="en-US" sz="1800" dirty="0"/>
              <a:t>The instruction must be restarted.</a:t>
            </a:r>
          </a:p>
          <a:p>
            <a:pPr algn="just"/>
            <a:r>
              <a:rPr lang="en-US" altLang="en-US" dirty="0"/>
              <a:t>Which specific option is followed depends on the design of the processor.</a:t>
            </a:r>
            <a:endParaRPr lang="en-IN" dirty="0"/>
          </a:p>
        </p:txBody>
      </p:sp>
    </p:spTree>
    <p:extLst>
      <p:ext uri="{BB962C8B-B14F-4D97-AF65-F5344CB8AC3E}">
        <p14:creationId xmlns:p14="http://schemas.microsoft.com/office/powerpoint/2010/main" val="44271565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Memory-19</a:t>
            </a:r>
            <a:br>
              <a:rPr lang="en-IN" b="1" dirty="0"/>
            </a:br>
            <a:r>
              <a:rPr lang="en-IN" b="1" dirty="0"/>
              <a:t>Page Faults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120</a:t>
            </a:fld>
            <a:endParaRPr lang="en-US"/>
          </a:p>
        </p:txBody>
      </p:sp>
      <p:sp>
        <p:nvSpPr>
          <p:cNvPr id="4" name="Content Placeholder 3"/>
          <p:cNvSpPr>
            <a:spLocks noGrp="1"/>
          </p:cNvSpPr>
          <p:nvPr>
            <p:ph sz="quarter" idx="1"/>
          </p:nvPr>
        </p:nvSpPr>
        <p:spPr/>
        <p:txBody>
          <a:bodyPr>
            <a:normAutofit fontScale="92500" lnSpcReduction="10000"/>
          </a:bodyPr>
          <a:lstStyle/>
          <a:p>
            <a:pPr marL="438912" algn="just">
              <a:spcBef>
                <a:spcPts val="0"/>
              </a:spcBef>
              <a:buFont typeface="Wingdings 2"/>
              <a:buChar char=""/>
              <a:defRPr/>
            </a:pPr>
            <a:r>
              <a:rPr lang="en-US" dirty="0"/>
              <a:t>When a new page is to be brought into the main memory from secondary storage, the main memory may be full.</a:t>
            </a:r>
          </a:p>
          <a:p>
            <a:pPr marL="731520" lvl="1" algn="just">
              <a:buFont typeface="Wingdings"/>
              <a:buChar char=""/>
              <a:defRPr/>
            </a:pPr>
            <a:r>
              <a:rPr lang="en-US" sz="1800" dirty="0"/>
              <a:t>Some page from the main memory must be replaced with this new page. </a:t>
            </a:r>
          </a:p>
          <a:p>
            <a:pPr marL="438912" algn="just">
              <a:spcBef>
                <a:spcPts val="0"/>
              </a:spcBef>
              <a:buFont typeface="Wingdings 2"/>
              <a:buChar char=""/>
              <a:defRPr/>
            </a:pPr>
            <a:r>
              <a:rPr lang="en-US" dirty="0"/>
              <a:t>How to choose which page to replace?</a:t>
            </a:r>
          </a:p>
          <a:p>
            <a:pPr marL="731520" lvl="1" algn="just">
              <a:buFont typeface="Wingdings"/>
              <a:buChar char=""/>
              <a:defRPr/>
            </a:pPr>
            <a:r>
              <a:rPr lang="en-US" sz="1800" dirty="0"/>
              <a:t>This is similar to the replacement that occurs when the cache is full.</a:t>
            </a:r>
            <a:r>
              <a:rPr lang="en-US" dirty="0"/>
              <a:t> </a:t>
            </a:r>
          </a:p>
          <a:p>
            <a:pPr marL="731520" lvl="1" algn="just">
              <a:buFont typeface="Wingdings"/>
              <a:buChar char=""/>
              <a:defRPr/>
            </a:pPr>
            <a:r>
              <a:rPr lang="en-US" sz="1800" dirty="0"/>
              <a:t>The principle of locality of reference  can also be applied here.</a:t>
            </a:r>
          </a:p>
          <a:p>
            <a:pPr marL="731520" lvl="1" algn="just">
              <a:buFont typeface="Wingdings"/>
              <a:buChar char=""/>
              <a:defRPr/>
            </a:pPr>
            <a:r>
              <a:rPr lang="en-US" sz="1800" dirty="0"/>
              <a:t>A replacement strategy similar to LRU can be applied. </a:t>
            </a:r>
          </a:p>
          <a:p>
            <a:pPr marL="438912" algn="just">
              <a:spcBef>
                <a:spcPts val="0"/>
              </a:spcBef>
              <a:buFont typeface="Wingdings 2"/>
              <a:buChar char=""/>
              <a:defRPr/>
            </a:pPr>
            <a:r>
              <a:rPr lang="en-US" dirty="0"/>
              <a:t>Since the size of the main memory is relatively larger compared to cache, a relatively large amount of programs and data can be held in the main memory.</a:t>
            </a:r>
          </a:p>
          <a:p>
            <a:pPr marL="731520" lvl="1" algn="just">
              <a:buFont typeface="Wingdings"/>
              <a:buChar char=""/>
              <a:defRPr/>
            </a:pPr>
            <a:r>
              <a:rPr lang="en-US" sz="1800" dirty="0"/>
              <a:t>Minimizes the frequency of transfers between secondary storage and main memory.</a:t>
            </a:r>
            <a:endParaRPr lang="en-IN" dirty="0"/>
          </a:p>
        </p:txBody>
      </p:sp>
    </p:spTree>
    <p:extLst>
      <p:ext uri="{BB962C8B-B14F-4D97-AF65-F5344CB8AC3E}">
        <p14:creationId xmlns:p14="http://schemas.microsoft.com/office/powerpoint/2010/main" val="15993884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Virtual Memory-20</a:t>
            </a:r>
            <a:br>
              <a:rPr lang="en-IN" b="1" dirty="0"/>
            </a:br>
            <a:r>
              <a:rPr lang="en-IN" b="1" dirty="0"/>
              <a:t>Page Faults</a:t>
            </a:r>
            <a:endParaRPr lang="en-IN" dirty="0"/>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121</a:t>
            </a:fld>
            <a:endParaRPr lang="en-US"/>
          </a:p>
        </p:txBody>
      </p:sp>
      <p:sp>
        <p:nvSpPr>
          <p:cNvPr id="4" name="Content Placeholder 3"/>
          <p:cNvSpPr>
            <a:spLocks noGrp="1"/>
          </p:cNvSpPr>
          <p:nvPr>
            <p:ph sz="quarter" idx="1"/>
          </p:nvPr>
        </p:nvSpPr>
        <p:spPr/>
        <p:txBody>
          <a:bodyPr>
            <a:normAutofit lnSpcReduction="10000"/>
          </a:bodyPr>
          <a:lstStyle/>
          <a:p>
            <a:pPr marL="438912">
              <a:spcBef>
                <a:spcPts val="0"/>
              </a:spcBef>
              <a:buFont typeface="Wingdings 2"/>
              <a:buChar char=""/>
              <a:defRPr/>
            </a:pPr>
            <a:r>
              <a:rPr lang="en-US" dirty="0"/>
              <a:t>A page may be modified during its residency in the main memory. </a:t>
            </a:r>
          </a:p>
          <a:p>
            <a:pPr marL="438912">
              <a:spcBef>
                <a:spcPts val="0"/>
              </a:spcBef>
              <a:buFont typeface="Wingdings 2"/>
              <a:buChar char=""/>
              <a:defRPr/>
            </a:pPr>
            <a:r>
              <a:rPr lang="en-US" dirty="0"/>
              <a:t>When should the page be written back to the secondary storage?</a:t>
            </a:r>
          </a:p>
          <a:p>
            <a:pPr marL="438912">
              <a:spcBef>
                <a:spcPts val="0"/>
              </a:spcBef>
              <a:buFont typeface="Wingdings 2"/>
              <a:buChar char=""/>
              <a:defRPr/>
            </a:pPr>
            <a:r>
              <a:rPr lang="en-US" dirty="0"/>
              <a:t>Recall that we encountered a similar problem in the context of cache and main memory:</a:t>
            </a:r>
          </a:p>
          <a:p>
            <a:pPr marL="731520" lvl="1">
              <a:buFont typeface="Wingdings"/>
              <a:buChar char=""/>
              <a:defRPr/>
            </a:pPr>
            <a:r>
              <a:rPr lang="en-US" sz="1800" dirty="0"/>
              <a:t>Write-through protocol(?)</a:t>
            </a:r>
          </a:p>
          <a:p>
            <a:pPr marL="731520" lvl="1">
              <a:buFont typeface="Wingdings"/>
              <a:buChar char=""/>
              <a:defRPr/>
            </a:pPr>
            <a:r>
              <a:rPr lang="en-US" sz="1800" dirty="0"/>
              <a:t>Write-back protocol(?)</a:t>
            </a:r>
          </a:p>
          <a:p>
            <a:pPr marL="438912">
              <a:spcBef>
                <a:spcPts val="0"/>
              </a:spcBef>
              <a:buFont typeface="Wingdings 2"/>
              <a:buChar char=""/>
              <a:defRPr/>
            </a:pPr>
            <a:r>
              <a:rPr lang="en-US" dirty="0"/>
              <a:t>Write-through protocol cannot be used, since it will incur a long delay each time a small amount of data is written to the disk.</a:t>
            </a:r>
            <a:endParaRPr lang="en-IN" dirty="0"/>
          </a:p>
        </p:txBody>
      </p:sp>
    </p:spTree>
    <p:extLst>
      <p:ext uri="{BB962C8B-B14F-4D97-AF65-F5344CB8AC3E}">
        <p14:creationId xmlns:p14="http://schemas.microsoft.com/office/powerpoint/2010/main" val="13356585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327E5D-D1F0-49DD-8EE1-4E2E9071B5BA}"/>
              </a:ext>
            </a:extLst>
          </p:cNvPr>
          <p:cNvSpPr>
            <a:spLocks noGrp="1"/>
          </p:cNvSpPr>
          <p:nvPr>
            <p:ph type="sldNum" sz="quarter" idx="12"/>
          </p:nvPr>
        </p:nvSpPr>
        <p:spPr/>
        <p:txBody>
          <a:bodyPr/>
          <a:lstStyle/>
          <a:p>
            <a:fld id="{B6F15528-21DE-4FAA-801E-634DDDAF4B2B}" type="slidenum">
              <a:rPr lang="en-US" smtClean="0"/>
              <a:pPr/>
              <a:t>122</a:t>
            </a:fld>
            <a:endParaRPr lang="en-US"/>
          </a:p>
        </p:txBody>
      </p:sp>
      <p:sp>
        <p:nvSpPr>
          <p:cNvPr id="4" name="Content Placeholder 3">
            <a:extLst>
              <a:ext uri="{FF2B5EF4-FFF2-40B4-BE49-F238E27FC236}">
                <a16:creationId xmlns:a16="http://schemas.microsoft.com/office/drawing/2014/main" id="{0E19A2DB-4599-45FF-B31B-F07FBE649C38}"/>
              </a:ext>
            </a:extLst>
          </p:cNvPr>
          <p:cNvSpPr>
            <a:spLocks noGrp="1"/>
          </p:cNvSpPr>
          <p:nvPr>
            <p:ph sz="quarter" idx="1"/>
          </p:nvPr>
        </p:nvSpPr>
        <p:spPr/>
        <p:txBody>
          <a:bodyPr>
            <a:normAutofit/>
          </a:bodyPr>
          <a:lstStyle/>
          <a:p>
            <a:pPr marL="0" indent="0" algn="ctr">
              <a:buNone/>
            </a:pPr>
            <a:r>
              <a:rPr lang="en-US" sz="9600" b="1" dirty="0"/>
              <a:t>Thank You</a:t>
            </a:r>
            <a:endParaRPr lang="en-IN" sz="9600" b="1" dirty="0"/>
          </a:p>
        </p:txBody>
      </p:sp>
    </p:spTree>
    <p:extLst>
      <p:ext uri="{BB962C8B-B14F-4D97-AF65-F5344CB8AC3E}">
        <p14:creationId xmlns:p14="http://schemas.microsoft.com/office/powerpoint/2010/main" val="393905013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27279</TotalTime>
  <Words>12353</Words>
  <Application>Microsoft Office PowerPoint</Application>
  <PresentationFormat>On-screen Show (4:3)</PresentationFormat>
  <Paragraphs>797</Paragraphs>
  <Slides>122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122</vt:i4>
      </vt:variant>
    </vt:vector>
  </HeadingPairs>
  <TitlesOfParts>
    <vt:vector size="130" baseType="lpstr">
      <vt:lpstr>Arial</vt:lpstr>
      <vt:lpstr>Calibri</vt:lpstr>
      <vt:lpstr>Corbel</vt:lpstr>
      <vt:lpstr>Nimbus Roman No9 L</vt:lpstr>
      <vt:lpstr>Tw Cen MT</vt:lpstr>
      <vt:lpstr>Wingdings</vt:lpstr>
      <vt:lpstr>Wingdings 2</vt:lpstr>
      <vt:lpstr>Median</vt:lpstr>
      <vt:lpstr>Unit 3  Memory System</vt:lpstr>
      <vt:lpstr>Introduction</vt:lpstr>
      <vt:lpstr>Basic Concepts-1</vt:lpstr>
      <vt:lpstr>Basic Concepts-2</vt:lpstr>
      <vt:lpstr>Basic Concepts-4</vt:lpstr>
      <vt:lpstr>Basic Concepts-5</vt:lpstr>
      <vt:lpstr>Basic Concepts-6</vt:lpstr>
      <vt:lpstr>Basic Concepts-7</vt:lpstr>
      <vt:lpstr>Basic Concepts-8</vt:lpstr>
      <vt:lpstr>Semiconductor RAM Memories-1</vt:lpstr>
      <vt:lpstr>Semiconductor RAM Memories-2</vt:lpstr>
      <vt:lpstr>Semiconductor RAM Memories-3</vt:lpstr>
      <vt:lpstr>Semiconductor RAM Memories-4</vt:lpstr>
      <vt:lpstr>Semiconductor RAM Memories-5</vt:lpstr>
      <vt:lpstr>Semiconductor RAM Memories-6 Static Memories (SRAM)</vt:lpstr>
      <vt:lpstr>Semiconductor RAM Memories-7 Static Memories (SRAM)</vt:lpstr>
      <vt:lpstr>Semiconductor RAM Memories-8 Static Memories (SRAM)</vt:lpstr>
      <vt:lpstr>Semiconductor RAM Memories-9 Static Memories (SRAM)</vt:lpstr>
      <vt:lpstr>Semiconductor RAM Memories-10 Static Memories (SRAM)</vt:lpstr>
      <vt:lpstr>Semiconductor RAM Memories-11 Static Memories (SRAM)</vt:lpstr>
      <vt:lpstr>Semiconductor RAM Memories-12 Asynchronous Memories (DRAM)</vt:lpstr>
      <vt:lpstr>Semiconductor RAM Memories-13 Asynchronous Memories (DRAM)</vt:lpstr>
      <vt:lpstr>Semiconductor RAM Memories-14 Asynchronous Memories (DRAM)</vt:lpstr>
      <vt:lpstr>Semiconductor RAM Memories-15 Asynchronous Memories (DRAM)</vt:lpstr>
      <vt:lpstr>Semiconductor RAM Memories-16 Asynchronous Memories (DRAM)</vt:lpstr>
      <vt:lpstr>Semiconductor RAM Memories-17 Asynchronous Memories (DRAM)</vt:lpstr>
      <vt:lpstr>Semiconductor RAM Memories-18 Asynchronous Memories (DRAM)</vt:lpstr>
      <vt:lpstr>Semiconductor RAM Memories-19 Asynchronous Memories (DRAM)</vt:lpstr>
      <vt:lpstr>Semiconductor RAM Memories-20 Asynchronous Memories (DRAM)</vt:lpstr>
      <vt:lpstr>Semiconductor RAM Memories-21 Asynchronous Memories (DRAM)</vt:lpstr>
      <vt:lpstr>Semiconductor RAM Memories-22 Asynchronous Memories (DRAM)</vt:lpstr>
      <vt:lpstr>Semiconductor RAM Memories-23 Synchronous DRAMs (SDRAM)</vt:lpstr>
      <vt:lpstr>Semiconductor RAM Memories-24 Synchronous DRAMs(SDRAM)</vt:lpstr>
      <vt:lpstr>Semiconductor RAM Memories-25 Synchronous DRAMs(SDRAM)</vt:lpstr>
      <vt:lpstr>Semiconductor RAM Memories-26 Synchronous DRAMs(SDRAM)</vt:lpstr>
      <vt:lpstr>Semiconductor RAM Memories-27 Synchronous DRAMs(SDRAM)</vt:lpstr>
      <vt:lpstr>Semiconductor RAM Memories-28 Synchronous DRAMs(SDRAM)</vt:lpstr>
      <vt:lpstr>Semiconductor RAM Memories-28 Synchronous DRAMs(SDRAM)</vt:lpstr>
      <vt:lpstr>Semiconductor RAM Memories-29 Synchronous DRAMs(SDRAM)</vt:lpstr>
      <vt:lpstr>Semiconductor RAM Memories-30 Synchronous DRAMs</vt:lpstr>
      <vt:lpstr>Semiconductor RAM Memories-31 Synchronous DRAMs</vt:lpstr>
      <vt:lpstr>Semiconductor RAM Memories-32 Structure of Larger Memories</vt:lpstr>
      <vt:lpstr>Semiconductor RAM Memories-33 Structure of Larger Memories</vt:lpstr>
      <vt:lpstr>Semiconductor RAM Memories-34 Structure of Larger Memories</vt:lpstr>
      <vt:lpstr>Semiconductor RAM Memories-35 Structure of Larger Memories</vt:lpstr>
      <vt:lpstr>Semiconductor RAM Memories-36 Structure of Larger Memories</vt:lpstr>
      <vt:lpstr>Semiconductor RAM Memories-37 Structure of Larger Memories</vt:lpstr>
      <vt:lpstr>Semiconductor RAM Memories-38 Structure of Larger Memories</vt:lpstr>
      <vt:lpstr>Semiconductor RAM Memories-39 Structure of Larger Memories</vt:lpstr>
      <vt:lpstr>Semiconductor RAM Memories-39 Structure of Larger Memories</vt:lpstr>
      <vt:lpstr>Semiconductor RAM Memories-40 Structure of Larger Memories</vt:lpstr>
      <vt:lpstr>Semiconductor RAM Memories-41 Structure of Larger Memories</vt:lpstr>
      <vt:lpstr>Semiconductor RAM Memories-42 Structure of Larger Memories</vt:lpstr>
      <vt:lpstr>Semiconductor RAM Memories-43 Structure of Larger Memories</vt:lpstr>
      <vt:lpstr>Semiconductor RAM Memories-44 Structure of Larger Memories</vt:lpstr>
      <vt:lpstr>Semiconductor RAM Memories-45 Structure of Larger Memories</vt:lpstr>
      <vt:lpstr>Semiconductor RAM Memories-46 Structure of Larger Memories</vt:lpstr>
      <vt:lpstr>Read-only Memories-1</vt:lpstr>
      <vt:lpstr>Read-only Memories-2 ROM</vt:lpstr>
      <vt:lpstr>Read-only Memories-3 ROM</vt:lpstr>
      <vt:lpstr>Read-only Memories-4 PROM</vt:lpstr>
      <vt:lpstr>Read-only Memories-5 EPROM</vt:lpstr>
      <vt:lpstr>Read-only Memories-6 EEPROM</vt:lpstr>
      <vt:lpstr>Read-only Memories-7 Flash Memory</vt:lpstr>
      <vt:lpstr>Read-only Memories-8 Flash Memory</vt:lpstr>
      <vt:lpstr>Read-only Memories-9 Flash Memory</vt:lpstr>
      <vt:lpstr>Read-only Memories-10 Flash Memory</vt:lpstr>
      <vt:lpstr>Speed, Size and Cost-1</vt:lpstr>
      <vt:lpstr>Speed, Size and Cost-2</vt:lpstr>
      <vt:lpstr>Speed, Size and Cost-3</vt:lpstr>
      <vt:lpstr>Speed, Size and Cost-4</vt:lpstr>
      <vt:lpstr>Direct Memory Access - 1</vt:lpstr>
      <vt:lpstr>Direct Memory Access - 2</vt:lpstr>
      <vt:lpstr>Direct Memory Access - 3</vt:lpstr>
      <vt:lpstr>Direct Memory Access - 4</vt:lpstr>
      <vt:lpstr>Direct Memory Access - 5</vt:lpstr>
      <vt:lpstr>Direct Memory Access - 6</vt:lpstr>
      <vt:lpstr>Cache Memories-1</vt:lpstr>
      <vt:lpstr>Cache Memories-2</vt:lpstr>
      <vt:lpstr>Cache Memories-3</vt:lpstr>
      <vt:lpstr>Cache Memories-4</vt:lpstr>
      <vt:lpstr>Cache Memories-5</vt:lpstr>
      <vt:lpstr>Cache Memories-6</vt:lpstr>
      <vt:lpstr>Cache Memories-7</vt:lpstr>
      <vt:lpstr>Cache Memories-8</vt:lpstr>
      <vt:lpstr>Cache Memories-9</vt:lpstr>
      <vt:lpstr>Cache Memories-10</vt:lpstr>
      <vt:lpstr>Cache Memories-11</vt:lpstr>
      <vt:lpstr>Cache Memories-12 Mapping Functions</vt:lpstr>
      <vt:lpstr>Cache Memories-13 Mapping Functions</vt:lpstr>
      <vt:lpstr>Cache Memories-14 Mapping Functions</vt:lpstr>
      <vt:lpstr>Cache Memories-15 Mapping Functions</vt:lpstr>
      <vt:lpstr>Cache Memories-16 Mapping Functions</vt:lpstr>
      <vt:lpstr>Cache Memories-17 Mapping Functions</vt:lpstr>
      <vt:lpstr>Cache Memories-18 Mapping Functions</vt:lpstr>
      <vt:lpstr>Cache Memories-19 Mapping Functions</vt:lpstr>
      <vt:lpstr>Cache Memories-20 Mapping Functions</vt:lpstr>
      <vt:lpstr>Cache Memories-21 Mapping Functions</vt:lpstr>
      <vt:lpstr>Cache Memories-22 Mapping Functions</vt:lpstr>
      <vt:lpstr>Cache Memories-23</vt:lpstr>
      <vt:lpstr>Cache Memories-24</vt:lpstr>
      <vt:lpstr>Virtual Memory-1</vt:lpstr>
      <vt:lpstr>Virtual Memory-2</vt:lpstr>
      <vt:lpstr>Virtual Memory-3</vt:lpstr>
      <vt:lpstr>Virtual Memory-4</vt:lpstr>
      <vt:lpstr>Virtual Memory-5</vt:lpstr>
      <vt:lpstr>Virtual Memory-6 Address Translation</vt:lpstr>
      <vt:lpstr>Virtual Memory-7 Address Translation</vt:lpstr>
      <vt:lpstr>Virtual Memory-8 Address Translation</vt:lpstr>
      <vt:lpstr>Virtual Memory-9 Address Translation</vt:lpstr>
      <vt:lpstr>Virtual Memory-10 Address Translation</vt:lpstr>
      <vt:lpstr>Virtual Memory-11 Address Translation</vt:lpstr>
      <vt:lpstr>Virtual Memory-12 Address Translation</vt:lpstr>
      <vt:lpstr>Virtual Memory-13 Translation Lookaside Buffer</vt:lpstr>
      <vt:lpstr>Virtual Memory-14 Translation Lookaside Buffer</vt:lpstr>
      <vt:lpstr>Virtual Memory-15 Translation Lookaside Buffer</vt:lpstr>
      <vt:lpstr>Virtual Memory-16 Page Faults</vt:lpstr>
      <vt:lpstr>Virtual Memory-17 Page Faults</vt:lpstr>
      <vt:lpstr>Virtual Memory-18 Page Faults</vt:lpstr>
      <vt:lpstr>Virtual Memory-19 Page Faults</vt:lpstr>
      <vt:lpstr>Virtual Memory-20 Page Faults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Santosh</dc:creator>
  <cp:lastModifiedBy>ADMIN</cp:lastModifiedBy>
  <cp:revision>638</cp:revision>
  <dcterms:created xsi:type="dcterms:W3CDTF">2006-08-16T00:00:00Z</dcterms:created>
  <dcterms:modified xsi:type="dcterms:W3CDTF">2025-12-23T06:02:20Z</dcterms:modified>
</cp:coreProperties>
</file>